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Open Sans Bold" charset="1" panose="00000000000000000000"/>
      <p:regular r:id="rId35"/>
    </p:embeddedFont>
    <p:embeddedFont>
      <p:font typeface="Anton" charset="1" panose="00000500000000000000"/>
      <p:regular r:id="rId36"/>
    </p:embeddedFont>
    <p:embeddedFont>
      <p:font typeface="Noto Sans Bold" charset="1" panose="020B0802040504020204"/>
      <p:regular r:id="rId37"/>
    </p:embeddedFont>
    <p:embeddedFont>
      <p:font typeface="Noto Sans" charset="1" panose="020B0502040504020204"/>
      <p:regular r:id="rId38"/>
    </p:embeddedFont>
    <p:embeddedFont>
      <p:font typeface="Canva Sans Bold" charset="1" panose="020B0803030501040103"/>
      <p:regular r:id="rId39"/>
    </p:embeddedFont>
    <p:embeddedFont>
      <p:font typeface="Norwester" charset="1" panose="00000506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533CD">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3675839" y="2218223"/>
            <a:ext cx="10936322" cy="8352616"/>
          </a:xfrm>
          <a:custGeom>
            <a:avLst/>
            <a:gdLst/>
            <a:ahLst/>
            <a:cxnLst/>
            <a:rect r="r" b="b" t="t" l="l"/>
            <a:pathLst>
              <a:path h="8352616" w="10936322">
                <a:moveTo>
                  <a:pt x="0" y="0"/>
                </a:moveTo>
                <a:lnTo>
                  <a:pt x="10936322" y="0"/>
                </a:lnTo>
                <a:lnTo>
                  <a:pt x="10936322" y="8352616"/>
                </a:lnTo>
                <a:lnTo>
                  <a:pt x="0" y="8352616"/>
                </a:lnTo>
                <a:lnTo>
                  <a:pt x="0" y="0"/>
                </a:lnTo>
                <a:close/>
              </a:path>
            </a:pathLst>
          </a:custGeom>
          <a:blipFill>
            <a:blip r:embed="rId2"/>
            <a:stretch>
              <a:fillRect l="0" t="0" r="0" b="0"/>
            </a:stretch>
          </a:blipFill>
        </p:spPr>
      </p:sp>
      <p:grpSp>
        <p:nvGrpSpPr>
          <p:cNvPr name="Group 3" id="3"/>
          <p:cNvGrpSpPr/>
          <p:nvPr/>
        </p:nvGrpSpPr>
        <p:grpSpPr>
          <a:xfrm rot="0">
            <a:off x="3914328" y="2505306"/>
            <a:ext cx="10439009" cy="5571709"/>
            <a:chOff x="0" y="0"/>
            <a:chExt cx="13918678" cy="7428945"/>
          </a:xfrm>
        </p:grpSpPr>
        <p:pic>
          <p:nvPicPr>
            <p:cNvPr name="Picture 4" id="4"/>
            <p:cNvPicPr>
              <a:picLocks noChangeAspect="true"/>
            </p:cNvPicPr>
            <p:nvPr/>
          </p:nvPicPr>
          <p:blipFill>
            <a:blip r:embed="rId3"/>
            <a:srcRect l="0" t="2556" r="0" b="2556"/>
            <a:stretch>
              <a:fillRect/>
            </a:stretch>
          </p:blipFill>
          <p:spPr>
            <a:xfrm flipH="false" flipV="false">
              <a:off x="0" y="0"/>
              <a:ext cx="13918678" cy="7428945"/>
            </a:xfrm>
            <a:prstGeom prst="rect">
              <a:avLst/>
            </a:prstGeom>
          </p:spPr>
        </p:pic>
      </p:grpSp>
      <p:grpSp>
        <p:nvGrpSpPr>
          <p:cNvPr name="Group 5" id="5"/>
          <p:cNvGrpSpPr/>
          <p:nvPr/>
        </p:nvGrpSpPr>
        <p:grpSpPr>
          <a:xfrm rot="0">
            <a:off x="16230600" y="0"/>
            <a:ext cx="1028700" cy="1028700"/>
            <a:chOff x="0" y="0"/>
            <a:chExt cx="270933" cy="270933"/>
          </a:xfrm>
        </p:grpSpPr>
        <p:sp>
          <p:nvSpPr>
            <p:cNvPr name="Freeform 6" id="6"/>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5181FF">
                    <a:alpha val="100000"/>
                  </a:srgbClr>
                </a:gs>
                <a:gs pos="100000">
                  <a:srgbClr val="042075">
                    <a:alpha val="100000"/>
                  </a:srgbClr>
                </a:gs>
              </a:gsLst>
              <a:lin ang="2700000"/>
            </a:gradFill>
          </p:spPr>
        </p:sp>
        <p:sp>
          <p:nvSpPr>
            <p:cNvPr name="TextBox 7" id="7"/>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747432" y="8717732"/>
            <a:ext cx="540568" cy="540568"/>
            <a:chOff x="0" y="0"/>
            <a:chExt cx="72536" cy="72536"/>
          </a:xfrm>
        </p:grpSpPr>
        <p:sp>
          <p:nvSpPr>
            <p:cNvPr name="Freeform 9" id="9"/>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gradFill rotWithShape="true">
              <a:gsLst>
                <a:gs pos="0">
                  <a:srgbClr val="5181FF">
                    <a:alpha val="100000"/>
                  </a:srgbClr>
                </a:gs>
                <a:gs pos="100000">
                  <a:srgbClr val="042075">
                    <a:alpha val="100000"/>
                  </a:srgbClr>
                </a:gs>
              </a:gsLst>
              <a:lin ang="2700000"/>
            </a:gradFill>
          </p:spPr>
        </p:sp>
        <p:sp>
          <p:nvSpPr>
            <p:cNvPr name="TextBox 10" id="10"/>
            <p:cNvSpPr txBox="true"/>
            <p:nvPr/>
          </p:nvSpPr>
          <p:spPr>
            <a:xfrm>
              <a:off x="0" y="-38100"/>
              <a:ext cx="72536" cy="11063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7747432" y="8177164"/>
            <a:ext cx="540568" cy="540568"/>
            <a:chOff x="0" y="0"/>
            <a:chExt cx="72536" cy="72536"/>
          </a:xfrm>
        </p:grpSpPr>
        <p:sp>
          <p:nvSpPr>
            <p:cNvPr name="Freeform 12" id="12"/>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13" id="13"/>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7003123" y="8144252"/>
            <a:ext cx="4261420" cy="841630"/>
          </a:xfrm>
          <a:custGeom>
            <a:avLst/>
            <a:gdLst/>
            <a:ahLst/>
            <a:cxnLst/>
            <a:rect r="r" b="b" t="t" l="l"/>
            <a:pathLst>
              <a:path h="841630" w="4261420">
                <a:moveTo>
                  <a:pt x="0" y="0"/>
                </a:moveTo>
                <a:lnTo>
                  <a:pt x="4261420" y="0"/>
                </a:lnTo>
                <a:lnTo>
                  <a:pt x="4261420" y="841631"/>
                </a:lnTo>
                <a:lnTo>
                  <a:pt x="0" y="841631"/>
                </a:lnTo>
                <a:lnTo>
                  <a:pt x="0" y="0"/>
                </a:lnTo>
                <a:close/>
              </a:path>
            </a:pathLst>
          </a:custGeom>
          <a:blipFill>
            <a:blip r:embed="rId4"/>
            <a:stretch>
              <a:fillRect l="0" t="0" r="0" b="0"/>
            </a:stretch>
          </a:blipFill>
        </p:spPr>
      </p:sp>
      <p:grpSp>
        <p:nvGrpSpPr>
          <p:cNvPr name="Group 15" id="15"/>
          <p:cNvGrpSpPr/>
          <p:nvPr/>
        </p:nvGrpSpPr>
        <p:grpSpPr>
          <a:xfrm rot="0">
            <a:off x="7013290" y="7536368"/>
            <a:ext cx="4261420" cy="1028700"/>
            <a:chOff x="0" y="0"/>
            <a:chExt cx="1122349" cy="270933"/>
          </a:xfrm>
        </p:grpSpPr>
        <p:sp>
          <p:nvSpPr>
            <p:cNvPr name="Freeform 16" id="16"/>
            <p:cNvSpPr/>
            <p:nvPr/>
          </p:nvSpPr>
          <p:spPr>
            <a:xfrm flipH="false" flipV="false" rot="0">
              <a:off x="0" y="0"/>
              <a:ext cx="1122349" cy="270933"/>
            </a:xfrm>
            <a:custGeom>
              <a:avLst/>
              <a:gdLst/>
              <a:ahLst/>
              <a:cxnLst/>
              <a:rect r="r" b="b" t="t" l="l"/>
              <a:pathLst>
                <a:path h="270933" w="1122349">
                  <a:moveTo>
                    <a:pt x="0" y="0"/>
                  </a:moveTo>
                  <a:lnTo>
                    <a:pt x="1122349" y="0"/>
                  </a:lnTo>
                  <a:lnTo>
                    <a:pt x="1122349" y="270933"/>
                  </a:lnTo>
                  <a:lnTo>
                    <a:pt x="0" y="270933"/>
                  </a:lnTo>
                  <a:close/>
                </a:path>
              </a:pathLst>
            </a:custGeom>
            <a:gradFill rotWithShape="true">
              <a:gsLst>
                <a:gs pos="0">
                  <a:srgbClr val="5181FF">
                    <a:alpha val="100000"/>
                  </a:srgbClr>
                </a:gs>
                <a:gs pos="100000">
                  <a:srgbClr val="042075">
                    <a:alpha val="100000"/>
                  </a:srgbClr>
                </a:gs>
              </a:gsLst>
              <a:lin ang="2700000"/>
            </a:gradFill>
          </p:spPr>
        </p:sp>
        <p:sp>
          <p:nvSpPr>
            <p:cNvPr name="TextBox 17" id="17"/>
            <p:cNvSpPr txBox="true"/>
            <p:nvPr/>
          </p:nvSpPr>
          <p:spPr>
            <a:xfrm>
              <a:off x="0" y="-38100"/>
              <a:ext cx="1122349" cy="309033"/>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7240572" y="7681306"/>
            <a:ext cx="3806856" cy="662624"/>
          </a:xfrm>
          <a:prstGeom prst="rect">
            <a:avLst/>
          </a:prstGeom>
        </p:spPr>
        <p:txBody>
          <a:bodyPr anchor="t" rtlCol="false" tIns="0" lIns="0" bIns="0" rIns="0">
            <a:spAutoFit/>
          </a:bodyPr>
          <a:lstStyle/>
          <a:p>
            <a:pPr algn="ctr">
              <a:lnSpc>
                <a:spcPts val="5499"/>
              </a:lnSpc>
              <a:spcBef>
                <a:spcPct val="0"/>
              </a:spcBef>
            </a:pPr>
            <a:r>
              <a:rPr lang="en-US" b="true" sz="3928">
                <a:solidFill>
                  <a:srgbClr val="FFFFFF"/>
                </a:solidFill>
                <a:latin typeface="Open Sans Bold"/>
                <a:ea typeface="Open Sans Bold"/>
                <a:cs typeface="Open Sans Bold"/>
                <a:sym typeface="Open Sans Bold"/>
              </a:rPr>
              <a:t>Explore Now</a:t>
            </a:r>
          </a:p>
        </p:txBody>
      </p:sp>
      <p:sp>
        <p:nvSpPr>
          <p:cNvPr name="TextBox 19" id="19"/>
          <p:cNvSpPr txBox="true"/>
          <p:nvPr/>
        </p:nvSpPr>
        <p:spPr>
          <a:xfrm rot="0">
            <a:off x="1591223" y="3308349"/>
            <a:ext cx="15085220" cy="3479803"/>
          </a:xfrm>
          <a:prstGeom prst="rect">
            <a:avLst/>
          </a:prstGeom>
        </p:spPr>
        <p:txBody>
          <a:bodyPr anchor="t" rtlCol="false" tIns="0" lIns="0" bIns="0" rIns="0">
            <a:spAutoFit/>
          </a:bodyPr>
          <a:lstStyle/>
          <a:p>
            <a:pPr algn="ctr">
              <a:lnSpc>
                <a:spcPts val="13999"/>
              </a:lnSpc>
            </a:pPr>
            <a:r>
              <a:rPr lang="en-US" sz="9999">
                <a:solidFill>
                  <a:srgbClr val="FFFFFF"/>
                </a:solidFill>
                <a:latin typeface="Anton"/>
                <a:ea typeface="Anton"/>
                <a:cs typeface="Anton"/>
                <a:sym typeface="Anton"/>
              </a:rPr>
              <a:t>P</a:t>
            </a:r>
            <a:r>
              <a:rPr lang="en-US" sz="9999">
                <a:solidFill>
                  <a:srgbClr val="FFFFFF"/>
                </a:solidFill>
                <a:latin typeface="Anton"/>
                <a:ea typeface="Anton"/>
                <a:cs typeface="Anton"/>
                <a:sym typeface="Anton"/>
              </a:rPr>
              <a:t>hân loại tín hiệu Sonar bằng </a:t>
            </a:r>
          </a:p>
          <a:p>
            <a:pPr algn="ctr">
              <a:lnSpc>
                <a:spcPts val="13999"/>
              </a:lnSpc>
            </a:pPr>
            <a:r>
              <a:rPr lang="en-US" sz="9999">
                <a:solidFill>
                  <a:srgbClr val="FFFFFF"/>
                </a:solidFill>
                <a:latin typeface="Anton"/>
                <a:ea typeface="Anton"/>
                <a:cs typeface="Anton"/>
                <a:sym typeface="Anton"/>
              </a:rPr>
              <a:t>Machine Learning</a:t>
            </a:r>
          </a:p>
        </p:txBody>
      </p:sp>
    </p:spTree>
  </p:cSld>
  <p:clrMapOvr>
    <a:masterClrMapping/>
  </p:clrMapOvr>
</p:sld>
</file>

<file path=ppt/slides/slide2.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7057707" y="165100"/>
            <a:ext cx="4172585" cy="863600"/>
          </a:xfrm>
          <a:prstGeom prst="rect">
            <a:avLst/>
          </a:prstGeom>
        </p:spPr>
        <p:txBody>
          <a:bodyPr anchor="t" rtlCol="false" tIns="0" lIns="0" bIns="0" rIns="0">
            <a:spAutoFit/>
          </a:bodyPr>
          <a:lstStyle/>
          <a:p>
            <a:pPr algn="l">
              <a:lnSpc>
                <a:spcPts val="7000"/>
              </a:lnSpc>
            </a:pPr>
            <a:r>
              <a:rPr lang="en-US" sz="5000" b="true">
                <a:solidFill>
                  <a:srgbClr val="FFFFFF"/>
                </a:solidFill>
                <a:latin typeface="Noto Sans Bold"/>
                <a:ea typeface="Noto Sans Bold"/>
                <a:cs typeface="Noto Sans Bold"/>
                <a:sym typeface="Noto Sans Bold"/>
              </a:rPr>
              <a:t>I. GIỚI</a:t>
            </a:r>
            <a:r>
              <a:rPr lang="en-US" b="true" sz="5000">
                <a:solidFill>
                  <a:srgbClr val="FFFFFF"/>
                </a:solidFill>
                <a:latin typeface="Noto Sans Bold"/>
                <a:ea typeface="Noto Sans Bold"/>
                <a:cs typeface="Noto Sans Bold"/>
                <a:sym typeface="Noto Sans Bold"/>
              </a:rPr>
              <a:t> THIỆU</a:t>
            </a:r>
          </a:p>
        </p:txBody>
      </p:sp>
      <p:sp>
        <p:nvSpPr>
          <p:cNvPr name="TextBox 6" id="6"/>
          <p:cNvSpPr txBox="true"/>
          <p:nvPr/>
        </p:nvSpPr>
        <p:spPr>
          <a:xfrm rot="0">
            <a:off x="1028700" y="952500"/>
            <a:ext cx="5171599"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1. Định nghĩa vấn đề</a:t>
            </a:r>
          </a:p>
        </p:txBody>
      </p:sp>
      <p:sp>
        <p:nvSpPr>
          <p:cNvPr name="TextBox 7" id="7"/>
          <p:cNvSpPr txBox="true"/>
          <p:nvPr/>
        </p:nvSpPr>
        <p:spPr>
          <a:xfrm rot="0">
            <a:off x="1028700" y="1711144"/>
            <a:ext cx="8479632" cy="712470"/>
          </a:xfrm>
          <a:prstGeom prst="rect">
            <a:avLst/>
          </a:prstGeom>
        </p:spPr>
        <p:txBody>
          <a:bodyPr anchor="t" rtlCol="false" tIns="0" lIns="0" bIns="0" rIns="0">
            <a:spAutoFit/>
          </a:bodyPr>
          <a:lstStyle/>
          <a:p>
            <a:pPr algn="ctr">
              <a:lnSpc>
                <a:spcPts val="5880"/>
              </a:lnSpc>
            </a:pPr>
            <a:r>
              <a:rPr lang="en-US" sz="4200" b="true">
                <a:solidFill>
                  <a:srgbClr val="FFFFFF"/>
                </a:solidFill>
                <a:latin typeface="Noto Sans Bold"/>
                <a:ea typeface="Noto Sans Bold"/>
                <a:cs typeface="Noto Sans Bold"/>
                <a:sym typeface="Noto Sans Bold"/>
              </a:rPr>
              <a:t>a) Tầm quan trọng của bài toán </a:t>
            </a:r>
          </a:p>
        </p:txBody>
      </p:sp>
      <p:sp>
        <p:nvSpPr>
          <p:cNvPr name="TextBox 8" id="8"/>
          <p:cNvSpPr txBox="true"/>
          <p:nvPr/>
        </p:nvSpPr>
        <p:spPr>
          <a:xfrm rot="0">
            <a:off x="981075" y="2469498"/>
            <a:ext cx="16230600" cy="4330701"/>
          </a:xfrm>
          <a:prstGeom prst="rect">
            <a:avLst/>
          </a:prstGeom>
        </p:spPr>
        <p:txBody>
          <a:bodyPr anchor="t" rtlCol="false" tIns="0" lIns="0" bIns="0" rIns="0">
            <a:spAutoFit/>
          </a:bodyPr>
          <a:lstStyle/>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Ứng dụng then chốt: Kỹ thuật quân sự và an toàn hàng hải.</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Mục tiêu cốt lõi: Phân biệt chính xác Mìn hình trụ (vật thể nhân tạo) và Đá ngầm (vật thể tự nhiên).</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Thách thức: Môi trường đại dương nhiễu cao, cấu trúc phức tạp.</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Giải pháp: Phát triển thuật toán nhận dạng mẫu hiện đại.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653611" y="2677980"/>
            <a:ext cx="12980778" cy="6246390"/>
          </a:xfrm>
          <a:custGeom>
            <a:avLst/>
            <a:gdLst/>
            <a:ahLst/>
            <a:cxnLst/>
            <a:rect r="r" b="b" t="t" l="l"/>
            <a:pathLst>
              <a:path h="6246390" w="12980778">
                <a:moveTo>
                  <a:pt x="0" y="0"/>
                </a:moveTo>
                <a:lnTo>
                  <a:pt x="12980778" y="0"/>
                </a:lnTo>
                <a:lnTo>
                  <a:pt x="12980778" y="6246389"/>
                </a:lnTo>
                <a:lnTo>
                  <a:pt x="0" y="6246389"/>
                </a:lnTo>
                <a:lnTo>
                  <a:pt x="0" y="0"/>
                </a:lnTo>
                <a:close/>
              </a:path>
            </a:pathLst>
          </a:custGeom>
          <a:blipFill>
            <a:blip r:embed="rId2"/>
            <a:stretch>
              <a:fillRect l="0" t="0" r="0" b="0"/>
            </a:stretch>
          </a:blipFill>
        </p:spPr>
      </p:sp>
      <p:sp>
        <p:nvSpPr>
          <p:cNvPr name="TextBox 6" id="6"/>
          <p:cNvSpPr txBox="true"/>
          <p:nvPr/>
        </p:nvSpPr>
        <p:spPr>
          <a:xfrm rot="0">
            <a:off x="7057707" y="165100"/>
            <a:ext cx="4172585" cy="863600"/>
          </a:xfrm>
          <a:prstGeom prst="rect">
            <a:avLst/>
          </a:prstGeom>
        </p:spPr>
        <p:txBody>
          <a:bodyPr anchor="t" rtlCol="false" tIns="0" lIns="0" bIns="0" rIns="0">
            <a:spAutoFit/>
          </a:bodyPr>
          <a:lstStyle/>
          <a:p>
            <a:pPr algn="l">
              <a:lnSpc>
                <a:spcPts val="7000"/>
              </a:lnSpc>
            </a:pPr>
            <a:r>
              <a:rPr lang="en-US" sz="5000" b="true">
                <a:solidFill>
                  <a:srgbClr val="FFFFFF"/>
                </a:solidFill>
                <a:latin typeface="Noto Sans Bold"/>
                <a:ea typeface="Noto Sans Bold"/>
                <a:cs typeface="Noto Sans Bold"/>
                <a:sym typeface="Noto Sans Bold"/>
              </a:rPr>
              <a:t>I. GIỚI</a:t>
            </a:r>
            <a:r>
              <a:rPr lang="en-US" b="true" sz="5000">
                <a:solidFill>
                  <a:srgbClr val="FFFFFF"/>
                </a:solidFill>
                <a:latin typeface="Noto Sans Bold"/>
                <a:ea typeface="Noto Sans Bold"/>
                <a:cs typeface="Noto Sans Bold"/>
                <a:sym typeface="Noto Sans Bold"/>
              </a:rPr>
              <a:t> THIỆU</a:t>
            </a:r>
          </a:p>
        </p:txBody>
      </p:sp>
      <p:sp>
        <p:nvSpPr>
          <p:cNvPr name="TextBox 7" id="7"/>
          <p:cNvSpPr txBox="true"/>
          <p:nvPr/>
        </p:nvSpPr>
        <p:spPr>
          <a:xfrm rot="0">
            <a:off x="1028700" y="952500"/>
            <a:ext cx="5171599"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1. Định nghĩa vấn đề</a:t>
            </a:r>
          </a:p>
        </p:txBody>
      </p:sp>
      <p:sp>
        <p:nvSpPr>
          <p:cNvPr name="TextBox 8" id="8"/>
          <p:cNvSpPr txBox="true"/>
          <p:nvPr/>
        </p:nvSpPr>
        <p:spPr>
          <a:xfrm rot="0">
            <a:off x="1028700" y="1711144"/>
            <a:ext cx="8479632" cy="712470"/>
          </a:xfrm>
          <a:prstGeom prst="rect">
            <a:avLst/>
          </a:prstGeom>
        </p:spPr>
        <p:txBody>
          <a:bodyPr anchor="t" rtlCol="false" tIns="0" lIns="0" bIns="0" rIns="0">
            <a:spAutoFit/>
          </a:bodyPr>
          <a:lstStyle/>
          <a:p>
            <a:pPr algn="ctr">
              <a:lnSpc>
                <a:spcPts val="5880"/>
              </a:lnSpc>
            </a:pPr>
            <a:r>
              <a:rPr lang="en-US" sz="4200" b="true">
                <a:solidFill>
                  <a:srgbClr val="FFFFFF"/>
                </a:solidFill>
                <a:latin typeface="Noto Sans Bold"/>
                <a:ea typeface="Noto Sans Bold"/>
                <a:cs typeface="Noto Sans Bold"/>
                <a:sym typeface="Noto Sans Bold"/>
              </a:rPr>
              <a:t>a) Tầm quan trọng của bài toán </a:t>
            </a: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7057707" y="165100"/>
            <a:ext cx="4172585" cy="863600"/>
          </a:xfrm>
          <a:prstGeom prst="rect">
            <a:avLst/>
          </a:prstGeom>
        </p:spPr>
        <p:txBody>
          <a:bodyPr anchor="t" rtlCol="false" tIns="0" lIns="0" bIns="0" rIns="0">
            <a:spAutoFit/>
          </a:bodyPr>
          <a:lstStyle/>
          <a:p>
            <a:pPr algn="l">
              <a:lnSpc>
                <a:spcPts val="7000"/>
              </a:lnSpc>
            </a:pPr>
            <a:r>
              <a:rPr lang="en-US" sz="5000" b="true">
                <a:solidFill>
                  <a:srgbClr val="FFFFFF"/>
                </a:solidFill>
                <a:latin typeface="Noto Sans Bold"/>
                <a:ea typeface="Noto Sans Bold"/>
                <a:cs typeface="Noto Sans Bold"/>
                <a:sym typeface="Noto Sans Bold"/>
              </a:rPr>
              <a:t>I. GIỚI</a:t>
            </a:r>
            <a:r>
              <a:rPr lang="en-US" b="true" sz="5000">
                <a:solidFill>
                  <a:srgbClr val="FFFFFF"/>
                </a:solidFill>
                <a:latin typeface="Noto Sans Bold"/>
                <a:ea typeface="Noto Sans Bold"/>
                <a:cs typeface="Noto Sans Bold"/>
                <a:sym typeface="Noto Sans Bold"/>
              </a:rPr>
              <a:t> THIỆU</a:t>
            </a:r>
          </a:p>
        </p:txBody>
      </p:sp>
      <p:sp>
        <p:nvSpPr>
          <p:cNvPr name="TextBox 6" id="6"/>
          <p:cNvSpPr txBox="true"/>
          <p:nvPr/>
        </p:nvSpPr>
        <p:spPr>
          <a:xfrm rot="0">
            <a:off x="1028700" y="952500"/>
            <a:ext cx="5171599"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1. Định nghĩa vấn đề</a:t>
            </a:r>
          </a:p>
        </p:txBody>
      </p:sp>
      <p:sp>
        <p:nvSpPr>
          <p:cNvPr name="TextBox 7" id="7"/>
          <p:cNvSpPr txBox="true"/>
          <p:nvPr/>
        </p:nvSpPr>
        <p:spPr>
          <a:xfrm rot="0">
            <a:off x="1028700" y="1784977"/>
            <a:ext cx="7645083" cy="712470"/>
          </a:xfrm>
          <a:prstGeom prst="rect">
            <a:avLst/>
          </a:prstGeom>
        </p:spPr>
        <p:txBody>
          <a:bodyPr anchor="t" rtlCol="false" tIns="0" lIns="0" bIns="0" rIns="0">
            <a:spAutoFit/>
          </a:bodyPr>
          <a:lstStyle/>
          <a:p>
            <a:pPr algn="ctr">
              <a:lnSpc>
                <a:spcPts val="5880"/>
              </a:lnSpc>
            </a:pPr>
            <a:r>
              <a:rPr lang="en-US" sz="4200" b="true">
                <a:solidFill>
                  <a:srgbClr val="FFFFFF"/>
                </a:solidFill>
                <a:latin typeface="Noto Sans Bold"/>
                <a:ea typeface="Noto Sans Bold"/>
                <a:cs typeface="Noto Sans Bold"/>
                <a:sym typeface="Noto Sans Bold"/>
              </a:rPr>
              <a:t>b) Mục tiêu và ý nghĩa đề tài </a:t>
            </a:r>
          </a:p>
        </p:txBody>
      </p:sp>
      <p:sp>
        <p:nvSpPr>
          <p:cNvPr name="TextBox 8" id="8"/>
          <p:cNvSpPr txBox="true"/>
          <p:nvPr/>
        </p:nvSpPr>
        <p:spPr>
          <a:xfrm rot="0">
            <a:off x="981075" y="2469498"/>
            <a:ext cx="16230600" cy="4330701"/>
          </a:xfrm>
          <a:prstGeom prst="rect">
            <a:avLst/>
          </a:prstGeom>
        </p:spPr>
        <p:txBody>
          <a:bodyPr anchor="t" rtlCol="false" tIns="0" lIns="0" bIns="0" rIns="0">
            <a:spAutoFit/>
          </a:bodyPr>
          <a:lstStyle/>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Tự động hóa: Thay thế phương pháp rà soát thủ công bằng mô hình tính toán.</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Tối ưu vận hành: Giảm thiểu thời gian xử lý tín hiệu.</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An toàn: Giảm rủi ro trực tiếp cho con người và phương tiện thủy.</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Tiền đề: Xây dựng giải pháp an ninh biển độ tin cậy cao.</a:t>
            </a:r>
          </a:p>
        </p:txBody>
      </p:sp>
    </p:spTree>
  </p:cSld>
  <p:clrMapOvr>
    <a:masterClrMapping/>
  </p:clrMapOvr>
</p:sld>
</file>

<file path=ppt/slides/slide5.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7057707" y="165100"/>
            <a:ext cx="4172585" cy="863600"/>
          </a:xfrm>
          <a:prstGeom prst="rect">
            <a:avLst/>
          </a:prstGeom>
        </p:spPr>
        <p:txBody>
          <a:bodyPr anchor="t" rtlCol="false" tIns="0" lIns="0" bIns="0" rIns="0">
            <a:spAutoFit/>
          </a:bodyPr>
          <a:lstStyle/>
          <a:p>
            <a:pPr algn="l">
              <a:lnSpc>
                <a:spcPts val="7000"/>
              </a:lnSpc>
            </a:pPr>
            <a:r>
              <a:rPr lang="en-US" sz="5000" b="true">
                <a:solidFill>
                  <a:srgbClr val="FFFFFF"/>
                </a:solidFill>
                <a:latin typeface="Noto Sans Bold"/>
                <a:ea typeface="Noto Sans Bold"/>
                <a:cs typeface="Noto Sans Bold"/>
                <a:sym typeface="Noto Sans Bold"/>
              </a:rPr>
              <a:t>I. GIỚI</a:t>
            </a:r>
            <a:r>
              <a:rPr lang="en-US" b="true" sz="5000">
                <a:solidFill>
                  <a:srgbClr val="FFFFFF"/>
                </a:solidFill>
                <a:latin typeface="Noto Sans Bold"/>
                <a:ea typeface="Noto Sans Bold"/>
                <a:cs typeface="Noto Sans Bold"/>
                <a:sym typeface="Noto Sans Bold"/>
              </a:rPr>
              <a:t> THIỆU</a:t>
            </a:r>
          </a:p>
        </p:txBody>
      </p:sp>
      <p:sp>
        <p:nvSpPr>
          <p:cNvPr name="TextBox 6" id="6"/>
          <p:cNvSpPr txBox="true"/>
          <p:nvPr/>
        </p:nvSpPr>
        <p:spPr>
          <a:xfrm rot="0">
            <a:off x="1028700" y="952500"/>
            <a:ext cx="7273766"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2. Phân tích yêu cầu bài toán</a:t>
            </a:r>
          </a:p>
        </p:txBody>
      </p:sp>
      <p:sp>
        <p:nvSpPr>
          <p:cNvPr name="TextBox 7" id="7"/>
          <p:cNvSpPr txBox="true"/>
          <p:nvPr/>
        </p:nvSpPr>
        <p:spPr>
          <a:xfrm rot="0">
            <a:off x="1028700" y="1784977"/>
            <a:ext cx="9168607" cy="712470"/>
          </a:xfrm>
          <a:prstGeom prst="rect">
            <a:avLst/>
          </a:prstGeom>
        </p:spPr>
        <p:txBody>
          <a:bodyPr anchor="t" rtlCol="false" tIns="0" lIns="0" bIns="0" rIns="0">
            <a:spAutoFit/>
          </a:bodyPr>
          <a:lstStyle/>
          <a:p>
            <a:pPr algn="ctr">
              <a:lnSpc>
                <a:spcPts val="5880"/>
              </a:lnSpc>
            </a:pPr>
            <a:r>
              <a:rPr lang="en-US" sz="4200" b="true">
                <a:solidFill>
                  <a:srgbClr val="FFFFFF"/>
                </a:solidFill>
                <a:latin typeface="Noto Sans Bold"/>
                <a:ea typeface="Noto Sans Bold"/>
                <a:cs typeface="Noto Sans Bold"/>
                <a:sym typeface="Noto Sans Bold"/>
              </a:rPr>
              <a:t>a) Cơ sở lý thuyết và phương pháp</a:t>
            </a:r>
          </a:p>
        </p:txBody>
      </p:sp>
      <p:sp>
        <p:nvSpPr>
          <p:cNvPr name="TextBox 8" id="8"/>
          <p:cNvSpPr txBox="true"/>
          <p:nvPr/>
        </p:nvSpPr>
        <p:spPr>
          <a:xfrm rot="0">
            <a:off x="981075" y="2469498"/>
            <a:ext cx="16230600" cy="6102351"/>
          </a:xfrm>
          <a:prstGeom prst="rect">
            <a:avLst/>
          </a:prstGeom>
        </p:spPr>
        <p:txBody>
          <a:bodyPr anchor="t" rtlCol="false" tIns="0" lIns="0" bIns="0" rIns="0">
            <a:spAutoFit/>
          </a:bodyPr>
          <a:lstStyle/>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Nền tảng: Dựa trên nghiên cứu của Gorman và Sejnowski.</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Công nghệ: Ứng dụng mạng thần kinh nhân tạo để khai thác đặc trưng âm học.</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Tín hiệu thực nghiệm: Sử dụng tín hiệu chirp với tần số biến đổi theo thời gian.</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Cơ chế nhận diện: Phân hóa năng lượng phản hồi trên các dải tần số khác nhau giữa kim loại và đá.</a:t>
            </a:r>
          </a:p>
        </p:txBody>
      </p:sp>
    </p:spTree>
  </p:cSld>
  <p:clrMapOvr>
    <a:masterClrMapping/>
  </p:clrMapOvr>
</p:sld>
</file>

<file path=ppt/slides/slide6.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7057707" y="165100"/>
            <a:ext cx="4172585" cy="863600"/>
          </a:xfrm>
          <a:prstGeom prst="rect">
            <a:avLst/>
          </a:prstGeom>
        </p:spPr>
        <p:txBody>
          <a:bodyPr anchor="t" rtlCol="false" tIns="0" lIns="0" bIns="0" rIns="0">
            <a:spAutoFit/>
          </a:bodyPr>
          <a:lstStyle/>
          <a:p>
            <a:pPr algn="l">
              <a:lnSpc>
                <a:spcPts val="7000"/>
              </a:lnSpc>
            </a:pPr>
            <a:r>
              <a:rPr lang="en-US" sz="5000" b="true">
                <a:solidFill>
                  <a:srgbClr val="FFFFFF"/>
                </a:solidFill>
                <a:latin typeface="Noto Sans Bold"/>
                <a:ea typeface="Noto Sans Bold"/>
                <a:cs typeface="Noto Sans Bold"/>
                <a:sym typeface="Noto Sans Bold"/>
              </a:rPr>
              <a:t>I. GIỚI</a:t>
            </a:r>
            <a:r>
              <a:rPr lang="en-US" b="true" sz="5000">
                <a:solidFill>
                  <a:srgbClr val="FFFFFF"/>
                </a:solidFill>
                <a:latin typeface="Noto Sans Bold"/>
                <a:ea typeface="Noto Sans Bold"/>
                <a:cs typeface="Noto Sans Bold"/>
                <a:sym typeface="Noto Sans Bold"/>
              </a:rPr>
              <a:t> THIỆU</a:t>
            </a:r>
          </a:p>
        </p:txBody>
      </p:sp>
      <p:sp>
        <p:nvSpPr>
          <p:cNvPr name="TextBox 6" id="6"/>
          <p:cNvSpPr txBox="true"/>
          <p:nvPr/>
        </p:nvSpPr>
        <p:spPr>
          <a:xfrm rot="0">
            <a:off x="1028700" y="952500"/>
            <a:ext cx="7273766"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2. Phân tích yêu cầu bài toán</a:t>
            </a:r>
          </a:p>
        </p:txBody>
      </p:sp>
      <p:sp>
        <p:nvSpPr>
          <p:cNvPr name="TextBox 7" id="7"/>
          <p:cNvSpPr txBox="true"/>
          <p:nvPr/>
        </p:nvSpPr>
        <p:spPr>
          <a:xfrm rot="0">
            <a:off x="1073547" y="1711144"/>
            <a:ext cx="8389938" cy="712470"/>
          </a:xfrm>
          <a:prstGeom prst="rect">
            <a:avLst/>
          </a:prstGeom>
        </p:spPr>
        <p:txBody>
          <a:bodyPr anchor="t" rtlCol="false" tIns="0" lIns="0" bIns="0" rIns="0">
            <a:spAutoFit/>
          </a:bodyPr>
          <a:lstStyle/>
          <a:p>
            <a:pPr algn="ctr">
              <a:lnSpc>
                <a:spcPts val="5880"/>
              </a:lnSpc>
            </a:pPr>
            <a:r>
              <a:rPr lang="en-US" sz="4200" b="true">
                <a:solidFill>
                  <a:srgbClr val="FFFFFF"/>
                </a:solidFill>
                <a:latin typeface="Noto Sans Bold"/>
                <a:ea typeface="Noto Sans Bold"/>
                <a:cs typeface="Noto Sans Bold"/>
                <a:sym typeface="Noto Sans Bold"/>
              </a:rPr>
              <a:t>b) Thách thức và yêu cầu cốt lõi</a:t>
            </a:r>
          </a:p>
        </p:txBody>
      </p:sp>
      <p:sp>
        <p:nvSpPr>
          <p:cNvPr name="TextBox 8" id="8"/>
          <p:cNvSpPr txBox="true"/>
          <p:nvPr/>
        </p:nvSpPr>
        <p:spPr>
          <a:xfrm rot="0">
            <a:off x="981075" y="2469498"/>
            <a:ext cx="16230600" cy="6988176"/>
          </a:xfrm>
          <a:prstGeom prst="rect">
            <a:avLst/>
          </a:prstGeom>
        </p:spPr>
        <p:txBody>
          <a:bodyPr anchor="t" rtlCol="false" tIns="0" lIns="0" bIns="0" rIns="0">
            <a:spAutoFit/>
          </a:bodyPr>
          <a:lstStyle/>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Rào cản lớn nhất: Sự phụ thuộc chặt chẽ của độ chính xác vào góc khía cạnh.</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Biến đổi hình học: Thay đổi cấu trúc tín hiệu phản xạ tại điểm tiếp xúc, gây khó nhận diện.</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Yêu cầu hệ thống: Xây dựng mô hình có khả năng tổng quát hóa cao.</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Mục tiêu: Đảm bảo tính nhất quán và độ tin cậy tại mọi góc độ tiếp cận không gian.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3414254" y="2866033"/>
            <a:ext cx="11179784" cy="5311131"/>
          </a:xfrm>
          <a:custGeom>
            <a:avLst/>
            <a:gdLst/>
            <a:ahLst/>
            <a:cxnLst/>
            <a:rect r="r" b="b" t="t" l="l"/>
            <a:pathLst>
              <a:path h="5311131" w="11179784">
                <a:moveTo>
                  <a:pt x="0" y="0"/>
                </a:moveTo>
                <a:lnTo>
                  <a:pt x="11179784" y="0"/>
                </a:lnTo>
                <a:lnTo>
                  <a:pt x="11179784" y="5311131"/>
                </a:lnTo>
                <a:lnTo>
                  <a:pt x="0" y="5311131"/>
                </a:lnTo>
                <a:lnTo>
                  <a:pt x="0" y="0"/>
                </a:lnTo>
                <a:close/>
              </a:path>
            </a:pathLst>
          </a:custGeom>
          <a:blipFill>
            <a:blip r:embed="rId2"/>
            <a:stretch>
              <a:fillRect l="0" t="0" r="0" b="0"/>
            </a:stretch>
          </a:blipFill>
        </p:spPr>
      </p:sp>
      <p:sp>
        <p:nvSpPr>
          <p:cNvPr name="TextBox 6" id="6"/>
          <p:cNvSpPr txBox="true"/>
          <p:nvPr/>
        </p:nvSpPr>
        <p:spPr>
          <a:xfrm rot="0">
            <a:off x="7057707" y="165100"/>
            <a:ext cx="4172585" cy="863600"/>
          </a:xfrm>
          <a:prstGeom prst="rect">
            <a:avLst/>
          </a:prstGeom>
        </p:spPr>
        <p:txBody>
          <a:bodyPr anchor="t" rtlCol="false" tIns="0" lIns="0" bIns="0" rIns="0">
            <a:spAutoFit/>
          </a:bodyPr>
          <a:lstStyle/>
          <a:p>
            <a:pPr algn="l">
              <a:lnSpc>
                <a:spcPts val="7000"/>
              </a:lnSpc>
            </a:pPr>
            <a:r>
              <a:rPr lang="en-US" sz="5000" b="true">
                <a:solidFill>
                  <a:srgbClr val="FFFFFF"/>
                </a:solidFill>
                <a:latin typeface="Noto Sans Bold"/>
                <a:ea typeface="Noto Sans Bold"/>
                <a:cs typeface="Noto Sans Bold"/>
                <a:sym typeface="Noto Sans Bold"/>
              </a:rPr>
              <a:t>I. GIỚI</a:t>
            </a:r>
            <a:r>
              <a:rPr lang="en-US" b="true" sz="5000">
                <a:solidFill>
                  <a:srgbClr val="FFFFFF"/>
                </a:solidFill>
                <a:latin typeface="Noto Sans Bold"/>
                <a:ea typeface="Noto Sans Bold"/>
                <a:cs typeface="Noto Sans Bold"/>
                <a:sym typeface="Noto Sans Bold"/>
              </a:rPr>
              <a:t> THIỆU</a:t>
            </a:r>
          </a:p>
        </p:txBody>
      </p:sp>
      <p:sp>
        <p:nvSpPr>
          <p:cNvPr name="TextBox 7" id="7"/>
          <p:cNvSpPr txBox="true"/>
          <p:nvPr/>
        </p:nvSpPr>
        <p:spPr>
          <a:xfrm rot="0">
            <a:off x="1028700" y="952500"/>
            <a:ext cx="7273766"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2. Phân tích yêu cầu bài toán</a:t>
            </a:r>
          </a:p>
        </p:txBody>
      </p:sp>
      <p:sp>
        <p:nvSpPr>
          <p:cNvPr name="TextBox 8" id="8"/>
          <p:cNvSpPr txBox="true"/>
          <p:nvPr/>
        </p:nvSpPr>
        <p:spPr>
          <a:xfrm rot="0">
            <a:off x="1073547" y="1711144"/>
            <a:ext cx="8389938" cy="712470"/>
          </a:xfrm>
          <a:prstGeom prst="rect">
            <a:avLst/>
          </a:prstGeom>
        </p:spPr>
        <p:txBody>
          <a:bodyPr anchor="t" rtlCol="false" tIns="0" lIns="0" bIns="0" rIns="0">
            <a:spAutoFit/>
          </a:bodyPr>
          <a:lstStyle/>
          <a:p>
            <a:pPr algn="ctr">
              <a:lnSpc>
                <a:spcPts val="5880"/>
              </a:lnSpc>
            </a:pPr>
            <a:r>
              <a:rPr lang="en-US" sz="4200" b="true">
                <a:solidFill>
                  <a:srgbClr val="FFFFFF"/>
                </a:solidFill>
                <a:latin typeface="Noto Sans Bold"/>
                <a:ea typeface="Noto Sans Bold"/>
                <a:cs typeface="Noto Sans Bold"/>
                <a:sym typeface="Noto Sans Bold"/>
              </a:rPr>
              <a:t>b) Thách thức và yêu cầu cốt lõi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3251716" y="3011784"/>
            <a:ext cx="11784568" cy="5910602"/>
          </a:xfrm>
          <a:custGeom>
            <a:avLst/>
            <a:gdLst/>
            <a:ahLst/>
            <a:cxnLst/>
            <a:rect r="r" b="b" t="t" l="l"/>
            <a:pathLst>
              <a:path h="5910602" w="11784568">
                <a:moveTo>
                  <a:pt x="0" y="0"/>
                </a:moveTo>
                <a:lnTo>
                  <a:pt x="11784568" y="0"/>
                </a:lnTo>
                <a:lnTo>
                  <a:pt x="11784568" y="5910602"/>
                </a:lnTo>
                <a:lnTo>
                  <a:pt x="0" y="5910602"/>
                </a:lnTo>
                <a:lnTo>
                  <a:pt x="0" y="0"/>
                </a:lnTo>
                <a:close/>
              </a:path>
            </a:pathLst>
          </a:custGeom>
          <a:blipFill>
            <a:blip r:embed="rId2"/>
            <a:stretch>
              <a:fillRect l="0" t="0" r="0" b="0"/>
            </a:stretch>
          </a:blipFill>
        </p:spPr>
      </p:sp>
      <p:sp>
        <p:nvSpPr>
          <p:cNvPr name="TextBox 6" id="6"/>
          <p:cNvSpPr txBox="true"/>
          <p:nvPr/>
        </p:nvSpPr>
        <p:spPr>
          <a:xfrm rot="0">
            <a:off x="7057707" y="165100"/>
            <a:ext cx="4172585" cy="863600"/>
          </a:xfrm>
          <a:prstGeom prst="rect">
            <a:avLst/>
          </a:prstGeom>
        </p:spPr>
        <p:txBody>
          <a:bodyPr anchor="t" rtlCol="false" tIns="0" lIns="0" bIns="0" rIns="0">
            <a:spAutoFit/>
          </a:bodyPr>
          <a:lstStyle/>
          <a:p>
            <a:pPr algn="l">
              <a:lnSpc>
                <a:spcPts val="7000"/>
              </a:lnSpc>
            </a:pPr>
            <a:r>
              <a:rPr lang="en-US" sz="5000" b="true">
                <a:solidFill>
                  <a:srgbClr val="FFFFFF"/>
                </a:solidFill>
                <a:latin typeface="Noto Sans Bold"/>
                <a:ea typeface="Noto Sans Bold"/>
                <a:cs typeface="Noto Sans Bold"/>
                <a:sym typeface="Noto Sans Bold"/>
              </a:rPr>
              <a:t>I. GIỚI</a:t>
            </a:r>
            <a:r>
              <a:rPr lang="en-US" b="true" sz="5000">
                <a:solidFill>
                  <a:srgbClr val="FFFFFF"/>
                </a:solidFill>
                <a:latin typeface="Noto Sans Bold"/>
                <a:ea typeface="Noto Sans Bold"/>
                <a:cs typeface="Noto Sans Bold"/>
                <a:sym typeface="Noto Sans Bold"/>
              </a:rPr>
              <a:t> THIỆU</a:t>
            </a:r>
          </a:p>
        </p:txBody>
      </p:sp>
      <p:sp>
        <p:nvSpPr>
          <p:cNvPr name="TextBox 7" id="7"/>
          <p:cNvSpPr txBox="true"/>
          <p:nvPr/>
        </p:nvSpPr>
        <p:spPr>
          <a:xfrm rot="0">
            <a:off x="1028700" y="952500"/>
            <a:ext cx="7273766"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2. Phân tích yêu cầu bài toán</a:t>
            </a:r>
          </a:p>
        </p:txBody>
      </p:sp>
      <p:sp>
        <p:nvSpPr>
          <p:cNvPr name="TextBox 8" id="8"/>
          <p:cNvSpPr txBox="true"/>
          <p:nvPr/>
        </p:nvSpPr>
        <p:spPr>
          <a:xfrm rot="0">
            <a:off x="1073547" y="1711144"/>
            <a:ext cx="8389938" cy="712470"/>
          </a:xfrm>
          <a:prstGeom prst="rect">
            <a:avLst/>
          </a:prstGeom>
        </p:spPr>
        <p:txBody>
          <a:bodyPr anchor="t" rtlCol="false" tIns="0" lIns="0" bIns="0" rIns="0">
            <a:spAutoFit/>
          </a:bodyPr>
          <a:lstStyle/>
          <a:p>
            <a:pPr algn="ctr">
              <a:lnSpc>
                <a:spcPts val="5880"/>
              </a:lnSpc>
            </a:pPr>
            <a:r>
              <a:rPr lang="en-US" sz="4200" b="true">
                <a:solidFill>
                  <a:srgbClr val="FFFFFF"/>
                </a:solidFill>
                <a:latin typeface="Noto Sans Bold"/>
                <a:ea typeface="Noto Sans Bold"/>
                <a:cs typeface="Noto Sans Bold"/>
                <a:sym typeface="Noto Sans Bold"/>
              </a:rPr>
              <a:t>b) Thách thức và yêu cầu cốt lõi</a:t>
            </a:r>
          </a:p>
        </p:txBody>
      </p:sp>
    </p:spTree>
  </p:cSld>
  <p:clrMapOvr>
    <a:masterClrMapping/>
  </p:clrMapOvr>
</p:sld>
</file>

<file path=ppt/slides/slide9.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7057707" y="165100"/>
            <a:ext cx="4172585" cy="863600"/>
          </a:xfrm>
          <a:prstGeom prst="rect">
            <a:avLst/>
          </a:prstGeom>
        </p:spPr>
        <p:txBody>
          <a:bodyPr anchor="t" rtlCol="false" tIns="0" lIns="0" bIns="0" rIns="0">
            <a:spAutoFit/>
          </a:bodyPr>
          <a:lstStyle/>
          <a:p>
            <a:pPr algn="l">
              <a:lnSpc>
                <a:spcPts val="7000"/>
              </a:lnSpc>
            </a:pPr>
            <a:r>
              <a:rPr lang="en-US" sz="5000" b="true">
                <a:solidFill>
                  <a:srgbClr val="FFFFFF"/>
                </a:solidFill>
                <a:latin typeface="Noto Sans Bold"/>
                <a:ea typeface="Noto Sans Bold"/>
                <a:cs typeface="Noto Sans Bold"/>
                <a:sym typeface="Noto Sans Bold"/>
              </a:rPr>
              <a:t>I. GIỚI</a:t>
            </a:r>
            <a:r>
              <a:rPr lang="en-US" b="true" sz="5000">
                <a:solidFill>
                  <a:srgbClr val="FFFFFF"/>
                </a:solidFill>
                <a:latin typeface="Noto Sans Bold"/>
                <a:ea typeface="Noto Sans Bold"/>
                <a:cs typeface="Noto Sans Bold"/>
                <a:sym typeface="Noto Sans Bold"/>
              </a:rPr>
              <a:t> THIỆU</a:t>
            </a:r>
          </a:p>
        </p:txBody>
      </p:sp>
      <p:sp>
        <p:nvSpPr>
          <p:cNvPr name="TextBox 6" id="6"/>
          <p:cNvSpPr txBox="true"/>
          <p:nvPr/>
        </p:nvSpPr>
        <p:spPr>
          <a:xfrm rot="0">
            <a:off x="1028700" y="952500"/>
            <a:ext cx="9311323"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3. Xác định dữ liệu đầu vào và đầu ra</a:t>
            </a:r>
          </a:p>
        </p:txBody>
      </p:sp>
      <p:sp>
        <p:nvSpPr>
          <p:cNvPr name="TextBox 7" id="7"/>
          <p:cNvSpPr txBox="true"/>
          <p:nvPr/>
        </p:nvSpPr>
        <p:spPr>
          <a:xfrm rot="0">
            <a:off x="1028700" y="1784977"/>
            <a:ext cx="7601585" cy="712470"/>
          </a:xfrm>
          <a:prstGeom prst="rect">
            <a:avLst/>
          </a:prstGeom>
        </p:spPr>
        <p:txBody>
          <a:bodyPr anchor="t" rtlCol="false" tIns="0" lIns="0" bIns="0" rIns="0">
            <a:spAutoFit/>
          </a:bodyPr>
          <a:lstStyle/>
          <a:p>
            <a:pPr algn="ctr">
              <a:lnSpc>
                <a:spcPts val="5880"/>
              </a:lnSpc>
            </a:pPr>
            <a:r>
              <a:rPr lang="en-US" sz="4200" b="true">
                <a:solidFill>
                  <a:srgbClr val="FFFFFF"/>
                </a:solidFill>
                <a:latin typeface="Noto Sans Bold"/>
                <a:ea typeface="Noto Sans Bold"/>
                <a:cs typeface="Noto Sans Bold"/>
                <a:sym typeface="Noto Sans Bold"/>
              </a:rPr>
              <a:t>a) Đặc trưng dữ liệu đầu vào</a:t>
            </a:r>
          </a:p>
        </p:txBody>
      </p:sp>
      <p:sp>
        <p:nvSpPr>
          <p:cNvPr name="TextBox 8" id="8"/>
          <p:cNvSpPr txBox="true"/>
          <p:nvPr/>
        </p:nvSpPr>
        <p:spPr>
          <a:xfrm rot="0">
            <a:off x="981075" y="2469498"/>
            <a:ext cx="16230600" cy="6988176"/>
          </a:xfrm>
          <a:prstGeom prst="rect">
            <a:avLst/>
          </a:prstGeom>
        </p:spPr>
        <p:txBody>
          <a:bodyPr anchor="t" rtlCol="false" tIns="0" lIns="0" bIns="0" rIns="0">
            <a:spAutoFit/>
          </a:bodyPr>
          <a:lstStyle/>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Cấu trúc: Gồm 60 đặc trưng dưới dạng số thực, giá trị từ 0.0 đến 1.0.</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Ý nghĩa: Đại diện mức năng lượng trong một dải tần số cụ thể đã tích phân theo thời gian.</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Bản chất: Hình thành một chữ ký âm học đặc thù sau khi xử lý tín hiệu thô.</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Mục tiêu: Cung cấp nền tảng nhận diện biến đổi tinh vi trong phản xạ âm thanh.</a:t>
            </a:r>
          </a:p>
        </p:txBody>
      </p:sp>
    </p:spTree>
  </p:cSld>
  <p:clrMapOvr>
    <a:masterClrMapping/>
  </p:clrMapOvr>
</p:sld>
</file>

<file path=ppt/slides/slide10.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7057707" y="165100"/>
            <a:ext cx="4172585" cy="863600"/>
          </a:xfrm>
          <a:prstGeom prst="rect">
            <a:avLst/>
          </a:prstGeom>
        </p:spPr>
        <p:txBody>
          <a:bodyPr anchor="t" rtlCol="false" tIns="0" lIns="0" bIns="0" rIns="0">
            <a:spAutoFit/>
          </a:bodyPr>
          <a:lstStyle/>
          <a:p>
            <a:pPr algn="l">
              <a:lnSpc>
                <a:spcPts val="7000"/>
              </a:lnSpc>
            </a:pPr>
            <a:r>
              <a:rPr lang="en-US" sz="5000" b="true">
                <a:solidFill>
                  <a:srgbClr val="FFFFFF"/>
                </a:solidFill>
                <a:latin typeface="Noto Sans Bold"/>
                <a:ea typeface="Noto Sans Bold"/>
                <a:cs typeface="Noto Sans Bold"/>
                <a:sym typeface="Noto Sans Bold"/>
              </a:rPr>
              <a:t>I. GIỚI</a:t>
            </a:r>
            <a:r>
              <a:rPr lang="en-US" b="true" sz="5000">
                <a:solidFill>
                  <a:srgbClr val="FFFFFF"/>
                </a:solidFill>
                <a:latin typeface="Noto Sans Bold"/>
                <a:ea typeface="Noto Sans Bold"/>
                <a:cs typeface="Noto Sans Bold"/>
                <a:sym typeface="Noto Sans Bold"/>
              </a:rPr>
              <a:t> THIỆU</a:t>
            </a:r>
          </a:p>
        </p:txBody>
      </p:sp>
      <p:sp>
        <p:nvSpPr>
          <p:cNvPr name="TextBox 6" id="6"/>
          <p:cNvSpPr txBox="true"/>
          <p:nvPr/>
        </p:nvSpPr>
        <p:spPr>
          <a:xfrm rot="0">
            <a:off x="1028700" y="952500"/>
            <a:ext cx="9311323"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3. Xác định dữ liệu đầu vào và đầu ra</a:t>
            </a:r>
          </a:p>
        </p:txBody>
      </p:sp>
      <p:sp>
        <p:nvSpPr>
          <p:cNvPr name="TextBox 7" id="7"/>
          <p:cNvSpPr txBox="true"/>
          <p:nvPr/>
        </p:nvSpPr>
        <p:spPr>
          <a:xfrm rot="0">
            <a:off x="1028700" y="1784977"/>
            <a:ext cx="8507095" cy="712470"/>
          </a:xfrm>
          <a:prstGeom prst="rect">
            <a:avLst/>
          </a:prstGeom>
        </p:spPr>
        <p:txBody>
          <a:bodyPr anchor="t" rtlCol="false" tIns="0" lIns="0" bIns="0" rIns="0">
            <a:spAutoFit/>
          </a:bodyPr>
          <a:lstStyle/>
          <a:p>
            <a:pPr algn="ctr">
              <a:lnSpc>
                <a:spcPts val="5880"/>
              </a:lnSpc>
            </a:pPr>
            <a:r>
              <a:rPr lang="en-US" sz="4200" b="true">
                <a:solidFill>
                  <a:srgbClr val="FFFFFF"/>
                </a:solidFill>
                <a:latin typeface="Noto Sans Bold"/>
                <a:ea typeface="Noto Sans Bold"/>
                <a:cs typeface="Noto Sans Bold"/>
                <a:sym typeface="Noto Sans Bold"/>
              </a:rPr>
              <a:t>b) Đầu ra và cấu trúc thuật táon</a:t>
            </a:r>
          </a:p>
        </p:txBody>
      </p:sp>
      <p:sp>
        <p:nvSpPr>
          <p:cNvPr name="TextBox 8" id="8"/>
          <p:cNvSpPr txBox="true"/>
          <p:nvPr/>
        </p:nvSpPr>
        <p:spPr>
          <a:xfrm rot="0">
            <a:off x="981075" y="2469498"/>
            <a:ext cx="16230600" cy="5216526"/>
          </a:xfrm>
          <a:prstGeom prst="rect">
            <a:avLst/>
          </a:prstGeom>
        </p:spPr>
        <p:txBody>
          <a:bodyPr anchor="t" rtlCol="false" tIns="0" lIns="0" bIns="0" rIns="0">
            <a:spAutoFit/>
          </a:bodyPr>
          <a:lstStyle/>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Loại bài toán: Phân lớp nhị phân (Binary Classification).</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Lớp M (Mine): Đại diện cho mìn hoặc vật thể hình trụ bằng kim loại.</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Lớp R (Rock): Tương ứng với các khối đá tự nhiên dưới đáy biển.</a:t>
            </a:r>
          </a:p>
          <a:p>
            <a:pPr algn="l" marL="755649" indent="-377824" lvl="1">
              <a:lnSpc>
                <a:spcPts val="6999"/>
              </a:lnSpc>
              <a:buFont typeface="Arial"/>
              <a:buChar char="•"/>
            </a:pPr>
            <a:r>
              <a:rPr lang="en-US" sz="3499" spc="209">
                <a:solidFill>
                  <a:srgbClr val="FFFFFF"/>
                </a:solidFill>
                <a:latin typeface="Noto Sans"/>
                <a:ea typeface="Noto Sans"/>
                <a:cs typeface="Noto Sans"/>
                <a:sym typeface="Noto Sans"/>
              </a:rPr>
              <a:t>Mục tiêu mô hình: Tính toán xác suất hoặc đưa ra quyết định phân loại xác định.</a:t>
            </a:r>
          </a:p>
        </p:txBody>
      </p:sp>
    </p:spTree>
  </p:cSld>
  <p:clrMapOvr>
    <a:masterClrMapping/>
  </p:clrMapOvr>
</p:sld>
</file>

<file path=ppt/slides/slide11.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7057707" y="165100"/>
            <a:ext cx="6494304" cy="863600"/>
          </a:xfrm>
          <a:prstGeom prst="rect">
            <a:avLst/>
          </a:prstGeom>
        </p:spPr>
        <p:txBody>
          <a:bodyPr anchor="t" rtlCol="false" tIns="0" lIns="0" bIns="0" rIns="0">
            <a:spAutoFit/>
          </a:bodyPr>
          <a:lstStyle/>
          <a:p>
            <a:pPr algn="l">
              <a:lnSpc>
                <a:spcPts val="7000"/>
              </a:lnSpc>
            </a:pPr>
            <a:r>
              <a:rPr lang="en-US" sz="5000" b="true">
                <a:solidFill>
                  <a:srgbClr val="FFFFFF"/>
                </a:solidFill>
                <a:latin typeface="Noto Sans Bold"/>
                <a:ea typeface="Noto Sans Bold"/>
                <a:cs typeface="Noto Sans Bold"/>
                <a:sym typeface="Noto Sans Bold"/>
              </a:rPr>
              <a:t>II. KHẢO</a:t>
            </a:r>
            <a:r>
              <a:rPr lang="en-US" b="true" sz="5000">
                <a:solidFill>
                  <a:srgbClr val="FFFFFF"/>
                </a:solidFill>
                <a:latin typeface="Noto Sans Bold"/>
                <a:ea typeface="Noto Sans Bold"/>
                <a:cs typeface="Noto Sans Bold"/>
                <a:sym typeface="Noto Sans Bold"/>
              </a:rPr>
              <a:t> SÁT VẤN ĐỀ</a:t>
            </a:r>
          </a:p>
        </p:txBody>
      </p:sp>
      <p:sp>
        <p:nvSpPr>
          <p:cNvPr name="TextBox 6" id="6"/>
          <p:cNvSpPr txBox="true"/>
          <p:nvPr/>
        </p:nvSpPr>
        <p:spPr>
          <a:xfrm rot="0">
            <a:off x="1028700" y="952500"/>
            <a:ext cx="12599830"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1. Phân tích đặc điểm và cấu trúc bộ dữ liệu sonar</a:t>
            </a:r>
          </a:p>
        </p:txBody>
      </p:sp>
      <p:sp>
        <p:nvSpPr>
          <p:cNvPr name="TextBox 7" id="7"/>
          <p:cNvSpPr txBox="true"/>
          <p:nvPr/>
        </p:nvSpPr>
        <p:spPr>
          <a:xfrm rot="0">
            <a:off x="1028700" y="1929816"/>
            <a:ext cx="15741430" cy="3304651"/>
          </a:xfrm>
          <a:prstGeom prst="rect">
            <a:avLst/>
          </a:prstGeom>
        </p:spPr>
        <p:txBody>
          <a:bodyPr anchor="t" rtlCol="false" tIns="0" lIns="0" bIns="0" rIns="0">
            <a:spAutoFit/>
          </a:bodyPr>
          <a:lstStyle/>
          <a:p>
            <a:pPr algn="ctr">
              <a:lnSpc>
                <a:spcPts val="5278"/>
              </a:lnSpc>
            </a:pPr>
            <a:r>
              <a:rPr lang="en-US" sz="3770">
                <a:solidFill>
                  <a:srgbClr val="FFFFFF"/>
                </a:solidFill>
                <a:latin typeface="Noto Sans"/>
                <a:ea typeface="Noto Sans"/>
                <a:cs typeface="Noto Sans"/>
                <a:sym typeface="Noto Sans"/>
              </a:rPr>
              <a:t>Bộ dữ liệu nghiên cứu được trích xuất từ tệp tin sonar.csv với tổng cộng 208 quan trắc và 61 biến số, bao gồm 60 đặc trưng kỹ thuật được định dạng kiểu số thực và một biến phân loại mục tiêu. T</a:t>
            </a:r>
            <a:r>
              <a:rPr lang="en-US" sz="3770">
                <a:solidFill>
                  <a:srgbClr val="FFFFFF"/>
                </a:solidFill>
                <a:latin typeface="Noto Sans"/>
                <a:ea typeface="Noto Sans"/>
                <a:cs typeface="Noto Sans"/>
                <a:sym typeface="Noto Sans"/>
              </a:rPr>
              <a:t>ập dữ liệu này đảm bảo tính gọn nhẹ nhưng vẫn chứa đựng đầy đủ thông tin cần thiết để mô tả các thuộc tính vật lý của đối tượng nghiên cứu.</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963489" y="4239608"/>
            <a:ext cx="11301259" cy="4478124"/>
          </a:xfrm>
          <a:custGeom>
            <a:avLst/>
            <a:gdLst/>
            <a:ahLst/>
            <a:cxnLst/>
            <a:rect r="r" b="b" t="t" l="l"/>
            <a:pathLst>
              <a:path h="4478124" w="11301259">
                <a:moveTo>
                  <a:pt x="0" y="0"/>
                </a:moveTo>
                <a:lnTo>
                  <a:pt x="11301259" y="0"/>
                </a:lnTo>
                <a:lnTo>
                  <a:pt x="11301259" y="4478124"/>
                </a:lnTo>
                <a:lnTo>
                  <a:pt x="0" y="4478124"/>
                </a:lnTo>
                <a:lnTo>
                  <a:pt x="0" y="0"/>
                </a:lnTo>
                <a:close/>
              </a:path>
            </a:pathLst>
          </a:custGeom>
          <a:blipFill>
            <a:blip r:embed="rId2"/>
            <a:stretch>
              <a:fillRect l="0" t="0" r="0" b="0"/>
            </a:stretch>
          </a:blipFill>
        </p:spPr>
      </p:sp>
      <p:sp>
        <p:nvSpPr>
          <p:cNvPr name="TextBox 6" id="6"/>
          <p:cNvSpPr txBox="true"/>
          <p:nvPr/>
        </p:nvSpPr>
        <p:spPr>
          <a:xfrm rot="0">
            <a:off x="1028700" y="952500"/>
            <a:ext cx="16104236"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2. Phân tích phân phối và tương quan của các đặc trưng dữ liệu</a:t>
            </a:r>
          </a:p>
        </p:txBody>
      </p:sp>
      <p:sp>
        <p:nvSpPr>
          <p:cNvPr name="TextBox 7" id="7"/>
          <p:cNvSpPr txBox="true"/>
          <p:nvPr/>
        </p:nvSpPr>
        <p:spPr>
          <a:xfrm rot="0">
            <a:off x="0" y="2249961"/>
            <a:ext cx="17005565" cy="1581150"/>
          </a:xfrm>
          <a:prstGeom prst="rect">
            <a:avLst/>
          </a:prstGeom>
        </p:spPr>
        <p:txBody>
          <a:bodyPr anchor="t" rtlCol="false" tIns="0" lIns="0" bIns="0" rIns="0">
            <a:spAutoFit/>
          </a:bodyPr>
          <a:lstStyle/>
          <a:p>
            <a:pPr algn="ctr">
              <a:lnSpc>
                <a:spcPts val="4200"/>
              </a:lnSpc>
            </a:pPr>
            <a:r>
              <a:rPr lang="en-US" sz="3000">
                <a:solidFill>
                  <a:srgbClr val="FFFFFF"/>
                </a:solidFill>
                <a:latin typeface="Noto Sans"/>
                <a:ea typeface="Noto Sans"/>
                <a:cs typeface="Noto Sans"/>
                <a:sym typeface="Noto Sans"/>
              </a:rPr>
              <a:t>Quá trình khảo sát các biến số thông qua biểu đồ hộp cho thấy sự hiện diện đáng kể của các giá trị ngoại lệ trong toàn bộ tập dữ liệu. </a:t>
            </a:r>
            <a:r>
              <a:rPr lang="en-US" sz="3000">
                <a:solidFill>
                  <a:srgbClr val="FFFFFF"/>
                </a:solidFill>
                <a:latin typeface="Noto Sans"/>
                <a:ea typeface="Noto Sans"/>
                <a:cs typeface="Noto Sans"/>
                <a:sym typeface="Noto Sans"/>
              </a:rPr>
              <a:t>Cụ thể, lớp đối tượng mìn ghi nhận mật độ các điểm giá trị nằm ngoài khoảng biến thiên thông thường cao hơn rõ rệt so với lớp đối tượng đá</a:t>
            </a:r>
          </a:p>
        </p:txBody>
      </p:sp>
    </p:spTree>
  </p:cSld>
  <p:clrMapOvr>
    <a:masterClrMapping/>
  </p:clrMapOvr>
</p:sld>
</file>

<file path=ppt/slides/slide13.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952500"/>
            <a:ext cx="14520546"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3. Quy trình phân tách và chuẩn hóa dữ liệu thực nghiệm</a:t>
            </a:r>
          </a:p>
        </p:txBody>
      </p:sp>
      <p:sp>
        <p:nvSpPr>
          <p:cNvPr name="TextBox 6" id="6"/>
          <p:cNvSpPr txBox="true"/>
          <p:nvPr/>
        </p:nvSpPr>
        <p:spPr>
          <a:xfrm rot="0">
            <a:off x="1028700" y="2140330"/>
            <a:ext cx="15465255" cy="3181350"/>
          </a:xfrm>
          <a:prstGeom prst="rect">
            <a:avLst/>
          </a:prstGeom>
        </p:spPr>
        <p:txBody>
          <a:bodyPr anchor="t" rtlCol="false" tIns="0" lIns="0" bIns="0" rIns="0">
            <a:spAutoFit/>
          </a:bodyPr>
          <a:lstStyle/>
          <a:p>
            <a:pPr algn="ctr">
              <a:lnSpc>
                <a:spcPts val="4200"/>
              </a:lnSpc>
            </a:pPr>
            <a:r>
              <a:rPr lang="en-US" sz="3000">
                <a:solidFill>
                  <a:srgbClr val="FFFFFF"/>
                </a:solidFill>
                <a:latin typeface="Noto Sans"/>
                <a:ea typeface="Noto Sans"/>
                <a:cs typeface="Noto Sans"/>
                <a:sym typeface="Noto Sans"/>
              </a:rPr>
              <a:t>Giai đoạn đầu của quá trình xây dựng mô hình được triển khai bằng việc phân chia tập dữ liệu gốc thành hai phần độc lập nhằm phục vụ công tác huấn luyện và kiểm thử, bộ dữ liệu sonar đã đảm bảo được tính toàn vẹn và độ sạch cần thiết từ các bước phân tích sơ bộ. Quy trình xử lý được chuyển tiếp trực tiếp sang giai đoạn chuẩn hóa đặc trưng. Tại bước này, hai phương pháp phổ biến từ thư viện sklearn là StandardScaler và MinMaxScaler đã được áp dụng </a:t>
            </a:r>
          </a:p>
        </p:txBody>
      </p:sp>
    </p:spTree>
  </p:cSld>
  <p:clrMapOvr>
    <a:masterClrMapping/>
  </p:clrMapOvr>
</p:sld>
</file>

<file path=ppt/slides/slide14.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3820556" y="165100"/>
            <a:ext cx="10646887"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Noto Sans Bold"/>
                <a:ea typeface="Noto Sans Bold"/>
                <a:cs typeface="Noto Sans Bold"/>
                <a:sym typeface="Noto Sans Bold"/>
              </a:rPr>
              <a:t>III. THỰC</a:t>
            </a:r>
            <a:r>
              <a:rPr lang="en-US" b="true" sz="5000">
                <a:solidFill>
                  <a:srgbClr val="FFFFFF"/>
                </a:solidFill>
                <a:latin typeface="Noto Sans Bold"/>
                <a:ea typeface="Noto Sans Bold"/>
                <a:cs typeface="Noto Sans Bold"/>
                <a:sym typeface="Noto Sans Bold"/>
              </a:rPr>
              <a:t> NGHIỆM VÀ THẢO LUẬN</a:t>
            </a:r>
          </a:p>
        </p:txBody>
      </p:sp>
      <p:sp>
        <p:nvSpPr>
          <p:cNvPr name="TextBox 6" id="6"/>
          <p:cNvSpPr txBox="true"/>
          <p:nvPr/>
        </p:nvSpPr>
        <p:spPr>
          <a:xfrm rot="0">
            <a:off x="1028700" y="952500"/>
            <a:ext cx="14577379"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1. Thiết lập tham số thực nghiệm và quy trình huấn luyện</a:t>
            </a:r>
          </a:p>
        </p:txBody>
      </p:sp>
      <p:sp>
        <p:nvSpPr>
          <p:cNvPr name="TextBox 7" id="7"/>
          <p:cNvSpPr txBox="true"/>
          <p:nvPr/>
        </p:nvSpPr>
        <p:spPr>
          <a:xfrm rot="0">
            <a:off x="488132" y="1384300"/>
            <a:ext cx="17799868" cy="8018780"/>
          </a:xfrm>
          <a:prstGeom prst="rect">
            <a:avLst/>
          </a:prstGeom>
        </p:spPr>
        <p:txBody>
          <a:bodyPr anchor="t" rtlCol="false" tIns="0" lIns="0" bIns="0" rIns="0">
            <a:spAutoFit/>
          </a:bodyPr>
          <a:lstStyle/>
          <a:p>
            <a:pPr algn="l" marL="690881" indent="-345440" lvl="1">
              <a:lnSpc>
                <a:spcPts val="6400"/>
              </a:lnSpc>
              <a:spcBef>
                <a:spcPct val="0"/>
              </a:spcBef>
              <a:buFont typeface="Arial"/>
              <a:buChar char="•"/>
            </a:pPr>
            <a:r>
              <a:rPr lang="en-US" sz="3200" spc="192" strike="noStrike" u="none">
                <a:solidFill>
                  <a:srgbClr val="FFFFFF"/>
                </a:solidFill>
                <a:latin typeface="Noto Sans"/>
                <a:ea typeface="Noto Sans"/>
                <a:cs typeface="Noto Sans"/>
                <a:sym typeface="Noto Sans"/>
              </a:rPr>
              <a:t>Quá trình khởi tạo thí nghiệm được bắt đầu bằng việc xác lập các tham số nền tảng nhằm đảm bảo tính hệ thống và khả năng tái lập của nghiên cứu. Đối tượng nghiên cứu chính là tập dữ liệu sonar.csv, bao gồm 208 mẫu quan trắc với 60 đặc trưng kỹ thuật và một biến phân loại mục tiêu để phân biệt giữa hai lớp đá và mìn. </a:t>
            </a:r>
          </a:p>
          <a:p>
            <a:pPr algn="l" marL="690881" indent="-345440" lvl="1">
              <a:lnSpc>
                <a:spcPts val="6400"/>
              </a:lnSpc>
              <a:spcBef>
                <a:spcPct val="0"/>
              </a:spcBef>
              <a:buFont typeface="Arial"/>
              <a:buChar char="•"/>
            </a:pPr>
            <a:r>
              <a:rPr lang="en-US" sz="3200" spc="192" strike="noStrike" u="none">
                <a:solidFill>
                  <a:srgbClr val="FFFFFF"/>
                </a:solidFill>
                <a:latin typeface="Noto Sans"/>
                <a:ea typeface="Noto Sans"/>
                <a:cs typeface="Noto Sans"/>
                <a:sym typeface="Noto Sans"/>
              </a:rPr>
              <a:t>Qua rà soát sơ bộ, tập dữ liệu ghi nhận trạng thái lý tưởng khi hoàn toàn không xuất hiện các giá trị khuyết thiếu hay bản ghi trùng lặp, tạo điều kiện thuận lợi cho việc triển khai các bước xử lý tiếp theo mà không cần can thiệp kỹ thuật làm sạch phức tạp. Các thông tin chi tiết về cấu hình tệp tin và các chỉ số cơ bản của thực nghiệm được tổng hợp cụ thể trong hình ảnh dưới đây.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3166185" y="2307111"/>
            <a:ext cx="11301259" cy="3597255"/>
          </a:xfrm>
          <a:custGeom>
            <a:avLst/>
            <a:gdLst/>
            <a:ahLst/>
            <a:cxnLst/>
            <a:rect r="r" b="b" t="t" l="l"/>
            <a:pathLst>
              <a:path h="3597255" w="11301259">
                <a:moveTo>
                  <a:pt x="0" y="0"/>
                </a:moveTo>
                <a:lnTo>
                  <a:pt x="11301259" y="0"/>
                </a:lnTo>
                <a:lnTo>
                  <a:pt x="11301259" y="3597255"/>
                </a:lnTo>
                <a:lnTo>
                  <a:pt x="0" y="3597255"/>
                </a:lnTo>
                <a:lnTo>
                  <a:pt x="0" y="0"/>
                </a:lnTo>
                <a:close/>
              </a:path>
            </a:pathLst>
          </a:custGeom>
          <a:blipFill>
            <a:blip r:embed="rId2"/>
            <a:stretch>
              <a:fillRect l="0" t="-1836" r="0" b="-1836"/>
            </a:stretch>
          </a:blipFill>
          <a:ln cap="sq">
            <a:noFill/>
            <a:prstDash val="solid"/>
            <a:miter/>
          </a:ln>
        </p:spPr>
      </p:sp>
      <p:sp>
        <p:nvSpPr>
          <p:cNvPr name="TextBox 6" id="6"/>
          <p:cNvSpPr txBox="true"/>
          <p:nvPr/>
        </p:nvSpPr>
        <p:spPr>
          <a:xfrm rot="0">
            <a:off x="3820556" y="165100"/>
            <a:ext cx="10646887"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Noto Sans Bold"/>
                <a:ea typeface="Noto Sans Bold"/>
                <a:cs typeface="Noto Sans Bold"/>
                <a:sym typeface="Noto Sans Bold"/>
              </a:rPr>
              <a:t>III. THỰC</a:t>
            </a:r>
            <a:r>
              <a:rPr lang="en-US" b="true" sz="5000">
                <a:solidFill>
                  <a:srgbClr val="FFFFFF"/>
                </a:solidFill>
                <a:latin typeface="Noto Sans Bold"/>
                <a:ea typeface="Noto Sans Bold"/>
                <a:cs typeface="Noto Sans Bold"/>
                <a:sym typeface="Noto Sans Bold"/>
              </a:rPr>
              <a:t> NGHIỆM VÀ THẢO LUẬN</a:t>
            </a:r>
          </a:p>
        </p:txBody>
      </p:sp>
      <p:sp>
        <p:nvSpPr>
          <p:cNvPr name="TextBox 7" id="7"/>
          <p:cNvSpPr txBox="true"/>
          <p:nvPr/>
        </p:nvSpPr>
        <p:spPr>
          <a:xfrm rot="0">
            <a:off x="1028700" y="952500"/>
            <a:ext cx="14577379"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1. Thiết lập tham số thực nghiệm và quy trình huấn luyện</a:t>
            </a:r>
          </a:p>
        </p:txBody>
      </p:sp>
      <p:sp>
        <p:nvSpPr>
          <p:cNvPr name="TextBox 8" id="8"/>
          <p:cNvSpPr txBox="true"/>
          <p:nvPr/>
        </p:nvSpPr>
        <p:spPr>
          <a:xfrm rot="0">
            <a:off x="3166185" y="6349564"/>
            <a:ext cx="10953398" cy="1251585"/>
          </a:xfrm>
          <a:prstGeom prst="rect">
            <a:avLst/>
          </a:prstGeom>
        </p:spPr>
        <p:txBody>
          <a:bodyPr anchor="t" rtlCol="false" tIns="0" lIns="0" bIns="0" rIns="0">
            <a:spAutoFit/>
          </a:bodyPr>
          <a:lstStyle/>
          <a:p>
            <a:pPr algn="ctr">
              <a:lnSpc>
                <a:spcPts val="5040"/>
              </a:lnSpc>
              <a:spcBef>
                <a:spcPct val="0"/>
              </a:spcBef>
            </a:pPr>
            <a:r>
              <a:rPr lang="en-US" b="true" sz="3600">
                <a:gradFill>
                  <a:gsLst>
                    <a:gs pos="0">
                      <a:srgbClr val="5181FF">
                        <a:alpha val="100000"/>
                      </a:srgbClr>
                    </a:gs>
                    <a:gs pos="100000">
                      <a:srgbClr val="042075">
                        <a:alpha val="100000"/>
                      </a:srgbClr>
                    </a:gs>
                  </a:gsLst>
                  <a:lin ang="2700000"/>
                </a:gradFill>
                <a:latin typeface="Noto Sans Bold"/>
                <a:ea typeface="Noto Sans Bold"/>
                <a:cs typeface="Noto Sans Bold"/>
                <a:sym typeface="Noto Sans Bold"/>
              </a:rPr>
              <a:t>Hình 3.1. Tổng quan tham số thiết lập thực nghiệm</a:t>
            </a:r>
          </a:p>
        </p:txBody>
      </p:sp>
    </p:spTree>
  </p:cSld>
  <p:clrMapOvr>
    <a:masterClrMapping/>
  </p:clrMapOvr>
</p:sld>
</file>

<file path=ppt/slides/slide16.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3820556" y="165100"/>
            <a:ext cx="10646887"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Noto Sans Bold"/>
                <a:ea typeface="Noto Sans Bold"/>
                <a:cs typeface="Noto Sans Bold"/>
                <a:sym typeface="Noto Sans Bold"/>
              </a:rPr>
              <a:t>III. THỰC</a:t>
            </a:r>
            <a:r>
              <a:rPr lang="en-US" b="true" sz="5000">
                <a:solidFill>
                  <a:srgbClr val="FFFFFF"/>
                </a:solidFill>
                <a:latin typeface="Noto Sans Bold"/>
                <a:ea typeface="Noto Sans Bold"/>
                <a:cs typeface="Noto Sans Bold"/>
                <a:sym typeface="Noto Sans Bold"/>
              </a:rPr>
              <a:t> NGHIỆM VÀ THẢO LUẬN</a:t>
            </a:r>
          </a:p>
        </p:txBody>
      </p:sp>
      <p:sp>
        <p:nvSpPr>
          <p:cNvPr name="TextBox 6" id="6"/>
          <p:cNvSpPr txBox="true"/>
          <p:nvPr/>
        </p:nvSpPr>
        <p:spPr>
          <a:xfrm rot="0">
            <a:off x="1028700" y="952500"/>
            <a:ext cx="14577379"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1. Thiết lập tham số thực nghiệm và quy trình huấn luyện</a:t>
            </a:r>
          </a:p>
        </p:txBody>
      </p:sp>
      <p:sp>
        <p:nvSpPr>
          <p:cNvPr name="TextBox 7" id="7"/>
          <p:cNvSpPr txBox="true"/>
          <p:nvPr/>
        </p:nvSpPr>
        <p:spPr>
          <a:xfrm rot="0">
            <a:off x="477727" y="1403350"/>
            <a:ext cx="16781573" cy="8735059"/>
          </a:xfrm>
          <a:prstGeom prst="rect">
            <a:avLst/>
          </a:prstGeom>
        </p:spPr>
        <p:txBody>
          <a:bodyPr anchor="t" rtlCol="false" tIns="0" lIns="0" bIns="0" rIns="0">
            <a:spAutoFit/>
          </a:bodyPr>
          <a:lstStyle/>
          <a:p>
            <a:pPr algn="l" marL="626112" indent="-313056" lvl="1">
              <a:lnSpc>
                <a:spcPts val="5800"/>
              </a:lnSpc>
              <a:spcBef>
                <a:spcPct val="0"/>
              </a:spcBef>
              <a:buFont typeface="Arial"/>
              <a:buChar char="•"/>
            </a:pPr>
            <a:r>
              <a:rPr lang="en-US" sz="2900" spc="174" strike="noStrike" u="none">
                <a:solidFill>
                  <a:srgbClr val="FFFFFF"/>
                </a:solidFill>
                <a:latin typeface="Noto Sans"/>
                <a:ea typeface="Noto Sans"/>
                <a:cs typeface="Noto Sans"/>
                <a:sym typeface="Noto Sans"/>
              </a:rPr>
              <a:t>Chiến lược phân tách dữ liệu được thực hiện theo phương pháp hold-out với tỷ lệ 70% dành cho phân đoạn huấn luyện và 30% dành cho phân đoạn kiểm thử độc lập. Để tăng cường độ tin cậy và giảm thiểu sai số ngẫu nhiên trong quá trình đánh giá, kỹ thuật kiểm định chéo k-fold với k=5 cũng được tích hợp trực tiếp trên tập huấn luyện.</a:t>
            </a:r>
          </a:p>
          <a:p>
            <a:pPr algn="l" marL="626112" indent="-313056" lvl="1">
              <a:lnSpc>
                <a:spcPts val="5800"/>
              </a:lnSpc>
              <a:spcBef>
                <a:spcPct val="0"/>
              </a:spcBef>
              <a:buFont typeface="Arial"/>
              <a:buChar char="•"/>
            </a:pPr>
            <a:r>
              <a:rPr lang="en-US" sz="2900" spc="174" strike="noStrike" u="none">
                <a:solidFill>
                  <a:srgbClr val="FFFFFF"/>
                </a:solidFill>
                <a:latin typeface="Noto Sans"/>
                <a:ea typeface="Noto Sans"/>
                <a:cs typeface="Noto Sans"/>
                <a:sym typeface="Noto Sans"/>
              </a:rPr>
              <a:t> Song song với đó, dữ liệu được chuẩn bị dưới ba phiên bản khác nhau bao gồm dữ liệu gốc, dữ liệu xử lý qua MinMaxScaler và dữ liệu xử lý qua StandardScaler nhằm khảo sát sự ảnh hưởng của các thang đo đến hiệu suất mô hình. Cuối cùng, một hệ thống các mô hình cơ sở đa dạng đã được lựa chọn để thực nghiệm, bao gồm hồi quy logistic, k-láng giềng gần nhất, máy vectơ hỗ trợ, cây quyết định, rừng ngẫu nhiên, naive bayes, phân tích phân biệt tuyến tính, mạng nơ-ron đa tầng cùng các thuật toán tăng cường như adaboost và gradient boosting.</a:t>
            </a:r>
          </a:p>
        </p:txBody>
      </p:sp>
    </p:spTree>
  </p:cSld>
  <p:clrMapOvr>
    <a:masterClrMapping/>
  </p:clrMapOvr>
</p:sld>
</file>

<file path=ppt/slides/slide17.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952500"/>
            <a:ext cx="14469904"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2. Phương pháp đánh giá và thước đo hiệu năng mô hình</a:t>
            </a:r>
          </a:p>
        </p:txBody>
      </p:sp>
      <p:sp>
        <p:nvSpPr>
          <p:cNvPr name="TextBox 6" id="6"/>
          <p:cNvSpPr txBox="true"/>
          <p:nvPr/>
        </p:nvSpPr>
        <p:spPr>
          <a:xfrm rot="0">
            <a:off x="103899" y="1718913"/>
            <a:ext cx="18080202" cy="8226424"/>
          </a:xfrm>
          <a:prstGeom prst="rect">
            <a:avLst/>
          </a:prstGeom>
        </p:spPr>
        <p:txBody>
          <a:bodyPr anchor="t" rtlCol="false" tIns="0" lIns="0" bIns="0" rIns="0">
            <a:spAutoFit/>
          </a:bodyPr>
          <a:lstStyle/>
          <a:p>
            <a:pPr algn="l" marL="604523" indent="-302261" lvl="1">
              <a:lnSpc>
                <a:spcPts val="5600"/>
              </a:lnSpc>
              <a:spcBef>
                <a:spcPct val="0"/>
              </a:spcBef>
              <a:buFont typeface="Arial"/>
              <a:buChar char="•"/>
            </a:pPr>
            <a:r>
              <a:rPr lang="en-US" sz="2800" spc="168" strike="noStrike" u="none">
                <a:solidFill>
                  <a:srgbClr val="FFFFFF"/>
                </a:solidFill>
                <a:latin typeface="Noto Sans"/>
                <a:ea typeface="Noto Sans"/>
                <a:cs typeface="Noto Sans"/>
                <a:sym typeface="Noto Sans"/>
              </a:rPr>
              <a:t>Quá trình thực nghiệm được tổ chức theo pipeline EDA, Train và Test. Sau khi tách dữ liệu theo chiến lược hold-out với tỷ lệ 70% cho huấn luyện và 30% cho kiểm thử, tập train được sử dụng cho kiểm định chéo Stratified K-Fold với k = 5 và cho giai đoạn tinh chỉnh siêu tham số.</a:t>
            </a:r>
          </a:p>
          <a:p>
            <a:pPr algn="l" marL="582933" indent="-291467" lvl="1">
              <a:lnSpc>
                <a:spcPts val="5400"/>
              </a:lnSpc>
              <a:spcBef>
                <a:spcPct val="0"/>
              </a:spcBef>
              <a:buFont typeface="Arial"/>
              <a:buChar char="•"/>
            </a:pPr>
            <a:r>
              <a:rPr lang="en-US" sz="2700" spc="162" strike="noStrike" u="none">
                <a:solidFill>
                  <a:srgbClr val="FFFFFF"/>
                </a:solidFill>
                <a:latin typeface="Noto Sans"/>
                <a:ea typeface="Noto Sans"/>
                <a:cs typeface="Noto Sans"/>
                <a:sym typeface="Noto Sans"/>
              </a:rPr>
              <a:t> Tập test được giữ độc lập cho bước kiểm định cuối cùng. Trong notebook train, các mô hình được xếp hạng trên dữ liệu train, so sánh trực tiếp top 2 cấu hình tốt nhất và chỉ export duy nhất một tệp best_model.pkl. Sang notebook test, hệ thống chỉ load mô hình này cùng phiên bản dữ liệu test tương ứng với scaler đã được chọn, từ đó tránh việc dùng tập test để chọn lại mô hình.</a:t>
            </a:r>
          </a:p>
          <a:p>
            <a:pPr algn="l" marL="582933" indent="-291467" lvl="1">
              <a:lnSpc>
                <a:spcPts val="5400"/>
              </a:lnSpc>
              <a:spcBef>
                <a:spcPct val="0"/>
              </a:spcBef>
              <a:buFont typeface="Arial"/>
              <a:buChar char="•"/>
            </a:pPr>
            <a:r>
              <a:rPr lang="en-US" sz="2700" spc="162" strike="noStrike" u="none">
                <a:solidFill>
                  <a:srgbClr val="FFFFFF"/>
                </a:solidFill>
                <a:latin typeface="Noto Sans"/>
                <a:ea typeface="Noto Sans"/>
                <a:cs typeface="Noto Sans"/>
                <a:sym typeface="Noto Sans"/>
              </a:rPr>
              <a:t> Trong bước chọn mô hình tại notebook train, ba chỉ số trọng tâm Accuracy, F1 và ROC-AUC được tổng hợp thành Composite score theo công thức 0,4 × Accuracy + 0,3 × F1 + 0,3 × ROC-AUC. Nhờ đó, mô hình tốt nhất không chỉ đạt tỷ lệ đúng cao mà còn ổn định hơn trước sự đánh đổi giữa bỏ sót mục tiêu và báo động nhầm.</a:t>
            </a:r>
          </a:p>
        </p:txBody>
      </p:sp>
    </p:spTree>
  </p:cSld>
  <p:clrMapOvr>
    <a:masterClrMapping/>
  </p:clrMapOvr>
</p:sld>
</file>

<file path=ppt/slides/slide18.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952500"/>
            <a:ext cx="15221586"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3. Đánh giá hiệu năng thuật toán và tối ưu hóa siêu tham số</a:t>
            </a:r>
          </a:p>
        </p:txBody>
      </p:sp>
      <p:sp>
        <p:nvSpPr>
          <p:cNvPr name="TextBox 6" id="6"/>
          <p:cNvSpPr txBox="true"/>
          <p:nvPr/>
        </p:nvSpPr>
        <p:spPr>
          <a:xfrm rot="0">
            <a:off x="459511" y="1914978"/>
            <a:ext cx="16799789" cy="6802753"/>
          </a:xfrm>
          <a:prstGeom prst="rect">
            <a:avLst/>
          </a:prstGeom>
        </p:spPr>
        <p:txBody>
          <a:bodyPr anchor="t" rtlCol="false" tIns="0" lIns="0" bIns="0" rIns="0">
            <a:spAutoFit/>
          </a:bodyPr>
          <a:lstStyle/>
          <a:p>
            <a:pPr algn="l" marL="582933" indent="-291467" lvl="1">
              <a:lnSpc>
                <a:spcPts val="5400"/>
              </a:lnSpc>
              <a:spcBef>
                <a:spcPct val="0"/>
              </a:spcBef>
              <a:buFont typeface="Arial"/>
              <a:buChar char="•"/>
            </a:pPr>
            <a:r>
              <a:rPr lang="en-US" sz="2700" spc="162" strike="noStrike" u="none">
                <a:solidFill>
                  <a:srgbClr val="FFFFFF"/>
                </a:solidFill>
                <a:latin typeface="Noto Sans"/>
                <a:ea typeface="Noto Sans"/>
                <a:cs typeface="Noto Sans"/>
                <a:sym typeface="Noto Sans"/>
              </a:rPr>
              <a:t>Quá trình lượng giá thuật toán được khởi đầu bằng việc triển khai 11 mô hình cơ sở trên ba phiên bản dữ liệu raw, minmax và standard nhằm thiết lập khung tham chiếu hiệu năng tổng quát. Kết quả sơ bộ không còn được nhận xét chỉ theo độ chính xác đơn thuần mà dựa trên đồng thời Accuracy, F1-score, ROC-AUC và Composite score. </a:t>
            </a:r>
          </a:p>
          <a:p>
            <a:pPr algn="l" marL="582933" indent="-291467" lvl="1">
              <a:lnSpc>
                <a:spcPts val="5400"/>
              </a:lnSpc>
              <a:spcBef>
                <a:spcPct val="0"/>
              </a:spcBef>
              <a:buFont typeface="Arial"/>
              <a:buChar char="•"/>
            </a:pPr>
          </a:p>
          <a:p>
            <a:pPr algn="l" marL="582933" indent="-291467" lvl="1">
              <a:lnSpc>
                <a:spcPts val="5400"/>
              </a:lnSpc>
              <a:spcBef>
                <a:spcPct val="0"/>
              </a:spcBef>
              <a:buFont typeface="Arial"/>
              <a:buChar char="•"/>
            </a:pPr>
            <a:r>
              <a:rPr lang="en-US" sz="2700" spc="162" strike="noStrike" u="none">
                <a:solidFill>
                  <a:srgbClr val="FFFFFF"/>
                </a:solidFill>
                <a:latin typeface="Noto Sans"/>
                <a:ea typeface="Noto Sans"/>
                <a:cs typeface="Noto Sans"/>
                <a:sym typeface="Noto Sans"/>
              </a:rPr>
              <a:t>Cách đánh giá đa tiêu chí này cho phép nhận diện rõ hơn sự khác biệt giữa các mô hình có accuracy tương đương nhưng hành vi phân loại không giống nhau, đặc biệt trong bối cảnh bài toán yêu cầu cân bằng giữa phát hiện đúng mục tiêu mìn và hạn chế báo động nhầm. Những so sánh chi tiết giữa các mô hình được trình bày qua bảng tổng hợp và các biểu đồ xếp hạng theo Composite.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747506" y="1944850"/>
            <a:ext cx="14792988" cy="5391173"/>
          </a:xfrm>
          <a:custGeom>
            <a:avLst/>
            <a:gdLst/>
            <a:ahLst/>
            <a:cxnLst/>
            <a:rect r="r" b="b" t="t" l="l"/>
            <a:pathLst>
              <a:path h="5391173" w="14792988">
                <a:moveTo>
                  <a:pt x="0" y="0"/>
                </a:moveTo>
                <a:lnTo>
                  <a:pt x="14792988" y="0"/>
                </a:lnTo>
                <a:lnTo>
                  <a:pt x="14792988" y="5391173"/>
                </a:lnTo>
                <a:lnTo>
                  <a:pt x="0" y="5391173"/>
                </a:lnTo>
                <a:lnTo>
                  <a:pt x="0" y="0"/>
                </a:lnTo>
                <a:close/>
              </a:path>
            </a:pathLst>
          </a:custGeom>
          <a:blipFill>
            <a:blip r:embed="rId2"/>
            <a:stretch>
              <a:fillRect l="0" t="-8308" r="0" b="-8308"/>
            </a:stretch>
          </a:blipFill>
        </p:spPr>
      </p:sp>
      <p:sp>
        <p:nvSpPr>
          <p:cNvPr name="TextBox 6" id="6"/>
          <p:cNvSpPr txBox="true"/>
          <p:nvPr/>
        </p:nvSpPr>
        <p:spPr>
          <a:xfrm rot="0">
            <a:off x="1028700" y="952500"/>
            <a:ext cx="15221586"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3. Đánh giá hiệu năng thuật toán và tối ưu hóa siêu tham số</a:t>
            </a:r>
          </a:p>
        </p:txBody>
      </p:sp>
      <p:sp>
        <p:nvSpPr>
          <p:cNvPr name="TextBox 7" id="7"/>
          <p:cNvSpPr txBox="true"/>
          <p:nvPr/>
        </p:nvSpPr>
        <p:spPr>
          <a:xfrm rot="0">
            <a:off x="2337432" y="2249961"/>
            <a:ext cx="435769" cy="514350"/>
          </a:xfrm>
          <a:prstGeom prst="rect">
            <a:avLst/>
          </a:prstGeom>
        </p:spPr>
        <p:txBody>
          <a:bodyPr anchor="t" rtlCol="false" tIns="0" lIns="0" bIns="0" rIns="0">
            <a:spAutoFit/>
          </a:bodyPr>
          <a:lstStyle/>
          <a:p>
            <a:pPr algn="ctr">
              <a:lnSpc>
                <a:spcPts val="4200"/>
              </a:lnSpc>
            </a:pPr>
            <a:r>
              <a:rPr lang="en-US" sz="3000">
                <a:solidFill>
                  <a:srgbClr val="FFFFFF"/>
                </a:solidFill>
                <a:latin typeface="Noto Sans"/>
                <a:ea typeface="Noto Sans"/>
                <a:cs typeface="Noto Sans"/>
                <a:sym typeface="Noto Sans"/>
              </a:rPr>
              <a:t>30</a:t>
            </a:r>
          </a:p>
        </p:txBody>
      </p:sp>
      <p:sp>
        <p:nvSpPr>
          <p:cNvPr name="TextBox 8" id="8"/>
          <p:cNvSpPr txBox="true"/>
          <p:nvPr/>
        </p:nvSpPr>
        <p:spPr>
          <a:xfrm rot="0">
            <a:off x="2082475" y="7153180"/>
            <a:ext cx="14167811" cy="1485264"/>
          </a:xfrm>
          <a:prstGeom prst="rect">
            <a:avLst/>
          </a:prstGeom>
        </p:spPr>
        <p:txBody>
          <a:bodyPr anchor="t" rtlCol="false" tIns="0" lIns="0" bIns="0" rIns="0">
            <a:spAutoFit/>
          </a:bodyPr>
          <a:lstStyle/>
          <a:p>
            <a:pPr algn="ctr">
              <a:lnSpc>
                <a:spcPts val="6200"/>
              </a:lnSpc>
              <a:spcBef>
                <a:spcPct val="0"/>
              </a:spcBef>
            </a:pPr>
            <a:r>
              <a:rPr lang="en-US" sz="3100" spc="186" strike="noStrike" u="none">
                <a:solidFill>
                  <a:srgbClr val="FFFFFF"/>
                </a:solidFill>
                <a:latin typeface="Noto Sans"/>
                <a:ea typeface="Noto Sans"/>
                <a:cs typeface="Noto Sans"/>
                <a:sym typeface="Noto Sans"/>
              </a:rPr>
              <a:t>Hình 3.2. Hiệu năng của các mô hình cơ sở trên các phiên bản dữ liệu</a:t>
            </a:r>
          </a:p>
        </p:txBody>
      </p:sp>
    </p:spTree>
  </p:cSld>
  <p:clrMapOvr>
    <a:masterClrMapping/>
  </p:clrMapOvr>
</p:sld>
</file>

<file path=ppt/slides/slide20.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952500"/>
            <a:ext cx="15221586"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3. Đánh giá hiệu năng thuật toán và tối ưu hóa siêu tham số</a:t>
            </a:r>
          </a:p>
        </p:txBody>
      </p:sp>
      <p:sp>
        <p:nvSpPr>
          <p:cNvPr name="TextBox 6" id="6"/>
          <p:cNvSpPr txBox="true"/>
          <p:nvPr/>
        </p:nvSpPr>
        <p:spPr>
          <a:xfrm rot="0">
            <a:off x="90164" y="1775848"/>
            <a:ext cx="18197836" cy="6278244"/>
          </a:xfrm>
          <a:prstGeom prst="rect">
            <a:avLst/>
          </a:prstGeom>
        </p:spPr>
        <p:txBody>
          <a:bodyPr anchor="t" rtlCol="false" tIns="0" lIns="0" bIns="0" rIns="0">
            <a:spAutoFit/>
          </a:bodyPr>
          <a:lstStyle/>
          <a:p>
            <a:pPr algn="l" marL="604523" indent="-302261" lvl="1">
              <a:lnSpc>
                <a:spcPts val="5600"/>
              </a:lnSpc>
              <a:spcBef>
                <a:spcPct val="0"/>
              </a:spcBef>
              <a:buFont typeface="Arial"/>
              <a:buChar char="•"/>
            </a:pPr>
            <a:r>
              <a:rPr lang="en-US" sz="2800" spc="168" strike="noStrike" u="none">
                <a:solidFill>
                  <a:srgbClr val="FFFFFF"/>
                </a:solidFill>
                <a:latin typeface="Noto Sans"/>
                <a:ea typeface="Noto Sans"/>
                <a:cs typeface="Noto Sans"/>
                <a:sym typeface="Noto Sans"/>
              </a:rPr>
              <a:t>Nhằm nâng cao năng lực dự báo, nghiên cứu tiếp tục triển khai giai đoạn tinh chỉnh siêu tham số cho năm nhóm mô hình tiềm năng gồm SVM, Random Forest, Gradient Boosting, Logistic Regression và kNN thông qua GridSearchCV.</a:t>
            </a:r>
          </a:p>
          <a:p>
            <a:pPr algn="l" marL="604523" indent="-302261" lvl="1">
              <a:lnSpc>
                <a:spcPts val="5600"/>
              </a:lnSpc>
              <a:spcBef>
                <a:spcPct val="0"/>
              </a:spcBef>
              <a:buFont typeface="Arial"/>
              <a:buChar char="•"/>
            </a:pPr>
            <a:r>
              <a:rPr lang="en-US" sz="2800" spc="168" strike="noStrike" u="none">
                <a:solidFill>
                  <a:srgbClr val="FFFFFF"/>
                </a:solidFill>
                <a:latin typeface="Noto Sans"/>
                <a:ea typeface="Noto Sans"/>
                <a:cs typeface="Noto Sans"/>
                <a:sym typeface="Noto Sans"/>
              </a:rPr>
              <a:t> Sau khi hoàn tất kiểm định chéo trên tập train, hệ thống đối chiếu toàn bộ kết quả baseline và tuned, chọn ra top 2 cấu hình có Composite score cao nhất để phục vụ phân tích trực tiếp trong notebook train. </a:t>
            </a:r>
          </a:p>
          <a:p>
            <a:pPr algn="l" marL="604523" indent="-302261" lvl="1">
              <a:lnSpc>
                <a:spcPts val="5600"/>
              </a:lnSpc>
              <a:spcBef>
                <a:spcPct val="0"/>
              </a:spcBef>
              <a:buFont typeface="Arial"/>
              <a:buChar char="•"/>
            </a:pPr>
            <a:r>
              <a:rPr lang="en-US" sz="2800" spc="168" strike="noStrike" u="none">
                <a:solidFill>
                  <a:srgbClr val="FFFFFF"/>
                </a:solidFill>
                <a:latin typeface="Noto Sans"/>
                <a:ea typeface="Noto Sans"/>
                <a:cs typeface="Noto Sans"/>
                <a:sym typeface="Noto Sans"/>
              </a:rPr>
              <a:t>Tuy nhiên, chỉ mô hình đứng hạng nhất mới được đóng gói thành tệp best_model.pkl với đầy đủ thông tin model_name, scaler_name và cv_metrics để chuyển sang bước test. Nhờ vậy, tập test giữ đúng vai trò kiểm định độc lập thay vì tham gia vào quá trình chọn mô hình.</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713103" y="2307111"/>
            <a:ext cx="14861793" cy="4997278"/>
          </a:xfrm>
          <a:custGeom>
            <a:avLst/>
            <a:gdLst/>
            <a:ahLst/>
            <a:cxnLst/>
            <a:rect r="r" b="b" t="t" l="l"/>
            <a:pathLst>
              <a:path h="4997278" w="14861793">
                <a:moveTo>
                  <a:pt x="0" y="0"/>
                </a:moveTo>
                <a:lnTo>
                  <a:pt x="14861794" y="0"/>
                </a:lnTo>
                <a:lnTo>
                  <a:pt x="14861794" y="4997278"/>
                </a:lnTo>
                <a:lnTo>
                  <a:pt x="0" y="4997278"/>
                </a:lnTo>
                <a:lnTo>
                  <a:pt x="0" y="0"/>
                </a:lnTo>
                <a:close/>
              </a:path>
            </a:pathLst>
          </a:custGeom>
          <a:blipFill>
            <a:blip r:embed="rId2"/>
            <a:stretch>
              <a:fillRect l="0" t="0" r="0" b="0"/>
            </a:stretch>
          </a:blipFill>
        </p:spPr>
      </p:sp>
      <p:sp>
        <p:nvSpPr>
          <p:cNvPr name="TextBox 6" id="6"/>
          <p:cNvSpPr txBox="true"/>
          <p:nvPr/>
        </p:nvSpPr>
        <p:spPr>
          <a:xfrm rot="0">
            <a:off x="1028700" y="952500"/>
            <a:ext cx="15221586"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3. Đánh giá hiệu năng thuật toán và tối ưu hóa siêu tham số</a:t>
            </a:r>
          </a:p>
        </p:txBody>
      </p:sp>
      <p:sp>
        <p:nvSpPr>
          <p:cNvPr name="TextBox 7" id="7"/>
          <p:cNvSpPr txBox="true"/>
          <p:nvPr/>
        </p:nvSpPr>
        <p:spPr>
          <a:xfrm rot="0">
            <a:off x="2337432" y="2249961"/>
            <a:ext cx="435769" cy="514350"/>
          </a:xfrm>
          <a:prstGeom prst="rect">
            <a:avLst/>
          </a:prstGeom>
        </p:spPr>
        <p:txBody>
          <a:bodyPr anchor="t" rtlCol="false" tIns="0" lIns="0" bIns="0" rIns="0">
            <a:spAutoFit/>
          </a:bodyPr>
          <a:lstStyle/>
          <a:p>
            <a:pPr algn="ctr">
              <a:lnSpc>
                <a:spcPts val="4200"/>
              </a:lnSpc>
            </a:pPr>
            <a:r>
              <a:rPr lang="en-US" sz="3000">
                <a:solidFill>
                  <a:srgbClr val="FFFFFF"/>
                </a:solidFill>
                <a:latin typeface="Noto Sans"/>
                <a:ea typeface="Noto Sans"/>
                <a:cs typeface="Noto Sans"/>
                <a:sym typeface="Noto Sans"/>
              </a:rPr>
              <a:t>30</a:t>
            </a:r>
          </a:p>
        </p:txBody>
      </p:sp>
      <p:sp>
        <p:nvSpPr>
          <p:cNvPr name="TextBox 8" id="8"/>
          <p:cNvSpPr txBox="true"/>
          <p:nvPr/>
        </p:nvSpPr>
        <p:spPr>
          <a:xfrm rot="0">
            <a:off x="1713103" y="7056739"/>
            <a:ext cx="14861793" cy="1541780"/>
          </a:xfrm>
          <a:prstGeom prst="rect">
            <a:avLst/>
          </a:prstGeom>
        </p:spPr>
        <p:txBody>
          <a:bodyPr anchor="t" rtlCol="false" tIns="0" lIns="0" bIns="0" rIns="0">
            <a:spAutoFit/>
          </a:bodyPr>
          <a:lstStyle/>
          <a:p>
            <a:pPr algn="ctr">
              <a:lnSpc>
                <a:spcPts val="6400"/>
              </a:lnSpc>
            </a:pPr>
            <a:r>
              <a:rPr lang="en-US" sz="3200" spc="192" strike="noStrike" u="none">
                <a:solidFill>
                  <a:srgbClr val="FFFFFF"/>
                </a:solidFill>
                <a:latin typeface="Noto Sans"/>
                <a:ea typeface="Noto Sans"/>
                <a:cs typeface="Noto Sans"/>
                <a:sym typeface="Noto Sans"/>
              </a:rPr>
              <a:t>Hình 3.3. Đối chiếu hiệu năng giữa mô hình cơ sở và mô hình tinh chỉnh</a:t>
            </a:r>
          </a:p>
        </p:txBody>
      </p:sp>
    </p:spTree>
  </p:cSld>
  <p:clrMapOvr>
    <a:masterClrMapping/>
  </p:clrMapOvr>
</p:sld>
</file>

<file path=ppt/slides/slide22.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946128" y="165100"/>
            <a:ext cx="12395744"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Noto Sans Bold"/>
                <a:ea typeface="Noto Sans Bold"/>
                <a:cs typeface="Noto Sans Bold"/>
                <a:sym typeface="Noto Sans Bold"/>
              </a:rPr>
              <a:t>IV. KẾT LUẬN VÀ HƯỚNG</a:t>
            </a:r>
            <a:r>
              <a:rPr lang="en-US" b="true" sz="5000">
                <a:solidFill>
                  <a:srgbClr val="FFFFFF"/>
                </a:solidFill>
                <a:latin typeface="Noto Sans Bold"/>
                <a:ea typeface="Noto Sans Bold"/>
                <a:cs typeface="Noto Sans Bold"/>
                <a:sym typeface="Noto Sans Bold"/>
              </a:rPr>
              <a:t> PHÁT TRIỂN</a:t>
            </a:r>
          </a:p>
        </p:txBody>
      </p:sp>
      <p:sp>
        <p:nvSpPr>
          <p:cNvPr name="TextBox 6" id="6"/>
          <p:cNvSpPr txBox="true"/>
          <p:nvPr/>
        </p:nvSpPr>
        <p:spPr>
          <a:xfrm rot="0">
            <a:off x="1028700" y="952500"/>
            <a:ext cx="9566077"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1. Kết luận tổng quan về thực nghiệm</a:t>
            </a:r>
          </a:p>
        </p:txBody>
      </p:sp>
      <p:sp>
        <p:nvSpPr>
          <p:cNvPr name="TextBox 7" id="7"/>
          <p:cNvSpPr txBox="true"/>
          <p:nvPr/>
        </p:nvSpPr>
        <p:spPr>
          <a:xfrm rot="0">
            <a:off x="376086" y="1695073"/>
            <a:ext cx="11646821" cy="679450"/>
          </a:xfrm>
          <a:prstGeom prst="rect">
            <a:avLst/>
          </a:prstGeom>
        </p:spPr>
        <p:txBody>
          <a:bodyPr anchor="t" rtlCol="false" tIns="0" lIns="0" bIns="0" rIns="0">
            <a:spAutoFit/>
          </a:bodyPr>
          <a:lstStyle/>
          <a:p>
            <a:pPr algn="ctr">
              <a:lnSpc>
                <a:spcPts val="5599"/>
              </a:lnSpc>
            </a:pPr>
            <a:r>
              <a:rPr lang="en-US" sz="3999" b="true">
                <a:solidFill>
                  <a:srgbClr val="FFFFFF"/>
                </a:solidFill>
                <a:latin typeface="Noto Sans Bold"/>
                <a:ea typeface="Noto Sans Bold"/>
                <a:cs typeface="Noto Sans Bold"/>
                <a:sym typeface="Noto Sans Bold"/>
              </a:rPr>
              <a:t>1.1  Hoàn thành quy trình Pipeline chuẩn</a:t>
            </a:r>
          </a:p>
        </p:txBody>
      </p:sp>
      <p:sp>
        <p:nvSpPr>
          <p:cNvPr name="TextBox 8" id="8"/>
          <p:cNvSpPr txBox="true"/>
          <p:nvPr/>
        </p:nvSpPr>
        <p:spPr>
          <a:xfrm rot="0">
            <a:off x="674737" y="2641617"/>
            <a:ext cx="15391324" cy="4918041"/>
          </a:xfrm>
          <a:prstGeom prst="rect">
            <a:avLst/>
          </a:prstGeom>
        </p:spPr>
        <p:txBody>
          <a:bodyPr anchor="t" rtlCol="false" tIns="0" lIns="0" bIns="0" rIns="0">
            <a:spAutoFit/>
          </a:bodyPr>
          <a:lstStyle/>
          <a:p>
            <a:pPr algn="l" marL="863886" indent="-431943" lvl="1">
              <a:lnSpc>
                <a:spcPts val="5601"/>
              </a:lnSpc>
              <a:buFont typeface="Arial"/>
              <a:buChar char="•"/>
            </a:pPr>
            <a:r>
              <a:rPr lang="en-US" b="true" sz="4001">
                <a:solidFill>
                  <a:srgbClr val="FFFFFF"/>
                </a:solidFill>
                <a:latin typeface="Noto Sans Bold"/>
                <a:ea typeface="Noto Sans Bold"/>
                <a:cs typeface="Noto Sans Bold"/>
                <a:sym typeface="Noto Sans Bold"/>
              </a:rPr>
              <a:t>Xử lý dữ liệu: P</a:t>
            </a:r>
            <a:r>
              <a:rPr lang="en-US" b="true" sz="4001">
                <a:solidFill>
                  <a:srgbClr val="FFFFFF"/>
                </a:solidFill>
                <a:latin typeface="Noto Sans Bold"/>
                <a:ea typeface="Noto Sans Bold"/>
                <a:cs typeface="Noto Sans Bold"/>
                <a:sym typeface="Noto Sans Bold"/>
              </a:rPr>
              <a:t>hân tích đặc trưng âm học của 208 mẫu (60 dải tần số); thực hiện chuẩn hóa đa dạng (Raw, MinMax, Standard).</a:t>
            </a:r>
          </a:p>
          <a:p>
            <a:pPr algn="l" marL="863886" indent="-431943" lvl="1">
              <a:lnSpc>
                <a:spcPts val="5601"/>
              </a:lnSpc>
              <a:buFont typeface="Arial"/>
              <a:buChar char="•"/>
            </a:pPr>
            <a:r>
              <a:rPr lang="en-US" b="true" sz="4001">
                <a:solidFill>
                  <a:srgbClr val="FFFFFF"/>
                </a:solidFill>
                <a:latin typeface="Noto Sans Bold"/>
                <a:ea typeface="Noto Sans Bold"/>
                <a:cs typeface="Noto Sans Bold"/>
                <a:sym typeface="Noto Sans Bold"/>
              </a:rPr>
              <a:t>Kiểm chứng khách quan: Sử dụng chiến lược Hold-out (70/30) kết hợp Stratified K-Fold (k=5) để đảm bảo mô hình không bị quá khớp (overfitting).</a:t>
            </a:r>
          </a:p>
          <a:p>
            <a:pPr algn="l">
              <a:lnSpc>
                <a:spcPts val="5601"/>
              </a:lnSpc>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35821" y="2472846"/>
            <a:ext cx="17023479" cy="4583943"/>
          </a:xfrm>
          <a:prstGeom prst="rect">
            <a:avLst/>
          </a:prstGeom>
        </p:spPr>
        <p:txBody>
          <a:bodyPr anchor="t" rtlCol="false" tIns="0" lIns="0" bIns="0" rIns="0">
            <a:spAutoFit/>
          </a:bodyPr>
          <a:lstStyle/>
          <a:p>
            <a:pPr algn="just" marL="803886" indent="-401943" lvl="1">
              <a:lnSpc>
                <a:spcPts val="5212"/>
              </a:lnSpc>
              <a:buFont typeface="Arial"/>
              <a:buChar char="•"/>
            </a:pPr>
            <a:r>
              <a:rPr lang="en-US" b="true" sz="3723">
                <a:solidFill>
                  <a:srgbClr val="FFFFFF"/>
                </a:solidFill>
                <a:latin typeface="Noto Sans Bold"/>
                <a:ea typeface="Noto Sans Bold"/>
                <a:cs typeface="Noto Sans Bold"/>
                <a:sym typeface="Noto Sans Bold"/>
              </a:rPr>
              <a:t>Đánh giá đa chiều: Không chỉ dựa vào Accuracy, hệ thống sử dụng Composite Score (kết hợp F1-Score và ROC-AUC) để chọn ra best_model.pkl.</a:t>
            </a:r>
          </a:p>
          <a:p>
            <a:pPr algn="just" marL="803886" indent="-401943" lvl="1">
              <a:lnSpc>
                <a:spcPts val="5212"/>
              </a:lnSpc>
              <a:buFont typeface="Arial"/>
              <a:buChar char="•"/>
            </a:pPr>
            <a:r>
              <a:rPr lang="en-US" b="true" sz="3723">
                <a:solidFill>
                  <a:srgbClr val="FFFFFF"/>
                </a:solidFill>
                <a:latin typeface="Noto Sans Bold"/>
                <a:ea typeface="Noto Sans Bold"/>
                <a:cs typeface="Noto Sans Bold"/>
                <a:sym typeface="Noto Sans Bold"/>
              </a:rPr>
              <a:t>Kết quả thực ng</a:t>
            </a:r>
            <a:r>
              <a:rPr lang="en-US" b="true" sz="3723">
                <a:solidFill>
                  <a:srgbClr val="FFFFFF"/>
                </a:solidFill>
                <a:latin typeface="Noto Sans Bold"/>
                <a:ea typeface="Noto Sans Bold"/>
                <a:cs typeface="Noto Sans Bold"/>
                <a:sym typeface="Noto Sans Bold"/>
              </a:rPr>
              <a:t>hiệm: Các thuật toán phi tuyến (SVM, Random Forest, Gradient Boosting) cho thấy ưu thế vượt trội trong việc phân tách tín hiệu phức tạp giữa Mìn (M) và Đá (R).</a:t>
            </a:r>
          </a:p>
          <a:p>
            <a:pPr algn="just">
              <a:lnSpc>
                <a:spcPts val="5212"/>
              </a:lnSpc>
            </a:pPr>
          </a:p>
        </p:txBody>
      </p:sp>
      <p:sp>
        <p:nvSpPr>
          <p:cNvPr name="Freeform 6" id="6"/>
          <p:cNvSpPr/>
          <p:nvPr/>
        </p:nvSpPr>
        <p:spPr>
          <a:xfrm flipH="false" flipV="false" rot="0">
            <a:off x="1028700" y="6596471"/>
            <a:ext cx="10808300" cy="3161386"/>
          </a:xfrm>
          <a:custGeom>
            <a:avLst/>
            <a:gdLst/>
            <a:ahLst/>
            <a:cxnLst/>
            <a:rect r="r" b="b" t="t" l="l"/>
            <a:pathLst>
              <a:path h="3161386" w="10808300">
                <a:moveTo>
                  <a:pt x="0" y="0"/>
                </a:moveTo>
                <a:lnTo>
                  <a:pt x="10808300" y="0"/>
                </a:lnTo>
                <a:lnTo>
                  <a:pt x="10808300" y="3161386"/>
                </a:lnTo>
                <a:lnTo>
                  <a:pt x="0" y="3161386"/>
                </a:lnTo>
                <a:lnTo>
                  <a:pt x="0" y="0"/>
                </a:lnTo>
                <a:close/>
              </a:path>
            </a:pathLst>
          </a:custGeom>
          <a:blipFill>
            <a:blip r:embed="rId2"/>
            <a:stretch>
              <a:fillRect l="0" t="0" r="0" b="0"/>
            </a:stretch>
          </a:blipFill>
        </p:spPr>
      </p:sp>
      <p:sp>
        <p:nvSpPr>
          <p:cNvPr name="TextBox 7" id="7"/>
          <p:cNvSpPr txBox="true"/>
          <p:nvPr/>
        </p:nvSpPr>
        <p:spPr>
          <a:xfrm rot="0">
            <a:off x="2946128" y="165100"/>
            <a:ext cx="12395744"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Noto Sans Bold"/>
                <a:ea typeface="Noto Sans Bold"/>
                <a:cs typeface="Noto Sans Bold"/>
                <a:sym typeface="Noto Sans Bold"/>
              </a:rPr>
              <a:t>IV. KẾT LUẬN VÀ HƯỚNG</a:t>
            </a:r>
            <a:r>
              <a:rPr lang="en-US" b="true" sz="5000">
                <a:solidFill>
                  <a:srgbClr val="FFFFFF"/>
                </a:solidFill>
                <a:latin typeface="Noto Sans Bold"/>
                <a:ea typeface="Noto Sans Bold"/>
                <a:cs typeface="Noto Sans Bold"/>
                <a:sym typeface="Noto Sans Bold"/>
              </a:rPr>
              <a:t> PHÁT TRIỂN</a:t>
            </a:r>
          </a:p>
        </p:txBody>
      </p:sp>
      <p:sp>
        <p:nvSpPr>
          <p:cNvPr name="TextBox 8" id="8"/>
          <p:cNvSpPr txBox="true"/>
          <p:nvPr/>
        </p:nvSpPr>
        <p:spPr>
          <a:xfrm rot="0">
            <a:off x="1028700" y="952500"/>
            <a:ext cx="9565006"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1. Kết luận tổng quan về thực nghiệm</a:t>
            </a:r>
          </a:p>
        </p:txBody>
      </p:sp>
      <p:sp>
        <p:nvSpPr>
          <p:cNvPr name="TextBox 9" id="9"/>
          <p:cNvSpPr txBox="true"/>
          <p:nvPr/>
        </p:nvSpPr>
        <p:spPr>
          <a:xfrm rot="0">
            <a:off x="1028700" y="1717196"/>
            <a:ext cx="11646821"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1.2 Hiệu năng mô hình</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829606" y="2317584"/>
            <a:ext cx="16429694" cy="5718810"/>
          </a:xfrm>
          <a:prstGeom prst="rect">
            <a:avLst/>
          </a:prstGeom>
        </p:spPr>
        <p:txBody>
          <a:bodyPr anchor="t" rtlCol="false" tIns="0" lIns="0" bIns="0" rIns="0">
            <a:spAutoFit/>
          </a:bodyPr>
          <a:lstStyle/>
          <a:p>
            <a:pPr algn="l">
              <a:lnSpc>
                <a:spcPts val="5039"/>
              </a:lnSpc>
            </a:pPr>
            <a:r>
              <a:rPr lang="en-US" sz="3599" b="true">
                <a:solidFill>
                  <a:srgbClr val="FFFFFF"/>
                </a:solidFill>
                <a:latin typeface="Noto Sans Bold"/>
                <a:ea typeface="Noto Sans Bold"/>
                <a:cs typeface="Noto Sans Bold"/>
                <a:sym typeface="Noto Sans Bold"/>
              </a:rPr>
              <a:t>   2.1 Nâng cấp mô hình (Algorithms)</a:t>
            </a:r>
          </a:p>
          <a:p>
            <a:pPr algn="l" marL="777238" indent="-388619" lvl="1">
              <a:lnSpc>
                <a:spcPts val="5039"/>
              </a:lnSpc>
              <a:buFont typeface="Arial"/>
              <a:buChar char="•"/>
            </a:pPr>
            <a:r>
              <a:rPr lang="en-US" b="true" sz="3599">
                <a:solidFill>
                  <a:srgbClr val="FFFFFF"/>
                </a:solidFill>
                <a:latin typeface="Noto Sans Bold"/>
                <a:ea typeface="Noto Sans Bold"/>
                <a:cs typeface="Noto Sans Bold"/>
                <a:sym typeface="Noto Sans Bold"/>
              </a:rPr>
              <a:t>Deep Learning: </a:t>
            </a:r>
            <a:r>
              <a:rPr lang="en-US" b="true" sz="3599">
                <a:solidFill>
                  <a:srgbClr val="FFFFFF"/>
                </a:solidFill>
                <a:latin typeface="Noto Sans Bold"/>
                <a:ea typeface="Noto Sans Bold"/>
                <a:cs typeface="Noto Sans Bold"/>
                <a:sym typeface="Noto Sans Bold"/>
              </a:rPr>
              <a:t>Thử nghiệm các mạng nơ-ron tiên tiến như 1D-CNN hoặc LSTM để khai thác tính tuần tự của dải tần số.</a:t>
            </a:r>
          </a:p>
          <a:p>
            <a:pPr algn="l">
              <a:lnSpc>
                <a:spcPts val="5039"/>
              </a:lnSpc>
            </a:pPr>
          </a:p>
          <a:p>
            <a:pPr algn="l">
              <a:lnSpc>
                <a:spcPts val="5039"/>
              </a:lnSpc>
            </a:pPr>
          </a:p>
          <a:p>
            <a:pPr algn="l">
              <a:lnSpc>
                <a:spcPts val="5039"/>
              </a:lnSpc>
            </a:pPr>
          </a:p>
          <a:p>
            <a:pPr algn="l">
              <a:lnSpc>
                <a:spcPts val="5039"/>
              </a:lnSpc>
            </a:pPr>
          </a:p>
          <a:p>
            <a:pPr algn="l">
              <a:lnSpc>
                <a:spcPts val="5039"/>
              </a:lnSpc>
            </a:pPr>
          </a:p>
          <a:p>
            <a:pPr algn="l">
              <a:lnSpc>
                <a:spcPts val="5039"/>
              </a:lnSpc>
            </a:pPr>
          </a:p>
        </p:txBody>
      </p:sp>
      <p:sp>
        <p:nvSpPr>
          <p:cNvPr name="Freeform 6" id="6"/>
          <p:cNvSpPr/>
          <p:nvPr/>
        </p:nvSpPr>
        <p:spPr>
          <a:xfrm flipH="false" flipV="false" rot="0">
            <a:off x="1675792" y="4533085"/>
            <a:ext cx="13686683" cy="3644079"/>
          </a:xfrm>
          <a:custGeom>
            <a:avLst/>
            <a:gdLst/>
            <a:ahLst/>
            <a:cxnLst/>
            <a:rect r="r" b="b" t="t" l="l"/>
            <a:pathLst>
              <a:path h="3644079" w="13686683">
                <a:moveTo>
                  <a:pt x="0" y="0"/>
                </a:moveTo>
                <a:lnTo>
                  <a:pt x="13686683" y="0"/>
                </a:lnTo>
                <a:lnTo>
                  <a:pt x="13686683" y="3644079"/>
                </a:lnTo>
                <a:lnTo>
                  <a:pt x="0" y="3644079"/>
                </a:lnTo>
                <a:lnTo>
                  <a:pt x="0" y="0"/>
                </a:lnTo>
                <a:close/>
              </a:path>
            </a:pathLst>
          </a:custGeom>
          <a:blipFill>
            <a:blip r:embed="rId2"/>
            <a:stretch>
              <a:fillRect l="0" t="0" r="0" b="0"/>
            </a:stretch>
          </a:blipFill>
        </p:spPr>
      </p:sp>
      <p:sp>
        <p:nvSpPr>
          <p:cNvPr name="TextBox 7" id="7"/>
          <p:cNvSpPr txBox="true"/>
          <p:nvPr/>
        </p:nvSpPr>
        <p:spPr>
          <a:xfrm rot="0">
            <a:off x="2946128" y="165100"/>
            <a:ext cx="12395744"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Noto Sans Bold"/>
                <a:ea typeface="Noto Sans Bold"/>
                <a:cs typeface="Noto Sans Bold"/>
                <a:sym typeface="Noto Sans Bold"/>
              </a:rPr>
              <a:t>IV. KẾT LUẬN VÀ HƯỚNG</a:t>
            </a:r>
            <a:r>
              <a:rPr lang="en-US" b="true" sz="5000">
                <a:solidFill>
                  <a:srgbClr val="FFFFFF"/>
                </a:solidFill>
                <a:latin typeface="Noto Sans Bold"/>
                <a:ea typeface="Noto Sans Bold"/>
                <a:cs typeface="Noto Sans Bold"/>
                <a:sym typeface="Noto Sans Bold"/>
              </a:rPr>
              <a:t> PHÁT TRIỂN</a:t>
            </a:r>
          </a:p>
        </p:txBody>
      </p:sp>
      <p:sp>
        <p:nvSpPr>
          <p:cNvPr name="TextBox 8" id="8"/>
          <p:cNvSpPr txBox="true"/>
          <p:nvPr/>
        </p:nvSpPr>
        <p:spPr>
          <a:xfrm rot="0">
            <a:off x="1028700" y="952500"/>
            <a:ext cx="11081385"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2. Hướng phát triển và mở rộng nghiên cứu</a:t>
            </a:r>
          </a:p>
        </p:txBody>
      </p:sp>
      <p:sp>
        <p:nvSpPr>
          <p:cNvPr name="TextBox 9" id="9"/>
          <p:cNvSpPr txBox="true"/>
          <p:nvPr/>
        </p:nvSpPr>
        <p:spPr>
          <a:xfrm rot="0">
            <a:off x="1028700" y="1754338"/>
            <a:ext cx="14483001" cy="629920"/>
          </a:xfrm>
          <a:prstGeom prst="rect">
            <a:avLst/>
          </a:prstGeom>
        </p:spPr>
        <p:txBody>
          <a:bodyPr anchor="t" rtlCol="false" tIns="0" lIns="0" bIns="0" rIns="0">
            <a:spAutoFit/>
          </a:bodyPr>
          <a:lstStyle/>
          <a:p>
            <a:pPr algn="ctr">
              <a:lnSpc>
                <a:spcPts val="5179"/>
              </a:lnSpc>
            </a:pPr>
            <a:r>
              <a:rPr lang="en-US" sz="3699" b="true">
                <a:solidFill>
                  <a:srgbClr val="FFFFFF"/>
                </a:solidFill>
                <a:latin typeface="Noto Sans Bold"/>
                <a:ea typeface="Noto Sans Bold"/>
                <a:cs typeface="Noto Sans Bold"/>
                <a:sym typeface="Noto Sans Bold"/>
              </a:rPr>
              <a:t>*Mục tiêu: </a:t>
            </a:r>
            <a:r>
              <a:rPr lang="en-US" b="true" sz="3699">
                <a:solidFill>
                  <a:srgbClr val="FFFFFF"/>
                </a:solidFill>
                <a:latin typeface="Noto Sans Bold"/>
                <a:ea typeface="Noto Sans Bold"/>
                <a:cs typeface="Noto Sans Bold"/>
                <a:sym typeface="Noto Sans Bold"/>
              </a:rPr>
              <a:t>Thể hiện tầm nhìn và khả năng nâng cấp hệ thống.</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3819518" y="3717147"/>
            <a:ext cx="10449870" cy="5917239"/>
          </a:xfrm>
          <a:custGeom>
            <a:avLst/>
            <a:gdLst/>
            <a:ahLst/>
            <a:cxnLst/>
            <a:rect r="r" b="b" t="t" l="l"/>
            <a:pathLst>
              <a:path h="5917239" w="10449870">
                <a:moveTo>
                  <a:pt x="0" y="0"/>
                </a:moveTo>
                <a:lnTo>
                  <a:pt x="10449870" y="0"/>
                </a:lnTo>
                <a:lnTo>
                  <a:pt x="10449870" y="5917239"/>
                </a:lnTo>
                <a:lnTo>
                  <a:pt x="0" y="5917239"/>
                </a:lnTo>
                <a:lnTo>
                  <a:pt x="0" y="0"/>
                </a:lnTo>
                <a:close/>
              </a:path>
            </a:pathLst>
          </a:custGeom>
          <a:blipFill>
            <a:blip r:embed="rId2"/>
            <a:stretch>
              <a:fillRect l="0" t="0" r="0" b="0"/>
            </a:stretch>
          </a:blipFill>
        </p:spPr>
      </p:sp>
      <p:sp>
        <p:nvSpPr>
          <p:cNvPr name="TextBox 6" id="6"/>
          <p:cNvSpPr txBox="true"/>
          <p:nvPr/>
        </p:nvSpPr>
        <p:spPr>
          <a:xfrm rot="0">
            <a:off x="1028700" y="1710230"/>
            <a:ext cx="16429694" cy="2527935"/>
          </a:xfrm>
          <a:prstGeom prst="rect">
            <a:avLst/>
          </a:prstGeom>
        </p:spPr>
        <p:txBody>
          <a:bodyPr anchor="t" rtlCol="false" tIns="0" lIns="0" bIns="0" rIns="0">
            <a:spAutoFit/>
          </a:bodyPr>
          <a:lstStyle/>
          <a:p>
            <a:pPr algn="l">
              <a:lnSpc>
                <a:spcPts val="5039"/>
              </a:lnSpc>
            </a:pPr>
            <a:r>
              <a:rPr lang="en-US" sz="3599" b="true">
                <a:solidFill>
                  <a:srgbClr val="FFFFFF"/>
                </a:solidFill>
                <a:latin typeface="Noto Sans Bold"/>
                <a:ea typeface="Noto Sans Bold"/>
                <a:cs typeface="Noto Sans Bold"/>
                <a:sym typeface="Noto Sans Bold"/>
              </a:rPr>
              <a:t> </a:t>
            </a:r>
            <a:r>
              <a:rPr lang="en-US" sz="3599" b="true">
                <a:solidFill>
                  <a:srgbClr val="FFFFFF"/>
                </a:solidFill>
                <a:latin typeface="Noto Sans Bold"/>
                <a:ea typeface="Noto Sans Bold"/>
                <a:cs typeface="Noto Sans Bold"/>
                <a:sym typeface="Noto Sans Bold"/>
              </a:rPr>
              <a:t>2.1 Nâng cấp mô hình (Algorithms)</a:t>
            </a:r>
          </a:p>
          <a:p>
            <a:pPr algn="l" marL="777238" indent="-388619" lvl="1">
              <a:lnSpc>
                <a:spcPts val="5039"/>
              </a:lnSpc>
              <a:buFont typeface="Arial"/>
              <a:buChar char="•"/>
            </a:pPr>
            <a:r>
              <a:rPr lang="en-US" b="true" sz="3599">
                <a:solidFill>
                  <a:srgbClr val="FFFFFF"/>
                </a:solidFill>
                <a:latin typeface="Noto Sans Bold"/>
                <a:ea typeface="Noto Sans Bold"/>
                <a:cs typeface="Noto Sans Bold"/>
                <a:sym typeface="Noto Sans Bold"/>
              </a:rPr>
              <a:t>Ensemble Learning: Áp dụng kỹ thuật Stacking hoặc Voting để tối ưu hóa sai số từ các mô hình đơn lẻ.</a:t>
            </a:r>
          </a:p>
          <a:p>
            <a:pPr algn="l">
              <a:lnSpc>
                <a:spcPts val="5039"/>
              </a:lnSpc>
            </a:pPr>
          </a:p>
        </p:txBody>
      </p:sp>
      <p:sp>
        <p:nvSpPr>
          <p:cNvPr name="TextBox 7" id="7"/>
          <p:cNvSpPr txBox="true"/>
          <p:nvPr/>
        </p:nvSpPr>
        <p:spPr>
          <a:xfrm rot="0">
            <a:off x="2946128" y="165100"/>
            <a:ext cx="12395744"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Noto Sans Bold"/>
                <a:ea typeface="Noto Sans Bold"/>
                <a:cs typeface="Noto Sans Bold"/>
                <a:sym typeface="Noto Sans Bold"/>
              </a:rPr>
              <a:t>IV. KẾT LUẬN VÀ HƯỚNG</a:t>
            </a:r>
            <a:r>
              <a:rPr lang="en-US" b="true" sz="5000">
                <a:solidFill>
                  <a:srgbClr val="FFFFFF"/>
                </a:solidFill>
                <a:latin typeface="Noto Sans Bold"/>
                <a:ea typeface="Noto Sans Bold"/>
                <a:cs typeface="Noto Sans Bold"/>
                <a:sym typeface="Noto Sans Bold"/>
              </a:rPr>
              <a:t> PHÁT TRIỂN</a:t>
            </a:r>
          </a:p>
        </p:txBody>
      </p:sp>
      <p:sp>
        <p:nvSpPr>
          <p:cNvPr name="TextBox 8" id="8"/>
          <p:cNvSpPr txBox="true"/>
          <p:nvPr/>
        </p:nvSpPr>
        <p:spPr>
          <a:xfrm rot="0">
            <a:off x="1028700" y="952500"/>
            <a:ext cx="11081385"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2. Hướng phát triển và mở rộng nghiên cứu</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946128" y="4239608"/>
            <a:ext cx="11301259" cy="4478124"/>
          </a:xfrm>
          <a:custGeom>
            <a:avLst/>
            <a:gdLst/>
            <a:ahLst/>
            <a:cxnLst/>
            <a:rect r="r" b="b" t="t" l="l"/>
            <a:pathLst>
              <a:path h="4478124" w="11301259">
                <a:moveTo>
                  <a:pt x="0" y="0"/>
                </a:moveTo>
                <a:lnTo>
                  <a:pt x="11301259" y="0"/>
                </a:lnTo>
                <a:lnTo>
                  <a:pt x="11301259" y="4478124"/>
                </a:lnTo>
                <a:lnTo>
                  <a:pt x="0" y="4478124"/>
                </a:lnTo>
                <a:lnTo>
                  <a:pt x="0" y="0"/>
                </a:lnTo>
                <a:close/>
              </a:path>
            </a:pathLst>
          </a:custGeom>
          <a:blipFill>
            <a:blip r:embed="rId2"/>
            <a:stretch>
              <a:fillRect l="0" t="0" r="0" b="0"/>
            </a:stretch>
          </a:blipFill>
        </p:spPr>
      </p:sp>
      <p:sp>
        <p:nvSpPr>
          <p:cNvPr name="TextBox 6" id="6"/>
          <p:cNvSpPr txBox="true"/>
          <p:nvPr/>
        </p:nvSpPr>
        <p:spPr>
          <a:xfrm rot="0">
            <a:off x="1028700" y="1887212"/>
            <a:ext cx="16429694" cy="2527935"/>
          </a:xfrm>
          <a:prstGeom prst="rect">
            <a:avLst/>
          </a:prstGeom>
        </p:spPr>
        <p:txBody>
          <a:bodyPr anchor="t" rtlCol="false" tIns="0" lIns="0" bIns="0" rIns="0">
            <a:spAutoFit/>
          </a:bodyPr>
          <a:lstStyle/>
          <a:p>
            <a:pPr algn="l">
              <a:lnSpc>
                <a:spcPts val="5039"/>
              </a:lnSpc>
            </a:pPr>
            <a:r>
              <a:rPr lang="en-US" sz="3599" b="true">
                <a:solidFill>
                  <a:srgbClr val="FFFFFF"/>
                </a:solidFill>
                <a:latin typeface="Noto Sans Bold"/>
                <a:ea typeface="Noto Sans Bold"/>
                <a:cs typeface="Noto Sans Bold"/>
                <a:sym typeface="Noto Sans Bold"/>
              </a:rPr>
              <a:t>2.2 Tối ưu hóa dữ liệu &amp; Tính minh bạch (Data &amp; XAI)</a:t>
            </a:r>
          </a:p>
          <a:p>
            <a:pPr algn="l" marL="777238" indent="-388619" lvl="1">
              <a:lnSpc>
                <a:spcPts val="5039"/>
              </a:lnSpc>
              <a:buFont typeface="Arial"/>
              <a:buChar char="•"/>
            </a:pPr>
            <a:r>
              <a:rPr lang="en-US" b="true" sz="3599">
                <a:solidFill>
                  <a:srgbClr val="FFFFFF"/>
                </a:solidFill>
                <a:latin typeface="Noto Sans Bold"/>
                <a:ea typeface="Noto Sans Bold"/>
                <a:cs typeface="Noto Sans Bold"/>
                <a:sym typeface="Noto Sans Bold"/>
              </a:rPr>
              <a:t>Xử </a:t>
            </a:r>
            <a:r>
              <a:rPr lang="en-US" b="true" sz="3599">
                <a:solidFill>
                  <a:srgbClr val="FFFFFF"/>
                </a:solidFill>
                <a:latin typeface="Noto Sans Bold"/>
                <a:ea typeface="Noto Sans Bold"/>
                <a:cs typeface="Noto Sans Bold"/>
                <a:sym typeface="Noto Sans Bold"/>
              </a:rPr>
              <a:t>lý đặc trưng: Sử dụng PCA (Giảm chiều dữ liệu) để loại bỏ nhiễu và tăng tốc độ huấn luyện.</a:t>
            </a:r>
          </a:p>
          <a:p>
            <a:pPr algn="l">
              <a:lnSpc>
                <a:spcPts val="5039"/>
              </a:lnSpc>
            </a:pPr>
          </a:p>
        </p:txBody>
      </p:sp>
      <p:sp>
        <p:nvSpPr>
          <p:cNvPr name="TextBox 7" id="7"/>
          <p:cNvSpPr txBox="true"/>
          <p:nvPr/>
        </p:nvSpPr>
        <p:spPr>
          <a:xfrm rot="0">
            <a:off x="2946128" y="165100"/>
            <a:ext cx="12395744"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Noto Sans Bold"/>
                <a:ea typeface="Noto Sans Bold"/>
                <a:cs typeface="Noto Sans Bold"/>
                <a:sym typeface="Noto Sans Bold"/>
              </a:rPr>
              <a:t>IV. KẾT LUẬN VÀ HƯỚNG</a:t>
            </a:r>
            <a:r>
              <a:rPr lang="en-US" b="true" sz="5000">
                <a:solidFill>
                  <a:srgbClr val="FFFFFF"/>
                </a:solidFill>
                <a:latin typeface="Noto Sans Bold"/>
                <a:ea typeface="Noto Sans Bold"/>
                <a:cs typeface="Noto Sans Bold"/>
                <a:sym typeface="Noto Sans Bold"/>
              </a:rPr>
              <a:t> PHÁT TRIỂN</a:t>
            </a:r>
          </a:p>
        </p:txBody>
      </p:sp>
      <p:sp>
        <p:nvSpPr>
          <p:cNvPr name="TextBox 8" id="8"/>
          <p:cNvSpPr txBox="true"/>
          <p:nvPr/>
        </p:nvSpPr>
        <p:spPr>
          <a:xfrm rot="0">
            <a:off x="1028700" y="952500"/>
            <a:ext cx="11081385"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2. Hướng phát triển và mở rộng nghiên cứu</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6438585" y="3995375"/>
            <a:ext cx="5410829" cy="5481918"/>
          </a:xfrm>
          <a:custGeom>
            <a:avLst/>
            <a:gdLst/>
            <a:ahLst/>
            <a:cxnLst/>
            <a:rect r="r" b="b" t="t" l="l"/>
            <a:pathLst>
              <a:path h="5481918" w="5410829">
                <a:moveTo>
                  <a:pt x="0" y="0"/>
                </a:moveTo>
                <a:lnTo>
                  <a:pt x="5410830" y="0"/>
                </a:lnTo>
                <a:lnTo>
                  <a:pt x="5410830" y="5481918"/>
                </a:lnTo>
                <a:lnTo>
                  <a:pt x="0" y="5481918"/>
                </a:lnTo>
                <a:lnTo>
                  <a:pt x="0" y="0"/>
                </a:lnTo>
                <a:close/>
              </a:path>
            </a:pathLst>
          </a:custGeom>
          <a:blipFill>
            <a:blip r:embed="rId2"/>
            <a:stretch>
              <a:fillRect l="0" t="-6464" r="0" b="-6464"/>
            </a:stretch>
          </a:blipFill>
        </p:spPr>
      </p:sp>
      <p:sp>
        <p:nvSpPr>
          <p:cNvPr name="TextBox 6" id="6"/>
          <p:cNvSpPr txBox="true"/>
          <p:nvPr/>
        </p:nvSpPr>
        <p:spPr>
          <a:xfrm rot="0">
            <a:off x="1028700" y="1909334"/>
            <a:ext cx="16429694" cy="2527935"/>
          </a:xfrm>
          <a:prstGeom prst="rect">
            <a:avLst/>
          </a:prstGeom>
        </p:spPr>
        <p:txBody>
          <a:bodyPr anchor="t" rtlCol="false" tIns="0" lIns="0" bIns="0" rIns="0">
            <a:spAutoFit/>
          </a:bodyPr>
          <a:lstStyle/>
          <a:p>
            <a:pPr algn="l">
              <a:lnSpc>
                <a:spcPts val="5039"/>
              </a:lnSpc>
            </a:pPr>
            <a:r>
              <a:rPr lang="en-US" sz="3599" b="true">
                <a:solidFill>
                  <a:srgbClr val="FFFFFF"/>
                </a:solidFill>
                <a:latin typeface="Noto Sans Bold"/>
                <a:ea typeface="Noto Sans Bold"/>
                <a:cs typeface="Noto Sans Bold"/>
                <a:sym typeface="Noto Sans Bold"/>
              </a:rPr>
              <a:t>2.2 Tối ưu hóa dữ liệu &amp; Tính minh bạch (Data &amp; XAI)</a:t>
            </a:r>
          </a:p>
          <a:p>
            <a:pPr algn="l" marL="777238" indent="-388619" lvl="1">
              <a:lnSpc>
                <a:spcPts val="5039"/>
              </a:lnSpc>
              <a:buFont typeface="Arial"/>
              <a:buChar char="•"/>
            </a:pPr>
            <a:r>
              <a:rPr lang="en-US" b="true" sz="3599">
                <a:solidFill>
                  <a:srgbClr val="FFFFFF"/>
                </a:solidFill>
                <a:latin typeface="Noto Sans Bold"/>
                <a:ea typeface="Noto Sans Bold"/>
                <a:cs typeface="Noto Sans Bold"/>
                <a:sym typeface="Noto Sans Bold"/>
              </a:rPr>
              <a:t>Giải</a:t>
            </a:r>
            <a:r>
              <a:rPr lang="en-US" b="true" sz="3599">
                <a:solidFill>
                  <a:srgbClr val="FFFFFF"/>
                </a:solidFill>
                <a:latin typeface="Noto Sans Bold"/>
                <a:ea typeface="Noto Sans Bold"/>
                <a:cs typeface="Noto Sans Bold"/>
                <a:sym typeface="Noto Sans Bold"/>
              </a:rPr>
              <a:t> thích</a:t>
            </a:r>
            <a:r>
              <a:rPr lang="en-US" b="true" sz="3599">
                <a:solidFill>
                  <a:srgbClr val="FFFFFF"/>
                </a:solidFill>
                <a:latin typeface="Noto Sans Bold"/>
                <a:ea typeface="Noto Sans Bold"/>
                <a:cs typeface="Noto Sans Bold"/>
                <a:sym typeface="Noto Sans Bold"/>
              </a:rPr>
              <a:t> mô hình (XAI): Tích hợp SHAP hoặc LIME để hiểu rõ dải tần số nào đóng vai trò quyết định trong việc nhận diện mục tiêu.</a:t>
            </a:r>
          </a:p>
          <a:p>
            <a:pPr algn="l">
              <a:lnSpc>
                <a:spcPts val="5039"/>
              </a:lnSpc>
            </a:pPr>
          </a:p>
        </p:txBody>
      </p:sp>
      <p:sp>
        <p:nvSpPr>
          <p:cNvPr name="TextBox 7" id="7"/>
          <p:cNvSpPr txBox="true"/>
          <p:nvPr/>
        </p:nvSpPr>
        <p:spPr>
          <a:xfrm rot="0">
            <a:off x="2946128" y="165100"/>
            <a:ext cx="12395744"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Noto Sans Bold"/>
                <a:ea typeface="Noto Sans Bold"/>
                <a:cs typeface="Noto Sans Bold"/>
                <a:sym typeface="Noto Sans Bold"/>
              </a:rPr>
              <a:t>IV. KẾT LUẬN VÀ HƯỚNG</a:t>
            </a:r>
            <a:r>
              <a:rPr lang="en-US" b="true" sz="5000">
                <a:solidFill>
                  <a:srgbClr val="FFFFFF"/>
                </a:solidFill>
                <a:latin typeface="Noto Sans Bold"/>
                <a:ea typeface="Noto Sans Bold"/>
                <a:cs typeface="Noto Sans Bold"/>
                <a:sym typeface="Noto Sans Bold"/>
              </a:rPr>
              <a:t> PHÁT TRIỂN</a:t>
            </a:r>
          </a:p>
        </p:txBody>
      </p:sp>
      <p:sp>
        <p:nvSpPr>
          <p:cNvPr name="TextBox 8" id="8"/>
          <p:cNvSpPr txBox="true"/>
          <p:nvPr/>
        </p:nvSpPr>
        <p:spPr>
          <a:xfrm rot="0">
            <a:off x="1028700" y="952500"/>
            <a:ext cx="11081385"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2. Hướng phát triển và mở rộng nghiên cứu</a:t>
            </a:r>
          </a:p>
        </p:txBody>
      </p:sp>
    </p:spTree>
  </p:cSld>
  <p:clrMapOvr>
    <a:masterClrMapping/>
  </p:clrMapOvr>
</p:sld>
</file>

<file path=ppt/slides/slide28.xml><?xml version="1.0" encoding="utf-8"?>
<p:sld xmlns:p="http://schemas.openxmlformats.org/presentationml/2006/main" xmlns:a="http://schemas.openxmlformats.org/drawingml/2006/main">
  <p:cSld>
    <p:bg>
      <p:bgPr>
        <a:gradFill rotWithShape="true">
          <a:gsLst>
            <a:gs pos="0">
              <a:srgbClr val="02014C">
                <a:alpha val="100000"/>
              </a:srgbClr>
            </a:gs>
            <a:gs pos="100000">
              <a:srgbClr val="000000">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17747432" y="8177164"/>
            <a:ext cx="540568" cy="540568"/>
            <a:chOff x="0" y="0"/>
            <a:chExt cx="72536" cy="72536"/>
          </a:xfrm>
        </p:grpSpPr>
        <p:sp>
          <p:nvSpPr>
            <p:cNvPr name="Freeform 3" id="3"/>
            <p:cNvSpPr/>
            <p:nvPr/>
          </p:nvSpPr>
          <p:spPr>
            <a:xfrm flipH="false" flipV="false" rot="0">
              <a:off x="0" y="0"/>
              <a:ext cx="72536" cy="72536"/>
            </a:xfrm>
            <a:custGeom>
              <a:avLst/>
              <a:gdLst/>
              <a:ahLst/>
              <a:cxnLst/>
              <a:rect r="r" b="b" t="t" l="l"/>
              <a:pathLst>
                <a:path h="72536" w="72536">
                  <a:moveTo>
                    <a:pt x="0" y="0"/>
                  </a:moveTo>
                  <a:lnTo>
                    <a:pt x="72536" y="0"/>
                  </a:lnTo>
                  <a:lnTo>
                    <a:pt x="72536" y="72536"/>
                  </a:lnTo>
                  <a:lnTo>
                    <a:pt x="0" y="72536"/>
                  </a:lnTo>
                  <a:close/>
                </a:path>
              </a:pathLst>
            </a:custGeom>
            <a:solidFill>
              <a:srgbClr val="FFFFFF">
                <a:alpha val="6667"/>
              </a:srgbClr>
            </a:solidFill>
            <a:ln cap="sq">
              <a:noFill/>
              <a:prstDash val="solid"/>
              <a:miter/>
            </a:ln>
          </p:spPr>
        </p:sp>
        <p:sp>
          <p:nvSpPr>
            <p:cNvPr name="TextBox 4" id="4"/>
            <p:cNvSpPr txBox="true"/>
            <p:nvPr/>
          </p:nvSpPr>
          <p:spPr>
            <a:xfrm>
              <a:off x="0" y="-38100"/>
              <a:ext cx="72536" cy="1106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1909334"/>
            <a:ext cx="16429694" cy="3916045"/>
          </a:xfrm>
          <a:prstGeom prst="rect">
            <a:avLst/>
          </a:prstGeom>
        </p:spPr>
        <p:txBody>
          <a:bodyPr anchor="t" rtlCol="false" tIns="0" lIns="0" bIns="0" rIns="0">
            <a:spAutoFit/>
          </a:bodyPr>
          <a:lstStyle/>
          <a:p>
            <a:pPr algn="l">
              <a:lnSpc>
                <a:spcPts val="5179"/>
              </a:lnSpc>
            </a:pPr>
            <a:r>
              <a:rPr lang="en-US" sz="3699" b="true">
                <a:solidFill>
                  <a:srgbClr val="FFFFFF"/>
                </a:solidFill>
                <a:latin typeface="Noto Sans Bold"/>
                <a:ea typeface="Noto Sans Bold"/>
                <a:cs typeface="Noto Sans Bold"/>
                <a:sym typeface="Noto Sans Bold"/>
              </a:rPr>
              <a:t>2.3 Ứng dụng thực tiễn</a:t>
            </a:r>
          </a:p>
          <a:p>
            <a:pPr algn="l" marL="798828" indent="-399414" lvl="1">
              <a:lnSpc>
                <a:spcPts val="5179"/>
              </a:lnSpc>
              <a:buFont typeface="Arial"/>
              <a:buChar char="•"/>
            </a:pPr>
            <a:r>
              <a:rPr lang="en-US" b="true" sz="3699">
                <a:solidFill>
                  <a:srgbClr val="FFFFFF"/>
                </a:solidFill>
                <a:latin typeface="Noto Sans Bold"/>
                <a:ea typeface="Noto Sans Bold"/>
                <a:cs typeface="Noto Sans Bold"/>
                <a:sym typeface="Noto Sans Bold"/>
              </a:rPr>
              <a:t>Triển khai: Đóng gó</a:t>
            </a:r>
            <a:r>
              <a:rPr lang="en-US" b="true" sz="3699">
                <a:solidFill>
                  <a:srgbClr val="FFFFFF"/>
                </a:solidFill>
                <a:latin typeface="Noto Sans Bold"/>
                <a:ea typeface="Noto Sans Bold"/>
                <a:cs typeface="Noto Sans Bold"/>
                <a:sym typeface="Noto Sans Bold"/>
              </a:rPr>
              <a:t>i</a:t>
            </a:r>
            <a:r>
              <a:rPr lang="en-US" b="true" sz="3699">
                <a:solidFill>
                  <a:srgbClr val="FFFFFF"/>
                </a:solidFill>
                <a:latin typeface="Noto Sans Bold"/>
                <a:ea typeface="Noto Sans Bold"/>
                <a:cs typeface="Noto Sans Bold"/>
                <a:sym typeface="Noto Sans Bold"/>
              </a:rPr>
              <a:t> </a:t>
            </a:r>
            <a:r>
              <a:rPr lang="en-US" b="true" sz="3699">
                <a:solidFill>
                  <a:srgbClr val="FFFFFF"/>
                </a:solidFill>
                <a:latin typeface="Noto Sans Bold"/>
                <a:ea typeface="Noto Sans Bold"/>
                <a:cs typeface="Noto Sans Bold"/>
                <a:sym typeface="Noto Sans Bold"/>
              </a:rPr>
              <a:t>mô hình dưới dạng API hoặc tích hợp vào hệ thống nhúng để nhận diện thời gian thực.</a:t>
            </a:r>
          </a:p>
          <a:p>
            <a:pPr algn="l" marL="798828" indent="-399414" lvl="1">
              <a:lnSpc>
                <a:spcPts val="5179"/>
              </a:lnSpc>
              <a:buFont typeface="Arial"/>
              <a:buChar char="•"/>
            </a:pPr>
            <a:r>
              <a:rPr lang="en-US" b="true" sz="3699">
                <a:solidFill>
                  <a:srgbClr val="FFFFFF"/>
                </a:solidFill>
                <a:latin typeface="Noto Sans Bold"/>
                <a:ea typeface="Noto Sans Bold"/>
                <a:cs typeface="Noto Sans Bold"/>
                <a:sym typeface="Noto Sans Bold"/>
              </a:rPr>
              <a:t>Dữ liệu thực địa: Thu thập thêm dữ liệu từ các môi trường thủy âm đa dạng (độ mặn, nhiệt độ khác nhau) để tăng tính tổng quát.</a:t>
            </a:r>
          </a:p>
          <a:p>
            <a:pPr algn="l">
              <a:lnSpc>
                <a:spcPts val="5179"/>
              </a:lnSpc>
            </a:pPr>
          </a:p>
        </p:txBody>
      </p:sp>
      <p:sp>
        <p:nvSpPr>
          <p:cNvPr name="TextBox 6" id="6"/>
          <p:cNvSpPr txBox="true"/>
          <p:nvPr/>
        </p:nvSpPr>
        <p:spPr>
          <a:xfrm rot="0">
            <a:off x="2946128" y="165100"/>
            <a:ext cx="12395744" cy="863600"/>
          </a:xfrm>
          <a:prstGeom prst="rect">
            <a:avLst/>
          </a:prstGeom>
        </p:spPr>
        <p:txBody>
          <a:bodyPr anchor="t" rtlCol="false" tIns="0" lIns="0" bIns="0" rIns="0">
            <a:spAutoFit/>
          </a:bodyPr>
          <a:lstStyle/>
          <a:p>
            <a:pPr algn="ctr">
              <a:lnSpc>
                <a:spcPts val="7000"/>
              </a:lnSpc>
            </a:pPr>
            <a:r>
              <a:rPr lang="en-US" sz="5000" b="true">
                <a:solidFill>
                  <a:srgbClr val="FFFFFF"/>
                </a:solidFill>
                <a:latin typeface="Noto Sans Bold"/>
                <a:ea typeface="Noto Sans Bold"/>
                <a:cs typeface="Noto Sans Bold"/>
                <a:sym typeface="Noto Sans Bold"/>
              </a:rPr>
              <a:t>IV. KẾT LUẬN VÀ HƯỚNG</a:t>
            </a:r>
            <a:r>
              <a:rPr lang="en-US" b="true" sz="5000">
                <a:solidFill>
                  <a:srgbClr val="FFFFFF"/>
                </a:solidFill>
                <a:latin typeface="Noto Sans Bold"/>
                <a:ea typeface="Noto Sans Bold"/>
                <a:cs typeface="Noto Sans Bold"/>
                <a:sym typeface="Noto Sans Bold"/>
              </a:rPr>
              <a:t> PHÁT TRIỂN</a:t>
            </a:r>
          </a:p>
        </p:txBody>
      </p:sp>
      <p:sp>
        <p:nvSpPr>
          <p:cNvPr name="TextBox 7" id="7"/>
          <p:cNvSpPr txBox="true"/>
          <p:nvPr/>
        </p:nvSpPr>
        <p:spPr>
          <a:xfrm rot="0">
            <a:off x="1028700" y="952500"/>
            <a:ext cx="11081385" cy="679450"/>
          </a:xfrm>
          <a:prstGeom prst="rect">
            <a:avLst/>
          </a:prstGeom>
        </p:spPr>
        <p:txBody>
          <a:bodyPr anchor="t" rtlCol="false" tIns="0" lIns="0" bIns="0" rIns="0">
            <a:spAutoFit/>
          </a:bodyPr>
          <a:lstStyle/>
          <a:p>
            <a:pPr algn="l">
              <a:lnSpc>
                <a:spcPts val="5599"/>
              </a:lnSpc>
            </a:pPr>
            <a:r>
              <a:rPr lang="en-US" sz="3999" b="true">
                <a:solidFill>
                  <a:srgbClr val="FFFFFF"/>
                </a:solidFill>
                <a:latin typeface="Noto Sans Bold"/>
                <a:ea typeface="Noto Sans Bold"/>
                <a:cs typeface="Noto Sans Bold"/>
                <a:sym typeface="Noto Sans Bold"/>
              </a:rPr>
              <a:t>2. Hướng phát triển và mở rộng nghiên cứu</a:t>
            </a:r>
          </a:p>
        </p:txBody>
      </p:sp>
      <p:sp>
        <p:nvSpPr>
          <p:cNvPr name="TextBox 8" id="8"/>
          <p:cNvSpPr txBox="true"/>
          <p:nvPr/>
        </p:nvSpPr>
        <p:spPr>
          <a:xfrm rot="0">
            <a:off x="1028700" y="5338374"/>
            <a:ext cx="12004953" cy="1287146"/>
          </a:xfrm>
          <a:prstGeom prst="rect">
            <a:avLst/>
          </a:prstGeom>
        </p:spPr>
        <p:txBody>
          <a:bodyPr anchor="t" rtlCol="false" tIns="0" lIns="0" bIns="0" rIns="0">
            <a:spAutoFit/>
          </a:bodyPr>
          <a:lstStyle/>
          <a:p>
            <a:pPr algn="l">
              <a:lnSpc>
                <a:spcPts val="5179"/>
              </a:lnSpc>
            </a:pPr>
            <a:r>
              <a:rPr lang="en-US" b="true" sz="3699">
                <a:solidFill>
                  <a:srgbClr val="FFFFFF"/>
                </a:solidFill>
                <a:latin typeface="Canva Sans Bold"/>
                <a:ea typeface="Canva Sans Bold"/>
                <a:cs typeface="Canva Sans Bold"/>
                <a:sym typeface="Canva Sans Bold"/>
              </a:rPr>
              <a:t>=&gt;</a:t>
            </a:r>
            <a:r>
              <a:rPr lang="en-US" b="true" sz="3699">
                <a:solidFill>
                  <a:srgbClr val="FFFFFF"/>
                </a:solidFill>
                <a:latin typeface="Canva Sans Bold"/>
                <a:ea typeface="Canva Sans Bold"/>
                <a:cs typeface="Canva Sans Bold"/>
                <a:sym typeface="Canva Sans Bold"/>
              </a:rPr>
              <a:t>Hoàn thành mục tiêu đề tài: Xây dựng và triển khai thành công hệ thống/mô hình</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5400000">
            <a:off x="-358858" y="4907320"/>
            <a:ext cx="3247475" cy="472360"/>
          </a:xfrm>
          <a:custGeom>
            <a:avLst/>
            <a:gdLst/>
            <a:ahLst/>
            <a:cxnLst/>
            <a:rect r="r" b="b" t="t" l="l"/>
            <a:pathLst>
              <a:path h="472360" w="3247475">
                <a:moveTo>
                  <a:pt x="0" y="0"/>
                </a:moveTo>
                <a:lnTo>
                  <a:pt x="3247476" y="0"/>
                </a:lnTo>
                <a:lnTo>
                  <a:pt x="3247476" y="472360"/>
                </a:lnTo>
                <a:lnTo>
                  <a:pt x="0" y="4723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5400000">
            <a:off x="15399382" y="4907320"/>
            <a:ext cx="3247475" cy="472360"/>
          </a:xfrm>
          <a:custGeom>
            <a:avLst/>
            <a:gdLst/>
            <a:ahLst/>
            <a:cxnLst/>
            <a:rect r="r" b="b" t="t" l="l"/>
            <a:pathLst>
              <a:path h="472360" w="3247475">
                <a:moveTo>
                  <a:pt x="0" y="472360"/>
                </a:moveTo>
                <a:lnTo>
                  <a:pt x="3247476" y="472360"/>
                </a:lnTo>
                <a:lnTo>
                  <a:pt x="3247476" y="0"/>
                </a:lnTo>
                <a:lnTo>
                  <a:pt x="0" y="0"/>
                </a:lnTo>
                <a:lnTo>
                  <a:pt x="0" y="47236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9053909"/>
            <a:ext cx="263267" cy="204391"/>
          </a:xfrm>
          <a:custGeom>
            <a:avLst/>
            <a:gdLst/>
            <a:ahLst/>
            <a:cxnLst/>
            <a:rect r="r" b="b" t="t" l="l"/>
            <a:pathLst>
              <a:path h="204391" w="263267">
                <a:moveTo>
                  <a:pt x="0" y="0"/>
                </a:moveTo>
                <a:lnTo>
                  <a:pt x="263267" y="0"/>
                </a:lnTo>
                <a:lnTo>
                  <a:pt x="263267" y="204391"/>
                </a:lnTo>
                <a:lnTo>
                  <a:pt x="0" y="2043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6996033" y="9053909"/>
            <a:ext cx="263267" cy="204391"/>
          </a:xfrm>
          <a:custGeom>
            <a:avLst/>
            <a:gdLst/>
            <a:ahLst/>
            <a:cxnLst/>
            <a:rect r="r" b="b" t="t" l="l"/>
            <a:pathLst>
              <a:path h="204391" w="263267">
                <a:moveTo>
                  <a:pt x="263267" y="0"/>
                </a:moveTo>
                <a:lnTo>
                  <a:pt x="0" y="0"/>
                </a:lnTo>
                <a:lnTo>
                  <a:pt x="0" y="204391"/>
                </a:lnTo>
                <a:lnTo>
                  <a:pt x="263267" y="204391"/>
                </a:lnTo>
                <a:lnTo>
                  <a:pt x="263267"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028700" y="1028700"/>
            <a:ext cx="1337383" cy="1157444"/>
          </a:xfrm>
          <a:custGeom>
            <a:avLst/>
            <a:gdLst/>
            <a:ahLst/>
            <a:cxnLst/>
            <a:rect r="r" b="b" t="t" l="l"/>
            <a:pathLst>
              <a:path h="1157444" w="1337383">
                <a:moveTo>
                  <a:pt x="0" y="0"/>
                </a:moveTo>
                <a:lnTo>
                  <a:pt x="1337383" y="0"/>
                </a:lnTo>
                <a:lnTo>
                  <a:pt x="1337383" y="1157444"/>
                </a:lnTo>
                <a:lnTo>
                  <a:pt x="0" y="11574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2835963" y="3447612"/>
            <a:ext cx="12616074" cy="3163176"/>
          </a:xfrm>
          <a:prstGeom prst="rect">
            <a:avLst/>
          </a:prstGeom>
        </p:spPr>
        <p:txBody>
          <a:bodyPr anchor="t" rtlCol="false" tIns="0" lIns="0" bIns="0" rIns="0">
            <a:spAutoFit/>
          </a:bodyPr>
          <a:lstStyle/>
          <a:p>
            <a:pPr algn="ctr">
              <a:lnSpc>
                <a:spcPts val="25590"/>
              </a:lnSpc>
            </a:pPr>
            <a:r>
              <a:rPr lang="en-US" sz="19386" spc="-949">
                <a:solidFill>
                  <a:srgbClr val="38B6FF"/>
                </a:solidFill>
                <a:latin typeface="Norwester"/>
                <a:ea typeface="Norwester"/>
                <a:cs typeface="Norwester"/>
                <a:sym typeface="Norwester"/>
              </a:rPr>
              <a:t>TECHNOLOGY</a:t>
            </a:r>
          </a:p>
        </p:txBody>
      </p:sp>
      <p:sp>
        <p:nvSpPr>
          <p:cNvPr name="TextBox 9" id="9"/>
          <p:cNvSpPr txBox="true"/>
          <p:nvPr/>
        </p:nvSpPr>
        <p:spPr>
          <a:xfrm rot="0">
            <a:off x="8246505" y="1415805"/>
            <a:ext cx="1794990" cy="383769"/>
          </a:xfrm>
          <a:prstGeom prst="rect">
            <a:avLst/>
          </a:prstGeom>
        </p:spPr>
        <p:txBody>
          <a:bodyPr anchor="t" rtlCol="false" tIns="0" lIns="0" bIns="0" rIns="0">
            <a:spAutoFit/>
          </a:bodyPr>
          <a:lstStyle/>
          <a:p>
            <a:pPr algn="ctr">
              <a:lnSpc>
                <a:spcPts val="3014"/>
              </a:lnSpc>
            </a:pPr>
            <a:r>
              <a:rPr lang="en-US" sz="2283" spc="-111">
                <a:solidFill>
                  <a:srgbClr val="FFFFFF"/>
                </a:solidFill>
                <a:latin typeface="Norwester"/>
                <a:ea typeface="Norwester"/>
                <a:cs typeface="Norwester"/>
                <a:sym typeface="Norwester"/>
              </a:rPr>
              <a:t>LARANA, INC.</a:t>
            </a:r>
          </a:p>
        </p:txBody>
      </p:sp>
      <p:sp>
        <p:nvSpPr>
          <p:cNvPr name="Freeform 10" id="10"/>
          <p:cNvSpPr/>
          <p:nvPr/>
        </p:nvSpPr>
        <p:spPr>
          <a:xfrm flipH="true" flipV="false" rot="0">
            <a:off x="15921917" y="1048018"/>
            <a:ext cx="1337383" cy="1157444"/>
          </a:xfrm>
          <a:custGeom>
            <a:avLst/>
            <a:gdLst/>
            <a:ahLst/>
            <a:cxnLst/>
            <a:rect r="r" b="b" t="t" l="l"/>
            <a:pathLst>
              <a:path h="1157444" w="1337383">
                <a:moveTo>
                  <a:pt x="1337383" y="0"/>
                </a:moveTo>
                <a:lnTo>
                  <a:pt x="0" y="0"/>
                </a:lnTo>
                <a:lnTo>
                  <a:pt x="0" y="1157444"/>
                </a:lnTo>
                <a:lnTo>
                  <a:pt x="1337383" y="1157444"/>
                </a:lnTo>
                <a:lnTo>
                  <a:pt x="133738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DAHF3qwDLgA</dc:identifier>
  <dcterms:modified xsi:type="dcterms:W3CDTF">2011-08-01T06:04:30Z</dcterms:modified>
  <cp:revision>1</cp:revision>
  <dc:title>About Us</dc:title>
</cp:coreProperties>
</file>