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 id="270" r:id="rId15"/>
    <p:sldId id="271" r:id="rId16"/>
    <p:sldId id="272" r:id="rId17"/>
    <p:sldId id="273" r:id="rId18"/>
    <p:sldId id="274" r:id="rId19"/>
    <p:sldId id="275" r:id="rId20"/>
    <p:sldId id="287" r:id="rId21"/>
    <p:sldId id="286" r:id="rId22"/>
    <p:sldId id="285" r:id="rId23"/>
    <p:sldId id="284" r:id="rId24"/>
    <p:sldId id="283" r:id="rId25"/>
    <p:sldId id="282" r:id="rId26"/>
    <p:sldId id="281" r:id="rId27"/>
    <p:sldId id="280" r:id="rId28"/>
    <p:sldId id="279" r:id="rId29"/>
    <p:sldId id="278" r:id="rId30"/>
    <p:sldId id="277" r:id="rId31"/>
    <p:sldId id="276" r:id="rId32"/>
    <p:sldId id="288" r:id="rId33"/>
    <p:sldId id="289" r:id="rId34"/>
    <p:sldId id="290" r:id="rId35"/>
    <p:sldId id="29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3" autoAdjust="0"/>
  </p:normalViewPr>
  <p:slideViewPr>
    <p:cSldViewPr snapToGrid="0">
      <p:cViewPr>
        <p:scale>
          <a:sx n="66" d="100"/>
          <a:sy n="66" d="100"/>
        </p:scale>
        <p:origin x="1330" y="4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161-4715-B972-57458E76192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3A3-409D-8FD0-07DA69E7E61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33A3-409D-8FD0-07DA69E7E618}"/>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33A3-409D-8FD0-07DA69E7E618}"/>
              </c:ext>
            </c:extLst>
          </c:dPt>
          <c:cat>
            <c:strRef>
              <c:f>Sheet1!$A$2:$A$5</c:f>
              <c:strCache>
                <c:ptCount val="2"/>
                <c:pt idx="0">
                  <c:v>65.10%</c:v>
                </c:pt>
                <c:pt idx="1">
                  <c:v>2nd Qtr</c:v>
                </c:pt>
              </c:strCache>
            </c:strRef>
          </c:cat>
          <c:val>
            <c:numRef>
              <c:f>Sheet1!$B$2:$B$5</c:f>
              <c:numCache>
                <c:formatCode>0.00%</c:formatCode>
                <c:ptCount val="4"/>
                <c:pt idx="0">
                  <c:v>0.65100000000000002</c:v>
                </c:pt>
                <c:pt idx="1">
                  <c:v>0.34899999999999998</c:v>
                </c:pt>
              </c:numCache>
            </c:numRef>
          </c:val>
          <c:extLst>
            <c:ext xmlns:c16="http://schemas.microsoft.com/office/drawing/2014/chart" uri="{C3380CC4-5D6E-409C-BE32-E72D297353CC}">
              <c16:uniqueId val="{00000000-A161-4715-B972-57458E76192F}"/>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7CFFAB-B83B-4B28-98AC-C59912D06B91}"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1863EC-7D2C-45FB-ADC0-2686D35C13B3}" type="slidenum">
              <a:rPr lang="en-US" smtClean="0"/>
              <a:t>‹#›</a:t>
            </a:fld>
            <a:endParaRPr lang="en-US"/>
          </a:p>
        </p:txBody>
      </p:sp>
    </p:spTree>
    <p:extLst>
      <p:ext uri="{BB962C8B-B14F-4D97-AF65-F5344CB8AC3E}">
        <p14:creationId xmlns:p14="http://schemas.microsoft.com/office/powerpoint/2010/main" val="2738969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71863EC-7D2C-45FB-ADC0-2686D35C13B3}" type="slidenum">
              <a:rPr lang="en-US" smtClean="0"/>
              <a:t>3</a:t>
            </a:fld>
            <a:endParaRPr lang="en-US"/>
          </a:p>
        </p:txBody>
      </p:sp>
    </p:spTree>
    <p:extLst>
      <p:ext uri="{BB962C8B-B14F-4D97-AF65-F5344CB8AC3E}">
        <p14:creationId xmlns:p14="http://schemas.microsoft.com/office/powerpoint/2010/main" val="3794662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2/26/2026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7994799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2/26/2026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994176684"/>
      </p:ext>
    </p:extLst>
  </p:cSld>
  <p:clrMap bg1="lt1" tx1="dk1" bg2="lt2" tx2="dk2" accent1="accent1" accent2="accent2" accent3="accent3" accent4="accent4" accent5="accent5" accent6="accent6" hlink="hlink" folHlink="folHlink"/>
  <p:sldLayoutIdLst>
    <p:sldLayoutId id="2147483699" r:id="rId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3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8853E00-21A1-F497-714F-8841E997C1A3}"/>
              </a:ext>
            </a:extLst>
          </p:cNvPr>
          <p:cNvPicPr>
            <a:picLocks noChangeAspect="1"/>
          </p:cNvPicPr>
          <p:nvPr/>
        </p:nvPicPr>
        <p:blipFill>
          <a:blip r:embed="rId2">
            <a:alphaModFix amt="60000"/>
          </a:blip>
          <a:srcRect t="4819" b="4819"/>
          <a:stretch>
            <a:fillRect/>
          </a:stretch>
        </p:blipFill>
        <p:spPr>
          <a:xfrm>
            <a:off x="1" y="1"/>
            <a:ext cx="12192000" cy="6857999"/>
          </a:xfrm>
          <a:prstGeom prst="rect">
            <a:avLst/>
          </a:prstGeom>
        </p:spPr>
      </p:pic>
      <p:sp>
        <p:nvSpPr>
          <p:cNvPr id="2" name="Title 1">
            <a:extLst>
              <a:ext uri="{FF2B5EF4-FFF2-40B4-BE49-F238E27FC236}">
                <a16:creationId xmlns:a16="http://schemas.microsoft.com/office/drawing/2014/main" id="{5600F004-59AA-9870-BE9D-1155AE152FF1}"/>
              </a:ext>
            </a:extLst>
          </p:cNvPr>
          <p:cNvSpPr>
            <a:spLocks noGrp="1"/>
          </p:cNvSpPr>
          <p:nvPr>
            <p:ph type="ctrTitle"/>
          </p:nvPr>
        </p:nvSpPr>
        <p:spPr>
          <a:xfrm>
            <a:off x="1760136" y="1491356"/>
            <a:ext cx="8978984" cy="3913764"/>
          </a:xfrm>
        </p:spPr>
        <p:txBody>
          <a:bodyPr>
            <a:noAutofit/>
          </a:bodyPr>
          <a:lstStyle/>
          <a:p>
            <a:r>
              <a:rPr lang="vi-VN" sz="5400">
                <a:solidFill>
                  <a:srgbClr val="FFFFFF"/>
                </a:solidFill>
                <a:latin typeface="Sans-serif"/>
              </a:rPr>
              <a:t>ỨNG DỤNG MÁY HỌC TRONG BỆNH TIỂU ĐƯỜNG</a:t>
            </a:r>
            <a:br>
              <a:rPr lang="vi-VN" sz="5400">
                <a:solidFill>
                  <a:srgbClr val="FFFFFF"/>
                </a:solidFill>
                <a:latin typeface="Sans-serif"/>
              </a:rPr>
            </a:br>
            <a:br>
              <a:rPr lang="vi-VN" sz="5400">
                <a:solidFill>
                  <a:srgbClr val="FFFFFF"/>
                </a:solidFill>
                <a:latin typeface="Sans-serif"/>
              </a:rPr>
            </a:br>
            <a:r>
              <a:rPr lang="vi-VN" sz="4400">
                <a:solidFill>
                  <a:srgbClr val="FFFFFF"/>
                </a:solidFill>
                <a:latin typeface="Sans-serif"/>
              </a:rPr>
              <a:t>RÚT TRÍCH VÀ TIỀN XỬ LÝ DỮ LIỆU</a:t>
            </a:r>
            <a:br>
              <a:rPr lang="en-US" sz="5400">
                <a:solidFill>
                  <a:srgbClr val="FFFFFF"/>
                </a:solidFill>
                <a:latin typeface="Sans-serif"/>
              </a:rPr>
            </a:br>
            <a:endParaRPr lang="en-US" sz="5400">
              <a:solidFill>
                <a:srgbClr val="FFFFFF"/>
              </a:solidFill>
              <a:latin typeface="Sans-serif"/>
            </a:endParaRPr>
          </a:p>
        </p:txBody>
      </p:sp>
    </p:spTree>
    <p:extLst>
      <p:ext uri="{BB962C8B-B14F-4D97-AF65-F5344CB8AC3E}">
        <p14:creationId xmlns:p14="http://schemas.microsoft.com/office/powerpoint/2010/main" val="171298762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95CBB1-6CC9-6700-C5BC-5D32922831E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1214DCF-2148-C8BA-5D54-840CE537F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09E8976-E9D4-9145-00BD-E9A9C00B9C6C}"/>
              </a:ext>
            </a:extLst>
          </p:cNvPr>
          <p:cNvSpPr txBox="1"/>
          <p:nvPr/>
        </p:nvSpPr>
        <p:spPr>
          <a:xfrm>
            <a:off x="0" y="0"/>
            <a:ext cx="12192000" cy="584775"/>
          </a:xfrm>
          <a:prstGeom prst="rect">
            <a:avLst/>
          </a:prstGeom>
          <a:solidFill>
            <a:srgbClr val="FFFF00"/>
          </a:solidFill>
        </p:spPr>
        <p:txBody>
          <a:bodyPr wrap="square" rtlCol="0">
            <a:spAutoFit/>
          </a:bodyPr>
          <a:lstStyle/>
          <a:p>
            <a:r>
              <a:rPr lang="vi-VN" sz="3200">
                <a:solidFill>
                  <a:schemeClr val="bg1"/>
                </a:solidFill>
                <a:latin typeface="Sans-serif"/>
              </a:rPr>
              <a:t>TỔNG QUAN VẤN ĐỀ BÀI TOÁN</a:t>
            </a:r>
            <a:endParaRPr lang="en-US" sz="3200">
              <a:solidFill>
                <a:schemeClr val="bg1"/>
              </a:solidFill>
              <a:latin typeface="Sans-serif"/>
            </a:endParaRPr>
          </a:p>
        </p:txBody>
      </p:sp>
      <p:sp>
        <p:nvSpPr>
          <p:cNvPr id="8" name="Rectangle 1">
            <a:extLst>
              <a:ext uri="{FF2B5EF4-FFF2-40B4-BE49-F238E27FC236}">
                <a16:creationId xmlns:a16="http://schemas.microsoft.com/office/drawing/2014/main" id="{6C17609B-4F9D-EAA5-F1E1-0FD17BE69D73}"/>
              </a:ext>
            </a:extLst>
          </p:cNvPr>
          <p:cNvSpPr>
            <a:spLocks noGrp="1" noChangeArrowheads="1"/>
          </p:cNvSpPr>
          <p:nvPr>
            <p:ph type="ctrTitle"/>
          </p:nvPr>
        </p:nvSpPr>
        <p:spPr bwMode="auto">
          <a:xfrm>
            <a:off x="94291" y="474345"/>
            <a:ext cx="12003417" cy="6494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algn="l" eaLnBrk="0" fontAlgn="base" hangingPunct="0">
              <a:lnSpc>
                <a:spcPct val="100000"/>
              </a:lnSpc>
              <a:spcAft>
                <a:spcPct val="0"/>
              </a:spcAft>
              <a:buFont typeface="Arial" panose="020B0604020202020204" pitchFamily="34" charset="0"/>
              <a:buChar char="•"/>
            </a:pPr>
            <a:r>
              <a:rPr kumimoji="0" lang="vi-VN" altLang="en-US" sz="3200" b="1" i="0" u="none" strike="noStrike" cap="none" normalizeH="0" baseline="0">
                <a:ln>
                  <a:noFill/>
                </a:ln>
                <a:solidFill>
                  <a:schemeClr val="tx1"/>
                </a:solidFill>
                <a:effectLst/>
                <a:latin typeface="Sans-serif"/>
              </a:rPr>
              <a:t>Bối cảnh</a:t>
            </a:r>
            <a:r>
              <a:rPr kumimoji="0" lang="en-US" altLang="en-US" sz="3200" b="1" i="0" u="none" strike="noStrike" cap="none" normalizeH="0" baseline="0">
                <a:ln>
                  <a:noFill/>
                </a:ln>
                <a:solidFill>
                  <a:schemeClr val="tx1"/>
                </a:solidFill>
                <a:effectLst/>
                <a:latin typeface="Sans-serif"/>
              </a:rPr>
              <a:t>:</a:t>
            </a:r>
            <a:r>
              <a:rPr kumimoji="0" lang="en-US" altLang="en-US" sz="3200" b="0" i="0" u="none" strike="noStrike" cap="none" normalizeH="0" baseline="0">
                <a:ln>
                  <a:noFill/>
                </a:ln>
                <a:solidFill>
                  <a:schemeClr val="tx1"/>
                </a:solidFill>
                <a:effectLst/>
                <a:latin typeface="Sans-serif"/>
              </a:rPr>
              <a:t> </a:t>
            </a:r>
            <a:r>
              <a:rPr lang="vi-VN" sz="3200">
                <a:latin typeface="Sans-serif"/>
              </a:rPr>
              <a:t>Một rối loạn chuyển hóa mãn tính đặc trưng bởi tình trạng tăng glucose máu kéo dài, bắt nguồn từ thiếu insulin hoặc đề kháng insulin ở mô ngoại vi.</a:t>
            </a:r>
            <a:endParaRPr kumimoji="0" lang="en-US" altLang="en-US" sz="3200" b="0" i="0" u="none" strike="noStrike" cap="none" normalizeH="0" baseline="0">
              <a:ln>
                <a:noFill/>
              </a:ln>
              <a:solidFill>
                <a:schemeClr val="tx1"/>
              </a:solidFill>
              <a:effectLst/>
              <a:latin typeface="Sans-serif"/>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b="1" i="0" u="none" strike="noStrike" cap="none" normalizeH="0" baseline="0">
                <a:ln>
                  <a:noFill/>
                </a:ln>
                <a:solidFill>
                  <a:schemeClr val="tx1"/>
                </a:solidFill>
                <a:effectLst/>
                <a:latin typeface="Sans-serif"/>
              </a:rPr>
              <a:t>Dữ liệu thực nghiệm:</a:t>
            </a:r>
            <a:r>
              <a:rPr kumimoji="0" lang="en-US" altLang="en-US" sz="3200" b="0" i="0" u="none" strike="noStrike" cap="none" normalizeH="0" baseline="0">
                <a:ln>
                  <a:noFill/>
                </a:ln>
                <a:solidFill>
                  <a:schemeClr val="tx1"/>
                </a:solidFill>
                <a:effectLst/>
                <a:latin typeface="Sans-serif"/>
              </a:rPr>
              <a:t> Sử dụng bộ dữ liệu kinh điển </a:t>
            </a:r>
            <a:r>
              <a:rPr kumimoji="0" lang="en-US" altLang="en-US" sz="3200" b="1" i="0" u="none" strike="noStrike" cap="none" normalizeH="0" baseline="0">
                <a:ln>
                  <a:noFill/>
                </a:ln>
                <a:solidFill>
                  <a:schemeClr val="tx1"/>
                </a:solidFill>
                <a:effectLst/>
                <a:latin typeface="Sans-serif"/>
              </a:rPr>
              <a:t>Pima Indians Diabetes</a:t>
            </a:r>
            <a:r>
              <a:rPr kumimoji="0" lang="en-US" altLang="en-US" sz="3200" b="0" i="0" u="none" strike="noStrike" cap="none" normalizeH="0" baseline="0">
                <a:ln>
                  <a:noFill/>
                </a:ln>
                <a:solidFill>
                  <a:schemeClr val="tx1"/>
                </a:solidFill>
                <a:effectLst/>
                <a:latin typeface="Sans-serif"/>
              </a:rPr>
              <a:t> gồm các thông tin lâm sàng của phụ </a:t>
            </a:r>
            <a:br>
              <a:rPr kumimoji="0" lang="vi-VN" altLang="en-US" sz="3200" b="0" i="0" u="none" strike="noStrike" cap="none" normalizeH="0" baseline="0">
                <a:ln>
                  <a:noFill/>
                </a:ln>
                <a:solidFill>
                  <a:schemeClr val="tx1"/>
                </a:solidFill>
                <a:effectLst/>
                <a:latin typeface="Sans-serif"/>
              </a:rPr>
            </a:br>
            <a:r>
              <a:rPr kumimoji="0" lang="en-US" altLang="en-US" sz="3200" b="0" i="0" u="none" strike="noStrike" cap="none" normalizeH="0" baseline="0">
                <a:ln>
                  <a:noFill/>
                </a:ln>
                <a:solidFill>
                  <a:schemeClr val="tx1"/>
                </a:solidFill>
                <a:effectLst/>
                <a:latin typeface="Sans-serif"/>
              </a:rPr>
              <a:t>nữ người Mỹ bản địa Pima.</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b="1" i="0" u="none" strike="noStrike" cap="none" normalizeH="0" baseline="0">
                <a:ln>
                  <a:noFill/>
                </a:ln>
                <a:solidFill>
                  <a:schemeClr val="tx1"/>
                </a:solidFill>
                <a:effectLst/>
                <a:latin typeface="Sans-serif"/>
              </a:rPr>
              <a:t>Mục </a:t>
            </a:r>
            <a:r>
              <a:rPr kumimoji="0" lang="en-US" altLang="en-US" sz="3200" b="1" i="0" u="none" strike="noStrike" cap="none" normalizeH="0" baseline="0" err="1">
                <a:ln>
                  <a:noFill/>
                </a:ln>
                <a:solidFill>
                  <a:schemeClr val="tx1"/>
                </a:solidFill>
                <a:effectLst/>
                <a:latin typeface="Sans-serif"/>
              </a:rPr>
              <a:t>tiêu</a:t>
            </a:r>
            <a:r>
              <a:rPr kumimoji="0" lang="en-US" altLang="en-US" sz="3200" b="1" i="0" u="none" strike="noStrike" cap="none" normalizeH="0" baseline="0">
                <a:ln>
                  <a:noFill/>
                </a:ln>
                <a:solidFill>
                  <a:schemeClr val="tx1"/>
                </a:solidFill>
                <a:effectLst/>
                <a:latin typeface="Sans-serif"/>
              </a:rPr>
              <a:t> </a:t>
            </a:r>
            <a:r>
              <a:rPr kumimoji="0" lang="en-US" altLang="en-US" sz="3200" b="1" i="0" u="none" strike="noStrike" cap="none" normalizeH="0" baseline="0" err="1">
                <a:ln>
                  <a:noFill/>
                </a:ln>
                <a:solidFill>
                  <a:schemeClr val="tx1"/>
                </a:solidFill>
                <a:effectLst/>
                <a:latin typeface="Sans-serif"/>
              </a:rPr>
              <a:t>chính</a:t>
            </a:r>
            <a:r>
              <a:rPr kumimoji="0" lang="en-US" altLang="en-US" sz="3200" b="1" i="0" u="none" strike="noStrike" cap="none" normalizeH="0" baseline="0">
                <a:ln>
                  <a:noFill/>
                </a:ln>
                <a:solidFill>
                  <a:schemeClr val="tx1"/>
                </a:solidFill>
                <a:effectLst/>
                <a:latin typeface="Sans-serif"/>
              </a:rPr>
              <a:t>:</a:t>
            </a:r>
            <a:endParaRPr kumimoji="0" lang="en-US" altLang="en-US" sz="3200" b="0" i="0" u="none" strike="noStrike" cap="none" normalizeH="0" baseline="0">
              <a:ln>
                <a:noFill/>
              </a:ln>
              <a:solidFill>
                <a:schemeClr val="tx1"/>
              </a:solidFill>
              <a:effectLst/>
              <a:latin typeface="Sans-serif"/>
            </a:endParaRPr>
          </a:p>
          <a:p>
            <a:pPr marL="457200" marR="0" lvl="0" indent="-457200" algn="l" defTabSz="914400" rtl="0" eaLnBrk="0" fontAlgn="base" latinLnBrk="0" hangingPunct="0">
              <a:lnSpc>
                <a:spcPct val="100000"/>
              </a:lnSpc>
              <a:spcBef>
                <a:spcPct val="0"/>
              </a:spcBef>
              <a:spcAft>
                <a:spcPct val="0"/>
              </a:spcAft>
              <a:buClrTx/>
              <a:buSzTx/>
              <a:buFont typeface="STZhongsong" panose="02010600040101010101" pitchFamily="2" charset="-122"/>
              <a:buChar char="-"/>
              <a:tabLst/>
            </a:pPr>
            <a:r>
              <a:rPr kumimoji="0" lang="en-US" altLang="en-US" sz="3200" b="0" i="0" u="none" strike="noStrike" cap="none" normalizeH="0" baseline="0" err="1">
                <a:ln>
                  <a:noFill/>
                </a:ln>
                <a:solidFill>
                  <a:schemeClr val="tx1"/>
                </a:solidFill>
                <a:effectLst/>
                <a:latin typeface="Sans-serif"/>
              </a:rPr>
              <a:t>Xác</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định</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các</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yếu</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tố</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nguy</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cơ</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quan</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trọng</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nhất</a:t>
            </a:r>
            <a:r>
              <a:rPr kumimoji="0" lang="en-US" altLang="en-US" sz="3200" b="0" i="0" u="none" strike="noStrike" cap="none" normalizeH="0" baseline="0">
                <a:ln>
                  <a:noFill/>
                </a:ln>
                <a:solidFill>
                  <a:schemeClr val="tx1"/>
                </a:solidFill>
                <a:effectLst/>
                <a:latin typeface="Sans-serif"/>
              </a:rPr>
              <a:t> (Glucose, BMI, </a:t>
            </a:r>
            <a:r>
              <a:rPr kumimoji="0" lang="en-US" altLang="en-US" sz="3200" b="0" i="0" u="none" strike="noStrike" cap="none" normalizeH="0" baseline="0" err="1">
                <a:ln>
                  <a:noFill/>
                </a:ln>
                <a:solidFill>
                  <a:schemeClr val="tx1"/>
                </a:solidFill>
                <a:effectLst/>
                <a:latin typeface="Sans-serif"/>
              </a:rPr>
              <a:t>Tuổi</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thông</a:t>
            </a:r>
            <a:r>
              <a:rPr kumimoji="0" lang="en-US" altLang="en-US" sz="3200" b="0" i="0" u="none" strike="noStrike" cap="none" normalizeH="0" baseline="0">
                <a:ln>
                  <a:noFill/>
                </a:ln>
                <a:solidFill>
                  <a:schemeClr val="tx1"/>
                </a:solidFill>
                <a:effectLst/>
                <a:latin typeface="Sans-serif"/>
              </a:rPr>
              <a:t> qua </a:t>
            </a:r>
            <a:r>
              <a:rPr kumimoji="0" lang="en-US" altLang="en-US" sz="3200" b="0" i="0" u="none" strike="noStrike" cap="none" normalizeH="0" baseline="0" err="1">
                <a:ln>
                  <a:noFill/>
                </a:ln>
                <a:solidFill>
                  <a:schemeClr val="tx1"/>
                </a:solidFill>
                <a:effectLst/>
                <a:latin typeface="Sans-serif"/>
              </a:rPr>
              <a:t>phân</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tích</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thống</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kê</a:t>
            </a:r>
            <a:r>
              <a:rPr kumimoji="0" lang="en-US" altLang="en-US" sz="3200" b="0" i="0" u="none" strike="noStrike" cap="none" normalizeH="0" baseline="0">
                <a:ln>
                  <a:noFill/>
                </a:ln>
                <a:solidFill>
                  <a:schemeClr val="tx1"/>
                </a:solidFill>
                <a:effectLst/>
                <a:latin typeface="Sans-serif"/>
              </a:rPr>
              <a:t>.</a:t>
            </a:r>
          </a:p>
          <a:p>
            <a:pPr marL="457200" marR="0" lvl="0" indent="-457200" algn="l" defTabSz="914400" rtl="0" eaLnBrk="0" fontAlgn="base" latinLnBrk="0" hangingPunct="0">
              <a:lnSpc>
                <a:spcPct val="100000"/>
              </a:lnSpc>
              <a:spcBef>
                <a:spcPct val="0"/>
              </a:spcBef>
              <a:spcAft>
                <a:spcPct val="0"/>
              </a:spcAft>
              <a:buClrTx/>
              <a:buSzTx/>
              <a:buFont typeface="STZhongsong" panose="02010600040101010101" pitchFamily="2" charset="-122"/>
              <a:buChar char="-"/>
              <a:tabLst/>
            </a:pPr>
            <a:r>
              <a:rPr kumimoji="0" lang="en-US" altLang="en-US" sz="3200" b="0" i="0" u="none" strike="noStrike" cap="none" normalizeH="0" baseline="0" err="1">
                <a:ln>
                  <a:noFill/>
                </a:ln>
                <a:solidFill>
                  <a:schemeClr val="tx1"/>
                </a:solidFill>
                <a:effectLst/>
                <a:latin typeface="Sans-serif"/>
              </a:rPr>
              <a:t>Xây</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dựng</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mô</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hình</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dự</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đoán</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khả</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năng</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mắc</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bệnh</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để</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hỗ</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trợ</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phát</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hiện</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sớm</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và</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ngăn</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ngừa</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biến</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chứng</a:t>
            </a:r>
            <a:r>
              <a:rPr kumimoji="0" lang="en-US" altLang="en-US" sz="3200" b="0" i="0" u="none" strike="noStrike" cap="none" normalizeH="0" baseline="0">
                <a:ln>
                  <a:noFill/>
                </a:ln>
                <a:solidFill>
                  <a:schemeClr val="tx1"/>
                </a:solidFill>
                <a:effectLst/>
                <a:latin typeface="Sans-serif"/>
              </a:rPr>
              <a:t>.</a:t>
            </a:r>
          </a:p>
          <a:p>
            <a:pPr marL="457200" marR="0" lvl="0" indent="-457200" algn="l" defTabSz="914400" rtl="0" eaLnBrk="0" fontAlgn="base" latinLnBrk="0" hangingPunct="0">
              <a:lnSpc>
                <a:spcPct val="100000"/>
              </a:lnSpc>
              <a:spcBef>
                <a:spcPct val="0"/>
              </a:spcBef>
              <a:spcAft>
                <a:spcPct val="0"/>
              </a:spcAft>
              <a:buClrTx/>
              <a:buSzTx/>
              <a:buFont typeface="STZhongsong" panose="02010600040101010101" pitchFamily="2" charset="-122"/>
              <a:buChar char="-"/>
              <a:tabLst/>
            </a:pPr>
            <a:r>
              <a:rPr kumimoji="0" lang="en-US" altLang="en-US" sz="3200" b="1" i="0" u="none" strike="noStrike" cap="none" normalizeH="0" baseline="0" err="1">
                <a:ln>
                  <a:noFill/>
                </a:ln>
                <a:solidFill>
                  <a:schemeClr val="tx1"/>
                </a:solidFill>
                <a:effectLst/>
                <a:latin typeface="Sans-serif"/>
              </a:rPr>
              <a:t>Yêu</a:t>
            </a:r>
            <a:r>
              <a:rPr kumimoji="0" lang="en-US" altLang="en-US" sz="3200" b="1" i="0" u="none" strike="noStrike" cap="none" normalizeH="0" baseline="0">
                <a:ln>
                  <a:noFill/>
                </a:ln>
                <a:solidFill>
                  <a:schemeClr val="tx1"/>
                </a:solidFill>
                <a:effectLst/>
                <a:latin typeface="Sans-serif"/>
              </a:rPr>
              <a:t> </a:t>
            </a:r>
            <a:r>
              <a:rPr kumimoji="0" lang="en-US" altLang="en-US" sz="3200" b="1" i="0" u="none" strike="noStrike" cap="none" normalizeH="0" baseline="0" err="1">
                <a:ln>
                  <a:noFill/>
                </a:ln>
                <a:solidFill>
                  <a:schemeClr val="tx1"/>
                </a:solidFill>
                <a:effectLst/>
                <a:latin typeface="Sans-serif"/>
              </a:rPr>
              <a:t>cầu</a:t>
            </a:r>
            <a:r>
              <a:rPr kumimoji="0" lang="en-US" altLang="en-US" sz="3200" b="1" i="0" u="none" strike="noStrike" cap="none" normalizeH="0" baseline="0">
                <a:ln>
                  <a:noFill/>
                </a:ln>
                <a:solidFill>
                  <a:schemeClr val="tx1"/>
                </a:solidFill>
                <a:effectLst/>
                <a:latin typeface="Sans-serif"/>
              </a:rPr>
              <a:t> </a:t>
            </a:r>
            <a:r>
              <a:rPr kumimoji="0" lang="en-US" altLang="en-US" sz="3200" b="1" i="0" u="none" strike="noStrike" cap="none" normalizeH="0" baseline="0" err="1">
                <a:ln>
                  <a:noFill/>
                </a:ln>
                <a:solidFill>
                  <a:schemeClr val="tx1"/>
                </a:solidFill>
                <a:effectLst/>
                <a:latin typeface="Sans-serif"/>
              </a:rPr>
              <a:t>kỹ</a:t>
            </a:r>
            <a:r>
              <a:rPr kumimoji="0" lang="en-US" altLang="en-US" sz="3200" b="1" i="0" u="none" strike="noStrike" cap="none" normalizeH="0" baseline="0">
                <a:ln>
                  <a:noFill/>
                </a:ln>
                <a:solidFill>
                  <a:schemeClr val="tx1"/>
                </a:solidFill>
                <a:effectLst/>
                <a:latin typeface="Sans-serif"/>
              </a:rPr>
              <a:t> </a:t>
            </a:r>
            <a:r>
              <a:rPr kumimoji="0" lang="en-US" altLang="en-US" sz="3200" b="1" i="0" u="none" strike="noStrike" cap="none" normalizeH="0" baseline="0" err="1">
                <a:ln>
                  <a:noFill/>
                </a:ln>
                <a:solidFill>
                  <a:schemeClr val="tx1"/>
                </a:solidFill>
                <a:effectLst/>
                <a:latin typeface="Sans-serif"/>
              </a:rPr>
              <a:t>thuật</a:t>
            </a:r>
            <a:r>
              <a:rPr kumimoji="0" lang="en-US" altLang="en-US" sz="3200" b="1" i="0" u="none" strike="noStrike" cap="none" normalizeH="0" baseline="0">
                <a:ln>
                  <a:noFill/>
                </a:ln>
                <a:solidFill>
                  <a:schemeClr val="tx1"/>
                </a:solidFill>
                <a:effectLst/>
                <a:latin typeface="Sans-serif"/>
              </a:rPr>
              <a:t>:</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Thực</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hiện</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quy</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trình</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rút</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trích</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và</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tiền</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xử</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lý</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dữ</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liệu</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cho</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bài</a:t>
            </a:r>
            <a:r>
              <a:rPr kumimoji="0" lang="en-US" altLang="en-US" sz="3200" b="0" i="0" u="none" strike="noStrike" cap="none" normalizeH="0" baseline="0">
                <a:ln>
                  <a:noFill/>
                </a:ln>
                <a:solidFill>
                  <a:schemeClr val="tx1"/>
                </a:solidFill>
                <a:effectLst/>
                <a:latin typeface="Sans-serif"/>
              </a:rPr>
              <a:t> </a:t>
            </a:r>
            <a:r>
              <a:rPr kumimoji="0" lang="en-US" altLang="en-US" sz="3200" b="0" i="0" u="none" strike="noStrike" cap="none" normalizeH="0" baseline="0" err="1">
                <a:ln>
                  <a:noFill/>
                </a:ln>
                <a:solidFill>
                  <a:schemeClr val="tx1"/>
                </a:solidFill>
                <a:effectLst/>
                <a:latin typeface="Sans-serif"/>
              </a:rPr>
              <a:t>toán</a:t>
            </a:r>
            <a:r>
              <a:rPr kumimoji="0" lang="en-US" altLang="en-US" sz="3200" b="0" i="0" u="none" strike="noStrike" cap="none" normalizeH="0" baseline="0">
                <a:ln>
                  <a:noFill/>
                </a:ln>
                <a:solidFill>
                  <a:schemeClr val="tx1"/>
                </a:solidFill>
                <a:effectLst/>
                <a:latin typeface="Sans-serif"/>
              </a:rPr>
              <a:t> </a:t>
            </a:r>
            <a:r>
              <a:rPr kumimoji="0" lang="en-US" altLang="en-US" sz="3200" b="1" i="0" u="none" strike="noStrike" cap="none" normalizeH="0" baseline="0" err="1">
                <a:ln>
                  <a:noFill/>
                </a:ln>
                <a:solidFill>
                  <a:schemeClr val="tx1"/>
                </a:solidFill>
                <a:effectLst/>
                <a:latin typeface="Sans-serif"/>
              </a:rPr>
              <a:t>Phân</a:t>
            </a:r>
            <a:r>
              <a:rPr kumimoji="0" lang="en-US" altLang="en-US" sz="3200" b="1" i="0" u="none" strike="noStrike" cap="none" normalizeH="0" baseline="0">
                <a:ln>
                  <a:noFill/>
                </a:ln>
                <a:solidFill>
                  <a:schemeClr val="tx1"/>
                </a:solidFill>
                <a:effectLst/>
                <a:latin typeface="Sans-serif"/>
              </a:rPr>
              <a:t> </a:t>
            </a:r>
            <a:r>
              <a:rPr kumimoji="0" lang="en-US" altLang="en-US" sz="3200" b="1" i="0" u="none" strike="noStrike" cap="none" normalizeH="0" baseline="0" err="1">
                <a:ln>
                  <a:noFill/>
                </a:ln>
                <a:solidFill>
                  <a:schemeClr val="tx1"/>
                </a:solidFill>
                <a:effectLst/>
                <a:latin typeface="Sans-serif"/>
              </a:rPr>
              <a:t>lớp</a:t>
            </a:r>
            <a:r>
              <a:rPr kumimoji="0" lang="en-US" altLang="en-US" sz="3200" b="1" i="0" u="none" strike="noStrike" cap="none" normalizeH="0" baseline="0">
                <a:ln>
                  <a:noFill/>
                </a:ln>
                <a:solidFill>
                  <a:schemeClr val="tx1"/>
                </a:solidFill>
                <a:effectLst/>
                <a:latin typeface="Sans-serif"/>
              </a:rPr>
              <a:t> (Classification)</a:t>
            </a:r>
            <a:endParaRPr kumimoji="0" lang="en-US" altLang="en-US" sz="3200" b="0" i="0" u="none" strike="noStrike" cap="none" normalizeH="0" baseline="0">
              <a:ln>
                <a:noFill/>
              </a:ln>
              <a:solidFill>
                <a:schemeClr val="tx1"/>
              </a:solidFill>
              <a:effectLst/>
              <a:latin typeface="Sans-serif"/>
            </a:endParaRPr>
          </a:p>
        </p:txBody>
      </p:sp>
    </p:spTree>
    <p:extLst>
      <p:ext uri="{BB962C8B-B14F-4D97-AF65-F5344CB8AC3E}">
        <p14:creationId xmlns:p14="http://schemas.microsoft.com/office/powerpoint/2010/main" val="2639853615"/>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4B8EDD-03B1-F156-2C80-95FA5D543C22}"/>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21F13C3-658C-DEF0-60C0-AD7D18EC9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394E400-91FE-82A8-982D-339DE41CD069}"/>
              </a:ext>
            </a:extLst>
          </p:cNvPr>
          <p:cNvSpPr txBox="1"/>
          <p:nvPr/>
        </p:nvSpPr>
        <p:spPr>
          <a:xfrm>
            <a:off x="0" y="0"/>
            <a:ext cx="12192000" cy="584775"/>
          </a:xfrm>
          <a:prstGeom prst="rect">
            <a:avLst/>
          </a:prstGeom>
          <a:solidFill>
            <a:srgbClr val="FFFF00"/>
          </a:solidFill>
        </p:spPr>
        <p:txBody>
          <a:bodyPr wrap="square" rtlCol="0">
            <a:spAutoFit/>
          </a:bodyPr>
          <a:lstStyle/>
          <a:p>
            <a:r>
              <a:rPr lang="vi-VN" sz="3200">
                <a:solidFill>
                  <a:schemeClr val="bg1"/>
                </a:solidFill>
                <a:latin typeface="Sans-serif"/>
              </a:rPr>
              <a:t>GIỚI THIỆU BỘ DỮ LIỆU PIMA INDIANS</a:t>
            </a:r>
            <a:endParaRPr lang="en-US" sz="3200">
              <a:solidFill>
                <a:schemeClr val="bg1"/>
              </a:solidFill>
              <a:latin typeface="Sans-serif"/>
            </a:endParaRPr>
          </a:p>
        </p:txBody>
      </p:sp>
      <p:pic>
        <p:nvPicPr>
          <p:cNvPr id="3" name="Picture 2">
            <a:extLst>
              <a:ext uri="{FF2B5EF4-FFF2-40B4-BE49-F238E27FC236}">
                <a16:creationId xmlns:a16="http://schemas.microsoft.com/office/drawing/2014/main" id="{C24EC8DD-9AF7-EA5C-B2AB-8FC36ABABC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71" y="848590"/>
            <a:ext cx="548981" cy="548981"/>
          </a:xfrm>
          <a:prstGeom prst="rect">
            <a:avLst/>
          </a:prstGeom>
        </p:spPr>
      </p:pic>
      <p:sp>
        <p:nvSpPr>
          <p:cNvPr id="4" name="TextBox 3">
            <a:extLst>
              <a:ext uri="{FF2B5EF4-FFF2-40B4-BE49-F238E27FC236}">
                <a16:creationId xmlns:a16="http://schemas.microsoft.com/office/drawing/2014/main" id="{0A24E95E-9BA6-E868-1C60-0CE3F3FB0E6C}"/>
              </a:ext>
            </a:extLst>
          </p:cNvPr>
          <p:cNvSpPr txBox="1"/>
          <p:nvPr/>
        </p:nvSpPr>
        <p:spPr>
          <a:xfrm>
            <a:off x="844952" y="814796"/>
            <a:ext cx="4861367" cy="707886"/>
          </a:xfrm>
          <a:prstGeom prst="rect">
            <a:avLst/>
          </a:prstGeom>
          <a:noFill/>
        </p:spPr>
        <p:txBody>
          <a:bodyPr wrap="square" rtlCol="0">
            <a:spAutoFit/>
          </a:bodyPr>
          <a:lstStyle/>
          <a:p>
            <a:r>
              <a:rPr lang="vi-VN" sz="4000">
                <a:solidFill>
                  <a:srgbClr val="FFFF00"/>
                </a:solidFill>
                <a:latin typeface="Sans-serif"/>
              </a:rPr>
              <a:t>Nguồn gốc bộ dữ liệu</a:t>
            </a:r>
            <a:endParaRPr lang="en-US" sz="4000">
              <a:solidFill>
                <a:srgbClr val="FFFF00"/>
              </a:solidFill>
              <a:latin typeface="Sans-serif"/>
            </a:endParaRPr>
          </a:p>
        </p:txBody>
      </p:sp>
      <p:sp>
        <p:nvSpPr>
          <p:cNvPr id="5" name="TextBox 4">
            <a:extLst>
              <a:ext uri="{FF2B5EF4-FFF2-40B4-BE49-F238E27FC236}">
                <a16:creationId xmlns:a16="http://schemas.microsoft.com/office/drawing/2014/main" id="{611680B0-7D41-8F36-2DBB-38C05D2E9528}"/>
              </a:ext>
            </a:extLst>
          </p:cNvPr>
          <p:cNvSpPr txBox="1"/>
          <p:nvPr/>
        </p:nvSpPr>
        <p:spPr>
          <a:xfrm>
            <a:off x="844952" y="1661386"/>
            <a:ext cx="9572263" cy="2677656"/>
          </a:xfrm>
          <a:prstGeom prst="rect">
            <a:avLst/>
          </a:prstGeom>
          <a:noFill/>
        </p:spPr>
        <p:txBody>
          <a:bodyPr wrap="square" rtlCol="0">
            <a:spAutoFit/>
          </a:bodyPr>
          <a:lstStyle/>
          <a:p>
            <a:pPr marL="457200" indent="-457200">
              <a:buFont typeface="Arial" panose="020B0604020202020204" pitchFamily="34" charset="0"/>
              <a:buChar char="•"/>
            </a:pPr>
            <a:r>
              <a:rPr lang="vi-VN" sz="2800">
                <a:latin typeface="Sans-serif"/>
              </a:rPr>
              <a:t>Thu thập bởi Viện Quốc gia về Bệnh tiểu đường và Bệnh tiêu hóa và Thận (NIDDK) vào những năm 1990.</a:t>
            </a:r>
          </a:p>
          <a:p>
            <a:pPr marL="457200" indent="-457200">
              <a:buFont typeface="Arial" panose="020B0604020202020204" pitchFamily="34" charset="0"/>
              <a:buChar char="•"/>
            </a:pPr>
            <a:r>
              <a:rPr lang="vi-VN" sz="2800">
                <a:latin typeface="Sans-serif"/>
              </a:rPr>
              <a:t>768 bản ghi, mỗi bản ghi đại diện cho một phụ nữ người Pima Indians từ 21 tuổi trở lên.</a:t>
            </a:r>
          </a:p>
          <a:p>
            <a:pPr marL="457200" indent="-457200">
              <a:buFont typeface="Arial" panose="020B0604020202020204" pitchFamily="34" charset="0"/>
              <a:buChar char="•"/>
            </a:pPr>
            <a:r>
              <a:rPr lang="vi-VN" sz="2800">
                <a:latin typeface="Sans-serif"/>
              </a:rPr>
              <a:t>Người Pima Indians có tỷ lệ mắc bệnh đái tháo đường cao nhất thế giới</a:t>
            </a:r>
            <a:endParaRPr lang="en-US" sz="2800">
              <a:latin typeface="Sans-serif"/>
            </a:endParaRPr>
          </a:p>
        </p:txBody>
      </p:sp>
      <p:pic>
        <p:nvPicPr>
          <p:cNvPr id="9" name="Picture 8">
            <a:extLst>
              <a:ext uri="{FF2B5EF4-FFF2-40B4-BE49-F238E27FC236}">
                <a16:creationId xmlns:a16="http://schemas.microsoft.com/office/drawing/2014/main" id="{D2263CD6-2ED7-8F96-DAB6-2D61EACBF3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693" y="4077128"/>
            <a:ext cx="887949" cy="887949"/>
          </a:xfrm>
          <a:prstGeom prst="rect">
            <a:avLst/>
          </a:prstGeom>
        </p:spPr>
      </p:pic>
      <p:sp>
        <p:nvSpPr>
          <p:cNvPr id="10" name="TextBox 9">
            <a:extLst>
              <a:ext uri="{FF2B5EF4-FFF2-40B4-BE49-F238E27FC236}">
                <a16:creationId xmlns:a16="http://schemas.microsoft.com/office/drawing/2014/main" id="{645B76D7-6994-DD62-EEF7-6FAD07129871}"/>
              </a:ext>
            </a:extLst>
          </p:cNvPr>
          <p:cNvSpPr txBox="1"/>
          <p:nvPr/>
        </p:nvSpPr>
        <p:spPr>
          <a:xfrm>
            <a:off x="1067335" y="4167160"/>
            <a:ext cx="4988688" cy="707886"/>
          </a:xfrm>
          <a:prstGeom prst="rect">
            <a:avLst/>
          </a:prstGeom>
          <a:noFill/>
        </p:spPr>
        <p:txBody>
          <a:bodyPr wrap="square" rtlCol="0">
            <a:spAutoFit/>
          </a:bodyPr>
          <a:lstStyle/>
          <a:p>
            <a:r>
              <a:rPr lang="vi-VN" sz="4000">
                <a:solidFill>
                  <a:srgbClr val="FFFF00"/>
                </a:solidFill>
                <a:latin typeface="Sans-serif"/>
              </a:rPr>
              <a:t>Phân bố mục tiêu</a:t>
            </a:r>
            <a:endParaRPr lang="en-US" sz="4000">
              <a:solidFill>
                <a:srgbClr val="FFFF00"/>
              </a:solidFill>
              <a:latin typeface="Sans-serif"/>
            </a:endParaRPr>
          </a:p>
        </p:txBody>
      </p:sp>
      <p:sp>
        <p:nvSpPr>
          <p:cNvPr id="12" name="TextBox 11">
            <a:extLst>
              <a:ext uri="{FF2B5EF4-FFF2-40B4-BE49-F238E27FC236}">
                <a16:creationId xmlns:a16="http://schemas.microsoft.com/office/drawing/2014/main" id="{547ED648-1F16-3CF0-CDED-470C0C8F9503}"/>
              </a:ext>
            </a:extLst>
          </p:cNvPr>
          <p:cNvSpPr txBox="1"/>
          <p:nvPr/>
        </p:nvSpPr>
        <p:spPr>
          <a:xfrm>
            <a:off x="844952" y="4726241"/>
            <a:ext cx="8495818" cy="2246769"/>
          </a:xfrm>
          <a:prstGeom prst="rect">
            <a:avLst/>
          </a:prstGeom>
          <a:noFill/>
        </p:spPr>
        <p:txBody>
          <a:bodyPr wrap="square" rtlCol="0">
            <a:spAutoFit/>
          </a:bodyPr>
          <a:lstStyle/>
          <a:p>
            <a:pPr marL="457200" indent="-457200">
              <a:buFont typeface="Arial" panose="020B0604020202020204" pitchFamily="34" charset="0"/>
              <a:buChar char="•"/>
            </a:pPr>
            <a:r>
              <a:rPr lang="vi-VN" sz="2800">
                <a:latin typeface="Sans-serif"/>
              </a:rPr>
              <a:t>Biến mục tiêu: outcome (0/1).</a:t>
            </a:r>
          </a:p>
          <a:p>
            <a:pPr marL="457200" indent="-457200">
              <a:buFont typeface="Arial" panose="020B0604020202020204" pitchFamily="34" charset="0"/>
              <a:buChar char="•"/>
            </a:pPr>
            <a:r>
              <a:rPr lang="vi-VN" sz="2800">
                <a:latin typeface="Sans-serif"/>
              </a:rPr>
              <a:t>0: Không mắc bệnh đái tháo đường (500 trường hợp, 65.1%).</a:t>
            </a:r>
          </a:p>
          <a:p>
            <a:pPr marL="457200" indent="-457200">
              <a:buFont typeface="Arial" panose="020B0604020202020204" pitchFamily="34" charset="0"/>
              <a:buChar char="•"/>
            </a:pPr>
            <a:r>
              <a:rPr lang="vi-VN" sz="2800">
                <a:latin typeface="Sans-serif"/>
              </a:rPr>
              <a:t>1: Mắc bệnh đái tháo đường (268 trường hợp, 34.9%).</a:t>
            </a:r>
          </a:p>
        </p:txBody>
      </p:sp>
      <p:graphicFrame>
        <p:nvGraphicFramePr>
          <p:cNvPr id="16" name="Chart 15">
            <a:extLst>
              <a:ext uri="{FF2B5EF4-FFF2-40B4-BE49-F238E27FC236}">
                <a16:creationId xmlns:a16="http://schemas.microsoft.com/office/drawing/2014/main" id="{62E02BC4-6C65-F857-4412-4963C1E96626}"/>
              </a:ext>
            </a:extLst>
          </p:cNvPr>
          <p:cNvGraphicFramePr/>
          <p:nvPr>
            <p:extLst>
              <p:ext uri="{D42A27DB-BD31-4B8C-83A1-F6EECF244321}">
                <p14:modId xmlns:p14="http://schemas.microsoft.com/office/powerpoint/2010/main" val="3796155513"/>
              </p:ext>
            </p:extLst>
          </p:nvPr>
        </p:nvGraphicFramePr>
        <p:xfrm>
          <a:off x="8275899" y="3773347"/>
          <a:ext cx="4671361" cy="2924791"/>
        </p:xfrm>
        <a:graphic>
          <a:graphicData uri="http://schemas.openxmlformats.org/drawingml/2006/chart">
            <c:chart xmlns:c="http://schemas.openxmlformats.org/drawingml/2006/chart" xmlns:r="http://schemas.openxmlformats.org/officeDocument/2006/relationships" r:id="rId5"/>
          </a:graphicData>
        </a:graphic>
      </p:graphicFrame>
      <p:sp>
        <p:nvSpPr>
          <p:cNvPr id="17" name="TextBox 16">
            <a:extLst>
              <a:ext uri="{FF2B5EF4-FFF2-40B4-BE49-F238E27FC236}">
                <a16:creationId xmlns:a16="http://schemas.microsoft.com/office/drawing/2014/main" id="{62DF0F4E-0277-1CCD-A913-05898F4E9DD0}"/>
              </a:ext>
            </a:extLst>
          </p:cNvPr>
          <p:cNvSpPr txBox="1"/>
          <p:nvPr/>
        </p:nvSpPr>
        <p:spPr>
          <a:xfrm>
            <a:off x="11347048" y="6224071"/>
            <a:ext cx="813043" cy="369332"/>
          </a:xfrm>
          <a:prstGeom prst="rect">
            <a:avLst/>
          </a:prstGeom>
          <a:noFill/>
        </p:spPr>
        <p:txBody>
          <a:bodyPr wrap="none" rtlCol="0">
            <a:spAutoFit/>
          </a:bodyPr>
          <a:lstStyle/>
          <a:p>
            <a:r>
              <a:rPr lang="vi-VN">
                <a:latin typeface="Sans-serif"/>
              </a:rPr>
              <a:t>65.1</a:t>
            </a:r>
            <a:r>
              <a:rPr lang="vi-VN"/>
              <a:t>%</a:t>
            </a:r>
            <a:endParaRPr lang="en-US"/>
          </a:p>
        </p:txBody>
      </p:sp>
      <p:sp>
        <p:nvSpPr>
          <p:cNvPr id="18" name="TextBox 17">
            <a:extLst>
              <a:ext uri="{FF2B5EF4-FFF2-40B4-BE49-F238E27FC236}">
                <a16:creationId xmlns:a16="http://schemas.microsoft.com/office/drawing/2014/main" id="{C61E74BE-7D6F-A805-1570-F1825943E4E1}"/>
              </a:ext>
            </a:extLst>
          </p:cNvPr>
          <p:cNvSpPr txBox="1"/>
          <p:nvPr/>
        </p:nvSpPr>
        <p:spPr>
          <a:xfrm>
            <a:off x="8715737" y="4135596"/>
            <a:ext cx="870751" cy="369332"/>
          </a:xfrm>
          <a:prstGeom prst="rect">
            <a:avLst/>
          </a:prstGeom>
          <a:noFill/>
        </p:spPr>
        <p:txBody>
          <a:bodyPr wrap="none" rtlCol="0">
            <a:spAutoFit/>
          </a:bodyPr>
          <a:lstStyle/>
          <a:p>
            <a:r>
              <a:rPr lang="vi-VN"/>
              <a:t>34.9%</a:t>
            </a:r>
            <a:endParaRPr lang="en-US"/>
          </a:p>
        </p:txBody>
      </p:sp>
    </p:spTree>
    <p:extLst>
      <p:ext uri="{BB962C8B-B14F-4D97-AF65-F5344CB8AC3E}">
        <p14:creationId xmlns:p14="http://schemas.microsoft.com/office/powerpoint/2010/main" val="1727590522"/>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1F44AE-85D7-48BC-F603-B89A69F3376A}"/>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C760638-F5E1-E501-1F1C-71C1E44A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3947A1D-0E34-E69D-C088-68E29500505A}"/>
              </a:ext>
            </a:extLst>
          </p:cNvPr>
          <p:cNvSpPr txBox="1"/>
          <p:nvPr/>
        </p:nvSpPr>
        <p:spPr>
          <a:xfrm>
            <a:off x="0" y="0"/>
            <a:ext cx="12192000" cy="584775"/>
          </a:xfrm>
          <a:prstGeom prst="rect">
            <a:avLst/>
          </a:prstGeom>
          <a:solidFill>
            <a:srgbClr val="FFFF00"/>
          </a:solidFill>
        </p:spPr>
        <p:txBody>
          <a:bodyPr wrap="square" rtlCol="0">
            <a:spAutoFit/>
          </a:bodyPr>
          <a:lstStyle/>
          <a:p>
            <a:r>
              <a:rPr lang="vi-VN" sz="3200">
                <a:solidFill>
                  <a:schemeClr val="bg1"/>
                </a:solidFill>
                <a:latin typeface="Sans-serif"/>
              </a:rPr>
              <a:t>CHUẨN BỊ VẤN ĐỀ</a:t>
            </a:r>
            <a:endParaRPr lang="en-US" sz="3200">
              <a:solidFill>
                <a:schemeClr val="bg1"/>
              </a:solidFill>
              <a:latin typeface="Sans-serif"/>
            </a:endParaRPr>
          </a:p>
        </p:txBody>
      </p:sp>
      <p:sp>
        <p:nvSpPr>
          <p:cNvPr id="8" name="Rectangle 1">
            <a:extLst>
              <a:ext uri="{FF2B5EF4-FFF2-40B4-BE49-F238E27FC236}">
                <a16:creationId xmlns:a16="http://schemas.microsoft.com/office/drawing/2014/main" id="{24BAF377-2336-31C8-4C62-0301A6B09A9E}"/>
              </a:ext>
            </a:extLst>
          </p:cNvPr>
          <p:cNvSpPr>
            <a:spLocks noGrp="1" noChangeArrowheads="1"/>
          </p:cNvSpPr>
          <p:nvPr>
            <p:ph type="ctrTitle"/>
          </p:nvPr>
        </p:nvSpPr>
        <p:spPr bwMode="auto">
          <a:xfrm>
            <a:off x="642947" y="1576499"/>
            <a:ext cx="466845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pPr>
            <a:r>
              <a:rPr lang="en-US" sz="2400" b="0">
                <a:latin typeface="Sans-serif"/>
              </a:rPr>
              <a:t>P</a:t>
            </a:r>
            <a:r>
              <a:rPr lang="vi-VN" sz="2400" b="0">
                <a:latin typeface="Sans-serif"/>
              </a:rPr>
              <a:t>regnancies: s</a:t>
            </a:r>
            <a:r>
              <a:rPr lang="en-US" sz="2400" b="0">
                <a:latin typeface="Sans-serif"/>
              </a:rPr>
              <a:t>ố lần mang </a:t>
            </a:r>
            <a:r>
              <a:rPr lang="vi-VN" sz="2400" b="0">
                <a:latin typeface="Sans-serif"/>
              </a:rPr>
              <a:t>thai.</a:t>
            </a:r>
            <a:endParaRPr kumimoji="0" lang="en-US" altLang="en-US" sz="2400" b="0" i="0" u="none" strike="noStrike" cap="none" normalizeH="0" baseline="0">
              <a:ln>
                <a:noFill/>
              </a:ln>
              <a:solidFill>
                <a:schemeClr val="tx1"/>
              </a:solidFill>
              <a:effectLst/>
              <a:latin typeface="Sans-serif"/>
            </a:endParaRPr>
          </a:p>
        </p:txBody>
      </p:sp>
      <p:sp>
        <p:nvSpPr>
          <p:cNvPr id="3" name="TextBox 2">
            <a:extLst>
              <a:ext uri="{FF2B5EF4-FFF2-40B4-BE49-F238E27FC236}">
                <a16:creationId xmlns:a16="http://schemas.microsoft.com/office/drawing/2014/main" id="{EF193885-52C5-A12A-FB4C-51ADE5105D4B}"/>
              </a:ext>
            </a:extLst>
          </p:cNvPr>
          <p:cNvSpPr txBox="1"/>
          <p:nvPr/>
        </p:nvSpPr>
        <p:spPr>
          <a:xfrm>
            <a:off x="642947" y="5760316"/>
            <a:ext cx="2205942" cy="461665"/>
          </a:xfrm>
          <a:prstGeom prst="rect">
            <a:avLst/>
          </a:prstGeom>
          <a:noFill/>
        </p:spPr>
        <p:txBody>
          <a:bodyPr wrap="square" rtlCol="0">
            <a:spAutoFit/>
          </a:bodyPr>
          <a:lstStyle/>
          <a:p>
            <a:r>
              <a:rPr lang="vi-VN" sz="2400">
                <a:latin typeface="Sans-serif"/>
              </a:rPr>
              <a:t>Age: t</a:t>
            </a:r>
            <a:r>
              <a:rPr lang="en-US" sz="2400">
                <a:latin typeface="Sans-serif"/>
              </a:rPr>
              <a:t>uổi (năm)</a:t>
            </a:r>
            <a:r>
              <a:rPr lang="vi-VN" sz="2400">
                <a:latin typeface="Sans-serif"/>
              </a:rPr>
              <a:t>.</a:t>
            </a:r>
            <a:endParaRPr lang="en-US" sz="2400"/>
          </a:p>
        </p:txBody>
      </p:sp>
      <p:sp>
        <p:nvSpPr>
          <p:cNvPr id="5" name="TextBox 4">
            <a:extLst>
              <a:ext uri="{FF2B5EF4-FFF2-40B4-BE49-F238E27FC236}">
                <a16:creationId xmlns:a16="http://schemas.microsoft.com/office/drawing/2014/main" id="{25C9632B-D019-F591-281C-CEDBEC29FF40}"/>
              </a:ext>
            </a:extLst>
          </p:cNvPr>
          <p:cNvSpPr txBox="1"/>
          <p:nvPr/>
        </p:nvSpPr>
        <p:spPr>
          <a:xfrm>
            <a:off x="642947" y="2150962"/>
            <a:ext cx="5894883" cy="461665"/>
          </a:xfrm>
          <a:prstGeom prst="rect">
            <a:avLst/>
          </a:prstGeom>
          <a:noFill/>
        </p:spPr>
        <p:txBody>
          <a:bodyPr wrap="none" rtlCol="0">
            <a:spAutoFit/>
          </a:bodyPr>
          <a:lstStyle/>
          <a:p>
            <a:r>
              <a:rPr lang="vi-VN" sz="2400">
                <a:latin typeface="Sans-serif"/>
              </a:rPr>
              <a:t>BloodPressure: huyết áp tâm trương (mmHg).</a:t>
            </a:r>
            <a:endParaRPr lang="en-US" sz="2400"/>
          </a:p>
        </p:txBody>
      </p:sp>
      <p:sp>
        <p:nvSpPr>
          <p:cNvPr id="6" name="TextBox 5">
            <a:extLst>
              <a:ext uri="{FF2B5EF4-FFF2-40B4-BE49-F238E27FC236}">
                <a16:creationId xmlns:a16="http://schemas.microsoft.com/office/drawing/2014/main" id="{4CC17E0F-CC2A-43B3-715D-1D1C7D4F4763}"/>
              </a:ext>
            </a:extLst>
          </p:cNvPr>
          <p:cNvSpPr txBox="1"/>
          <p:nvPr/>
        </p:nvSpPr>
        <p:spPr>
          <a:xfrm>
            <a:off x="642947" y="2752521"/>
            <a:ext cx="4209807" cy="461665"/>
          </a:xfrm>
          <a:prstGeom prst="rect">
            <a:avLst/>
          </a:prstGeom>
          <a:noFill/>
        </p:spPr>
        <p:txBody>
          <a:bodyPr wrap="none" rtlCol="0">
            <a:spAutoFit/>
          </a:bodyPr>
          <a:lstStyle/>
          <a:p>
            <a:r>
              <a:rPr lang="vi-VN" sz="2400">
                <a:latin typeface="Sans-serif"/>
              </a:rPr>
              <a:t>Insulin: n</a:t>
            </a:r>
            <a:r>
              <a:rPr lang="en-US" sz="2400">
                <a:latin typeface="Sans-serif"/>
              </a:rPr>
              <a:t>ồng độ insulin (</a:t>
            </a:r>
            <a:r>
              <a:rPr lang="el-GR" sz="2400">
                <a:latin typeface="Sans-serif"/>
              </a:rPr>
              <a:t>μ</a:t>
            </a:r>
            <a:r>
              <a:rPr lang="en-US" sz="2400">
                <a:latin typeface="Sans-serif"/>
              </a:rPr>
              <a:t>U/ml)</a:t>
            </a:r>
            <a:r>
              <a:rPr lang="vi-VN" sz="2400">
                <a:latin typeface="Sans-serif"/>
              </a:rPr>
              <a:t>.</a:t>
            </a:r>
            <a:endParaRPr lang="en-US" sz="2400"/>
          </a:p>
        </p:txBody>
      </p:sp>
      <p:sp>
        <p:nvSpPr>
          <p:cNvPr id="9" name="TextBox 8">
            <a:extLst>
              <a:ext uri="{FF2B5EF4-FFF2-40B4-BE49-F238E27FC236}">
                <a16:creationId xmlns:a16="http://schemas.microsoft.com/office/drawing/2014/main" id="{A2862F42-5CE3-8853-B30A-915832389B09}"/>
              </a:ext>
            </a:extLst>
          </p:cNvPr>
          <p:cNvSpPr txBox="1"/>
          <p:nvPr/>
        </p:nvSpPr>
        <p:spPr>
          <a:xfrm>
            <a:off x="642947" y="3354080"/>
            <a:ext cx="5799152" cy="461665"/>
          </a:xfrm>
          <a:prstGeom prst="rect">
            <a:avLst/>
          </a:prstGeom>
          <a:noFill/>
        </p:spPr>
        <p:txBody>
          <a:bodyPr wrap="none" rtlCol="0">
            <a:spAutoFit/>
          </a:bodyPr>
          <a:lstStyle/>
          <a:p>
            <a:r>
              <a:rPr lang="en-US" sz="2400">
                <a:latin typeface="Sans-serif"/>
              </a:rPr>
              <a:t>Diabetes Pedigree </a:t>
            </a:r>
            <a:r>
              <a:rPr lang="vi-VN" sz="2400">
                <a:latin typeface="Sans-serif"/>
              </a:rPr>
              <a:t>Function: y</a:t>
            </a:r>
            <a:r>
              <a:rPr lang="en-US" sz="2400">
                <a:latin typeface="Sans-serif"/>
              </a:rPr>
              <a:t>ếu tố di </a:t>
            </a:r>
            <a:r>
              <a:rPr lang="vi-VN" sz="2400">
                <a:latin typeface="Sans-serif"/>
              </a:rPr>
              <a:t>truyền.</a:t>
            </a:r>
          </a:p>
        </p:txBody>
      </p:sp>
      <p:sp>
        <p:nvSpPr>
          <p:cNvPr id="10" name="TextBox 9">
            <a:extLst>
              <a:ext uri="{FF2B5EF4-FFF2-40B4-BE49-F238E27FC236}">
                <a16:creationId xmlns:a16="http://schemas.microsoft.com/office/drawing/2014/main" id="{75AED55C-8709-826F-41C7-3F07633E77D2}"/>
              </a:ext>
            </a:extLst>
          </p:cNvPr>
          <p:cNvSpPr txBox="1"/>
          <p:nvPr/>
        </p:nvSpPr>
        <p:spPr>
          <a:xfrm>
            <a:off x="642947" y="3955639"/>
            <a:ext cx="5190588" cy="461665"/>
          </a:xfrm>
          <a:prstGeom prst="rect">
            <a:avLst/>
          </a:prstGeom>
          <a:noFill/>
        </p:spPr>
        <p:txBody>
          <a:bodyPr wrap="none" rtlCol="0">
            <a:spAutoFit/>
          </a:bodyPr>
          <a:lstStyle/>
          <a:p>
            <a:r>
              <a:rPr lang="vi-VN" sz="2400">
                <a:latin typeface="Sans-serif"/>
              </a:rPr>
              <a:t>Glucose: nồng độ đường huyết (mg/dL).</a:t>
            </a:r>
            <a:endParaRPr lang="en-US" sz="2400"/>
          </a:p>
        </p:txBody>
      </p:sp>
      <p:sp>
        <p:nvSpPr>
          <p:cNvPr id="12" name="TextBox 11">
            <a:extLst>
              <a:ext uri="{FF2B5EF4-FFF2-40B4-BE49-F238E27FC236}">
                <a16:creationId xmlns:a16="http://schemas.microsoft.com/office/drawing/2014/main" id="{4C422EC9-735F-D0F8-C1B8-886FB0546E4B}"/>
              </a:ext>
            </a:extLst>
          </p:cNvPr>
          <p:cNvSpPr txBox="1"/>
          <p:nvPr/>
        </p:nvSpPr>
        <p:spPr>
          <a:xfrm>
            <a:off x="642947" y="4557198"/>
            <a:ext cx="4572790" cy="461665"/>
          </a:xfrm>
          <a:prstGeom prst="rect">
            <a:avLst/>
          </a:prstGeom>
          <a:noFill/>
        </p:spPr>
        <p:txBody>
          <a:bodyPr wrap="none" rtlCol="0">
            <a:spAutoFit/>
          </a:bodyPr>
          <a:lstStyle/>
          <a:p>
            <a:r>
              <a:rPr lang="en-US" sz="2400">
                <a:latin typeface="Sans-serif"/>
              </a:rPr>
              <a:t>Ski</a:t>
            </a:r>
            <a:r>
              <a:rPr lang="vi-VN" sz="2400">
                <a:latin typeface="Sans-serif"/>
              </a:rPr>
              <a:t>nThickness:</a:t>
            </a:r>
            <a:r>
              <a:rPr lang="en-US" sz="2400">
                <a:latin typeface="Sans-serif"/>
              </a:rPr>
              <a:t> </a:t>
            </a:r>
            <a:r>
              <a:rPr lang="vi-VN" sz="2400">
                <a:latin typeface="Sans-serif"/>
              </a:rPr>
              <a:t>đ</a:t>
            </a:r>
            <a:r>
              <a:rPr lang="en-US" sz="2400">
                <a:latin typeface="Sans-serif"/>
              </a:rPr>
              <a:t>ộ dày lớp da (mm)</a:t>
            </a:r>
            <a:r>
              <a:rPr lang="vi-VN" sz="2400">
                <a:latin typeface="Sans-serif"/>
              </a:rPr>
              <a:t>.</a:t>
            </a:r>
            <a:endParaRPr lang="en-US" sz="2400"/>
          </a:p>
        </p:txBody>
      </p:sp>
      <p:sp>
        <p:nvSpPr>
          <p:cNvPr id="13" name="TextBox 12">
            <a:extLst>
              <a:ext uri="{FF2B5EF4-FFF2-40B4-BE49-F238E27FC236}">
                <a16:creationId xmlns:a16="http://schemas.microsoft.com/office/drawing/2014/main" id="{76D5DE18-69BB-53D3-925E-D22151B7E325}"/>
              </a:ext>
            </a:extLst>
          </p:cNvPr>
          <p:cNvSpPr txBox="1"/>
          <p:nvPr/>
        </p:nvSpPr>
        <p:spPr>
          <a:xfrm>
            <a:off x="642947" y="5158757"/>
            <a:ext cx="4114011" cy="461665"/>
          </a:xfrm>
          <a:prstGeom prst="rect">
            <a:avLst/>
          </a:prstGeom>
          <a:noFill/>
        </p:spPr>
        <p:txBody>
          <a:bodyPr wrap="none" rtlCol="0">
            <a:spAutoFit/>
          </a:bodyPr>
          <a:lstStyle/>
          <a:p>
            <a:r>
              <a:rPr lang="vi-VN" sz="2400">
                <a:latin typeface="Sans-serif"/>
              </a:rPr>
              <a:t>BMI: chỉ số khối cơ thể (kg/m²).</a:t>
            </a:r>
            <a:endParaRPr lang="en-US" sz="2400"/>
          </a:p>
        </p:txBody>
      </p:sp>
      <p:cxnSp>
        <p:nvCxnSpPr>
          <p:cNvPr id="19" name="Straight Connector 18">
            <a:extLst>
              <a:ext uri="{FF2B5EF4-FFF2-40B4-BE49-F238E27FC236}">
                <a16:creationId xmlns:a16="http://schemas.microsoft.com/office/drawing/2014/main" id="{8B74E640-8DE3-24C7-570C-804654918B1B}"/>
              </a:ext>
            </a:extLst>
          </p:cNvPr>
          <p:cNvCxnSpPr>
            <a:cxnSpLocks/>
          </p:cNvCxnSpPr>
          <p:nvPr/>
        </p:nvCxnSpPr>
        <p:spPr>
          <a:xfrm>
            <a:off x="6681844" y="788848"/>
            <a:ext cx="0" cy="5669280"/>
          </a:xfrm>
          <a:prstGeom prst="line">
            <a:avLst/>
          </a:prstGeom>
          <a:ln w="15875" cmpd="sng">
            <a:solidFill>
              <a:schemeClr val="tx1"/>
            </a:solidFill>
          </a:ln>
          <a:effectLst>
            <a:outerShdw blurRad="50800" dist="50800" dir="5400000" algn="ctr" rotWithShape="0">
              <a:srgbClr val="000000">
                <a:alpha val="56000"/>
              </a:srgbClr>
            </a:outerShdw>
          </a:effectLst>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8360A29C-5D8B-1ADE-02EE-C3CC6F3A9D41}"/>
              </a:ext>
            </a:extLst>
          </p:cNvPr>
          <p:cNvSpPr txBox="1"/>
          <p:nvPr/>
        </p:nvSpPr>
        <p:spPr>
          <a:xfrm>
            <a:off x="1453358" y="819027"/>
            <a:ext cx="3714030" cy="523220"/>
          </a:xfrm>
          <a:prstGeom prst="rect">
            <a:avLst/>
          </a:prstGeom>
          <a:noFill/>
        </p:spPr>
        <p:txBody>
          <a:bodyPr wrap="none" rtlCol="0">
            <a:spAutoFit/>
          </a:bodyPr>
          <a:lstStyle/>
          <a:p>
            <a:r>
              <a:rPr lang="vi-VN" sz="2800" b="1">
                <a:latin typeface="Sans-serif"/>
              </a:rPr>
              <a:t>Các dữ liệu đầu vào (X).</a:t>
            </a:r>
            <a:endParaRPr lang="en-US" sz="2800" b="1">
              <a:latin typeface="Sans-serif"/>
            </a:endParaRPr>
          </a:p>
        </p:txBody>
      </p:sp>
      <p:sp>
        <p:nvSpPr>
          <p:cNvPr id="22" name="TextBox 21">
            <a:extLst>
              <a:ext uri="{FF2B5EF4-FFF2-40B4-BE49-F238E27FC236}">
                <a16:creationId xmlns:a16="http://schemas.microsoft.com/office/drawing/2014/main" id="{0D4F231A-5FA3-12C1-CD31-A9189DBAD0BD}"/>
              </a:ext>
            </a:extLst>
          </p:cNvPr>
          <p:cNvSpPr txBox="1"/>
          <p:nvPr/>
        </p:nvSpPr>
        <p:spPr>
          <a:xfrm>
            <a:off x="8481020" y="797087"/>
            <a:ext cx="1911805" cy="523220"/>
          </a:xfrm>
          <a:prstGeom prst="rect">
            <a:avLst/>
          </a:prstGeom>
          <a:noFill/>
        </p:spPr>
        <p:txBody>
          <a:bodyPr wrap="none" rtlCol="0">
            <a:spAutoFit/>
          </a:bodyPr>
          <a:lstStyle/>
          <a:p>
            <a:r>
              <a:rPr lang="vi-VN" sz="2800" b="1">
                <a:latin typeface="Sans-serif"/>
              </a:rPr>
              <a:t>Kết quả (Y).</a:t>
            </a:r>
            <a:endParaRPr lang="en-US" sz="2800" b="1">
              <a:latin typeface="Sans-serif"/>
            </a:endParaRPr>
          </a:p>
        </p:txBody>
      </p:sp>
      <p:sp>
        <p:nvSpPr>
          <p:cNvPr id="23" name="TextBox 22">
            <a:extLst>
              <a:ext uri="{FF2B5EF4-FFF2-40B4-BE49-F238E27FC236}">
                <a16:creationId xmlns:a16="http://schemas.microsoft.com/office/drawing/2014/main" id="{C962E5FC-9344-40F4-9452-490F1790D90C}"/>
              </a:ext>
            </a:extLst>
          </p:cNvPr>
          <p:cNvSpPr txBox="1"/>
          <p:nvPr/>
        </p:nvSpPr>
        <p:spPr>
          <a:xfrm>
            <a:off x="7530154" y="1576499"/>
            <a:ext cx="2637260" cy="1569660"/>
          </a:xfrm>
          <a:prstGeom prst="rect">
            <a:avLst/>
          </a:prstGeom>
          <a:noFill/>
        </p:spPr>
        <p:txBody>
          <a:bodyPr wrap="none" rtlCol="0">
            <a:spAutoFit/>
          </a:bodyPr>
          <a:lstStyle/>
          <a:p>
            <a:r>
              <a:rPr lang="vi-VN" sz="2400">
                <a:latin typeface="Sans-serif"/>
              </a:rPr>
              <a:t>0: không mắc bệnh.</a:t>
            </a:r>
          </a:p>
          <a:p>
            <a:endParaRPr lang="vi-VN" sz="2400">
              <a:latin typeface="Sans-serif"/>
            </a:endParaRPr>
          </a:p>
          <a:p>
            <a:endParaRPr lang="vi-VN" sz="2400">
              <a:latin typeface="Sans-serif"/>
            </a:endParaRPr>
          </a:p>
          <a:p>
            <a:r>
              <a:rPr lang="vi-VN" sz="2400">
                <a:latin typeface="Sans-serif"/>
              </a:rPr>
              <a:t>1: mặc bệnh</a:t>
            </a:r>
          </a:p>
        </p:txBody>
      </p:sp>
      <p:pic>
        <p:nvPicPr>
          <p:cNvPr id="27" name="Picture 26">
            <a:extLst>
              <a:ext uri="{FF2B5EF4-FFF2-40B4-BE49-F238E27FC236}">
                <a16:creationId xmlns:a16="http://schemas.microsoft.com/office/drawing/2014/main" id="{8D51A1FE-7A68-8588-498D-995AF0FBD7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245" y="1576313"/>
            <a:ext cx="504702" cy="504702"/>
          </a:xfrm>
          <a:prstGeom prst="rect">
            <a:avLst/>
          </a:prstGeom>
        </p:spPr>
      </p:pic>
      <p:pic>
        <p:nvPicPr>
          <p:cNvPr id="29" name="Picture 28">
            <a:extLst>
              <a:ext uri="{FF2B5EF4-FFF2-40B4-BE49-F238E27FC236}">
                <a16:creationId xmlns:a16="http://schemas.microsoft.com/office/drawing/2014/main" id="{F47077DB-37A1-C230-4132-E8F1F36FAF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243" y="2207540"/>
            <a:ext cx="504703" cy="504703"/>
          </a:xfrm>
          <a:prstGeom prst="rect">
            <a:avLst/>
          </a:prstGeom>
        </p:spPr>
      </p:pic>
      <p:pic>
        <p:nvPicPr>
          <p:cNvPr id="31" name="Picture 30">
            <a:extLst>
              <a:ext uri="{FF2B5EF4-FFF2-40B4-BE49-F238E27FC236}">
                <a16:creationId xmlns:a16="http://schemas.microsoft.com/office/drawing/2014/main" id="{7C5791CE-E81F-708B-DFC0-180E3BE4E0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850" y="2800702"/>
            <a:ext cx="504702" cy="504702"/>
          </a:xfrm>
          <a:prstGeom prst="rect">
            <a:avLst/>
          </a:prstGeom>
        </p:spPr>
      </p:pic>
      <p:pic>
        <p:nvPicPr>
          <p:cNvPr id="33" name="Picture 32">
            <a:extLst>
              <a:ext uri="{FF2B5EF4-FFF2-40B4-BE49-F238E27FC236}">
                <a16:creationId xmlns:a16="http://schemas.microsoft.com/office/drawing/2014/main" id="{EF29E083-22E3-A002-EFDB-F0A1110E18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818" y="3348255"/>
            <a:ext cx="584767" cy="584767"/>
          </a:xfrm>
          <a:prstGeom prst="rect">
            <a:avLst/>
          </a:prstGeom>
        </p:spPr>
      </p:pic>
      <p:pic>
        <p:nvPicPr>
          <p:cNvPr id="35" name="Picture 34">
            <a:extLst>
              <a:ext uri="{FF2B5EF4-FFF2-40B4-BE49-F238E27FC236}">
                <a16:creationId xmlns:a16="http://schemas.microsoft.com/office/drawing/2014/main" id="{E46D310C-E0D4-9971-6DF9-8CBD44A5EC0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1258" y="3987825"/>
            <a:ext cx="474294" cy="474294"/>
          </a:xfrm>
          <a:prstGeom prst="rect">
            <a:avLst/>
          </a:prstGeom>
        </p:spPr>
      </p:pic>
      <p:pic>
        <p:nvPicPr>
          <p:cNvPr id="37" name="Picture 36">
            <a:extLst>
              <a:ext uri="{FF2B5EF4-FFF2-40B4-BE49-F238E27FC236}">
                <a16:creationId xmlns:a16="http://schemas.microsoft.com/office/drawing/2014/main" id="{02C8434D-68BC-DD38-A7FA-D63E1FC0BD3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6085" y="4624761"/>
            <a:ext cx="439467" cy="439467"/>
          </a:xfrm>
          <a:prstGeom prst="rect">
            <a:avLst/>
          </a:prstGeom>
        </p:spPr>
      </p:pic>
      <p:pic>
        <p:nvPicPr>
          <p:cNvPr id="39" name="Picture 38">
            <a:extLst>
              <a:ext uri="{FF2B5EF4-FFF2-40B4-BE49-F238E27FC236}">
                <a16:creationId xmlns:a16="http://schemas.microsoft.com/office/drawing/2014/main" id="{36A1690E-A5D8-AE7B-E36A-76BE3CFD05A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6038" y="5123144"/>
            <a:ext cx="544734" cy="544734"/>
          </a:xfrm>
          <a:prstGeom prst="rect">
            <a:avLst/>
          </a:prstGeom>
        </p:spPr>
      </p:pic>
      <p:pic>
        <p:nvPicPr>
          <p:cNvPr id="44" name="Picture 43">
            <a:extLst>
              <a:ext uri="{FF2B5EF4-FFF2-40B4-BE49-F238E27FC236}">
                <a16:creationId xmlns:a16="http://schemas.microsoft.com/office/drawing/2014/main" id="{4A10FCC8-7961-42D4-8032-3F5241E2F50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26021" y="5725253"/>
            <a:ext cx="584767" cy="584767"/>
          </a:xfrm>
          <a:prstGeom prst="rect">
            <a:avLst/>
          </a:prstGeom>
        </p:spPr>
      </p:pic>
      <p:pic>
        <p:nvPicPr>
          <p:cNvPr id="46" name="Picture 45">
            <a:extLst>
              <a:ext uri="{FF2B5EF4-FFF2-40B4-BE49-F238E27FC236}">
                <a16:creationId xmlns:a16="http://schemas.microsoft.com/office/drawing/2014/main" id="{96FEE10B-EE35-0FEF-AA74-9C66252DCB8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825859" y="1478379"/>
            <a:ext cx="698284" cy="698284"/>
          </a:xfrm>
          <a:prstGeom prst="rect">
            <a:avLst/>
          </a:prstGeom>
        </p:spPr>
      </p:pic>
      <p:pic>
        <p:nvPicPr>
          <p:cNvPr id="48" name="Picture 47">
            <a:extLst>
              <a:ext uri="{FF2B5EF4-FFF2-40B4-BE49-F238E27FC236}">
                <a16:creationId xmlns:a16="http://schemas.microsoft.com/office/drawing/2014/main" id="{CC520AE0-D505-69E7-B105-709629BACF4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954856" y="2537662"/>
            <a:ext cx="569287" cy="569287"/>
          </a:xfrm>
          <a:prstGeom prst="rect">
            <a:avLst/>
          </a:prstGeom>
        </p:spPr>
      </p:pic>
      <p:pic>
        <p:nvPicPr>
          <p:cNvPr id="54" name="Picture 53">
            <a:extLst>
              <a:ext uri="{FF2B5EF4-FFF2-40B4-BE49-F238E27FC236}">
                <a16:creationId xmlns:a16="http://schemas.microsoft.com/office/drawing/2014/main" id="{4FDA31C3-176E-C391-81B3-C8D5758474F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8735" y="573887"/>
            <a:ext cx="972628" cy="972628"/>
          </a:xfrm>
          <a:prstGeom prst="rect">
            <a:avLst/>
          </a:prstGeom>
        </p:spPr>
      </p:pic>
    </p:spTree>
    <p:extLst>
      <p:ext uri="{BB962C8B-B14F-4D97-AF65-F5344CB8AC3E}">
        <p14:creationId xmlns:p14="http://schemas.microsoft.com/office/powerpoint/2010/main" val="615399126"/>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00C0A8-35BA-B553-F527-8F8540EDEB1D}"/>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AFB11E3-0778-4D6F-6CBF-CE461F8169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01842B1-5649-2EA3-12B4-C0EDD8ED4BE0}"/>
              </a:ext>
            </a:extLst>
          </p:cNvPr>
          <p:cNvSpPr txBox="1"/>
          <p:nvPr/>
        </p:nvSpPr>
        <p:spPr>
          <a:xfrm>
            <a:off x="0" y="0"/>
            <a:ext cx="12192000" cy="584775"/>
          </a:xfrm>
          <a:prstGeom prst="rect">
            <a:avLst/>
          </a:prstGeom>
          <a:solidFill>
            <a:srgbClr val="FFFF00"/>
          </a:solidFill>
        </p:spPr>
        <p:txBody>
          <a:bodyPr wrap="square" rtlCol="0">
            <a:spAutoFit/>
          </a:bodyPr>
          <a:lstStyle/>
          <a:p>
            <a:r>
              <a:rPr lang="vi-VN" sz="3200">
                <a:solidFill>
                  <a:schemeClr val="bg1"/>
                </a:solidFill>
                <a:latin typeface="Sans-serif"/>
              </a:rPr>
              <a:t>BIỂU DIỄN DỮ LIỆU</a:t>
            </a:r>
            <a:endParaRPr lang="en-US" sz="3200">
              <a:solidFill>
                <a:schemeClr val="bg1"/>
              </a:solidFill>
              <a:latin typeface="Sans-serif"/>
            </a:endParaRPr>
          </a:p>
        </p:txBody>
      </p:sp>
      <p:pic>
        <p:nvPicPr>
          <p:cNvPr id="6" name="Picture 5">
            <a:extLst>
              <a:ext uri="{FF2B5EF4-FFF2-40B4-BE49-F238E27FC236}">
                <a16:creationId xmlns:a16="http://schemas.microsoft.com/office/drawing/2014/main" id="{51B1D660-002B-74C0-C8D0-F190328705BC}"/>
              </a:ext>
            </a:extLst>
          </p:cNvPr>
          <p:cNvPicPr>
            <a:picLocks noChangeAspect="1"/>
          </p:cNvPicPr>
          <p:nvPr/>
        </p:nvPicPr>
        <p:blipFill>
          <a:blip r:embed="rId2"/>
          <a:stretch>
            <a:fillRect/>
          </a:stretch>
        </p:blipFill>
        <p:spPr>
          <a:xfrm>
            <a:off x="372319" y="721203"/>
            <a:ext cx="11447362" cy="4606651"/>
          </a:xfrm>
          <a:prstGeom prst="rect">
            <a:avLst/>
          </a:prstGeom>
        </p:spPr>
      </p:pic>
      <p:sp>
        <p:nvSpPr>
          <p:cNvPr id="15" name="TextBox 14">
            <a:extLst>
              <a:ext uri="{FF2B5EF4-FFF2-40B4-BE49-F238E27FC236}">
                <a16:creationId xmlns:a16="http://schemas.microsoft.com/office/drawing/2014/main" id="{BA324D97-B34A-A85F-ABE3-B1C97B83F502}"/>
              </a:ext>
            </a:extLst>
          </p:cNvPr>
          <p:cNvSpPr txBox="1"/>
          <p:nvPr/>
        </p:nvSpPr>
        <p:spPr>
          <a:xfrm>
            <a:off x="625033" y="5296630"/>
            <a:ext cx="11194648" cy="1938992"/>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sz="2400" b="1">
                <a:latin typeface="Sans-serif"/>
              </a:rPr>
              <a:t>Glucose:</a:t>
            </a:r>
            <a:r>
              <a:rPr lang="en-US" altLang="en-US" sz="2400">
                <a:latin typeface="Sans-serif"/>
              </a:rPr>
              <a:t> Biến số tách biệt rõ nhất; nhóm bệnh tập trung ở ngưỡng cao (&gt;140 mg/dL).</a:t>
            </a:r>
          </a:p>
          <a:p>
            <a:pPr lvl="0" eaLnBrk="0" fontAlgn="base" hangingPunct="0">
              <a:spcBef>
                <a:spcPct val="0"/>
              </a:spcBef>
              <a:spcAft>
                <a:spcPct val="0"/>
              </a:spcAft>
              <a:buFontTx/>
              <a:buChar char="•"/>
            </a:pPr>
            <a:r>
              <a:rPr lang="en-US" altLang="en-US" sz="2400" b="1">
                <a:latin typeface="Sans-serif"/>
              </a:rPr>
              <a:t>Insulin:</a:t>
            </a:r>
            <a:r>
              <a:rPr lang="en-US" altLang="en-US" sz="2400">
                <a:latin typeface="Sans-serif"/>
              </a:rPr>
              <a:t> Nồng độ cao tỉ lệ thuận với nguy cơ mắc bệnh (dù dữ liệu còn nhiều giá trị thiếu).</a:t>
            </a:r>
          </a:p>
          <a:p>
            <a:pPr lvl="0" eaLnBrk="0" fontAlgn="base" hangingPunct="0">
              <a:spcBef>
                <a:spcPct val="0"/>
              </a:spcBef>
              <a:spcAft>
                <a:spcPct val="0"/>
              </a:spcAft>
              <a:buFontTx/>
              <a:buChar char="•"/>
            </a:pPr>
            <a:r>
              <a:rPr lang="en-US" altLang="en-US" sz="2400" b="1">
                <a:latin typeface="Sans-serif"/>
              </a:rPr>
              <a:t>Huyết áp:</a:t>
            </a:r>
            <a:r>
              <a:rPr lang="en-US" altLang="en-US" sz="2400">
                <a:latin typeface="Sans-serif"/>
              </a:rPr>
              <a:t> Không có sự chênh lệch lớn giữa 2 nhóm; là yếu tố nguy cơ bổ trợ</a:t>
            </a:r>
          </a:p>
          <a:p>
            <a:endParaRPr lang="en-US" sz="2400">
              <a:latin typeface="Sans-serif"/>
            </a:endParaRPr>
          </a:p>
        </p:txBody>
      </p:sp>
    </p:spTree>
    <p:extLst>
      <p:ext uri="{BB962C8B-B14F-4D97-AF65-F5344CB8AC3E}">
        <p14:creationId xmlns:p14="http://schemas.microsoft.com/office/powerpoint/2010/main" val="1407657153"/>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F743A7-C264-745A-1A67-7CBA8C2737E3}"/>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4B7E9C6-5456-D37F-69B6-5844A4ECC9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F84665A-7ADB-E573-0BE8-F713D47FE77E}"/>
              </a:ext>
            </a:extLst>
          </p:cNvPr>
          <p:cNvSpPr txBox="1"/>
          <p:nvPr/>
        </p:nvSpPr>
        <p:spPr>
          <a:xfrm>
            <a:off x="0" y="0"/>
            <a:ext cx="12192000" cy="584775"/>
          </a:xfrm>
          <a:prstGeom prst="rect">
            <a:avLst/>
          </a:prstGeom>
          <a:solidFill>
            <a:srgbClr val="FFFF00"/>
          </a:solidFill>
        </p:spPr>
        <p:txBody>
          <a:bodyPr wrap="square" rtlCol="0">
            <a:spAutoFit/>
          </a:bodyPr>
          <a:lstStyle/>
          <a:p>
            <a:r>
              <a:rPr lang="vi-VN" sz="3200">
                <a:solidFill>
                  <a:schemeClr val="bg1"/>
                </a:solidFill>
                <a:latin typeface="Sans-serif"/>
              </a:rPr>
              <a:t>BIỂU DIỄN DỮ LIỆU</a:t>
            </a:r>
            <a:endParaRPr lang="en-US" sz="3200">
              <a:solidFill>
                <a:schemeClr val="bg1"/>
              </a:solidFill>
              <a:latin typeface="Sans-serif"/>
            </a:endParaRPr>
          </a:p>
        </p:txBody>
      </p:sp>
      <p:pic>
        <p:nvPicPr>
          <p:cNvPr id="3" name="Picture 2">
            <a:extLst>
              <a:ext uri="{FF2B5EF4-FFF2-40B4-BE49-F238E27FC236}">
                <a16:creationId xmlns:a16="http://schemas.microsoft.com/office/drawing/2014/main" id="{201624E1-924F-DD62-2075-1C13AD82AEC4}"/>
              </a:ext>
            </a:extLst>
          </p:cNvPr>
          <p:cNvPicPr>
            <a:picLocks noChangeAspect="1"/>
          </p:cNvPicPr>
          <p:nvPr/>
        </p:nvPicPr>
        <p:blipFill>
          <a:blip r:embed="rId2"/>
          <a:stretch>
            <a:fillRect/>
          </a:stretch>
        </p:blipFill>
        <p:spPr>
          <a:xfrm>
            <a:off x="0" y="617625"/>
            <a:ext cx="12192000" cy="4679005"/>
          </a:xfrm>
          <a:prstGeom prst="rect">
            <a:avLst/>
          </a:prstGeom>
        </p:spPr>
      </p:pic>
      <p:sp>
        <p:nvSpPr>
          <p:cNvPr id="5" name="TextBox 4">
            <a:extLst>
              <a:ext uri="{FF2B5EF4-FFF2-40B4-BE49-F238E27FC236}">
                <a16:creationId xmlns:a16="http://schemas.microsoft.com/office/drawing/2014/main" id="{204D165A-86EC-7F56-22C5-9DE01913E314}"/>
              </a:ext>
            </a:extLst>
          </p:cNvPr>
          <p:cNvSpPr txBox="1"/>
          <p:nvPr/>
        </p:nvSpPr>
        <p:spPr>
          <a:xfrm>
            <a:off x="227635" y="5477150"/>
            <a:ext cx="11736730" cy="1200329"/>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b="1">
                <a:latin typeface="Sans-serif"/>
              </a:rPr>
              <a:t>BMI:</a:t>
            </a:r>
            <a:r>
              <a:rPr lang="en-US" altLang="en-US">
                <a:latin typeface="Sans-serif"/>
              </a:rPr>
              <a:t> Nhóm bệnh có chỉ số BMI trung bình cao hơn hẳn (&gt;30), khẳng định béo phì là yếu tố nguy cơ hàng đầu.</a:t>
            </a:r>
          </a:p>
          <a:p>
            <a:pPr lvl="0" eaLnBrk="0" fontAlgn="base" hangingPunct="0">
              <a:spcBef>
                <a:spcPct val="0"/>
              </a:spcBef>
              <a:spcAft>
                <a:spcPct val="0"/>
              </a:spcAft>
              <a:buFontTx/>
              <a:buChar char="•"/>
            </a:pPr>
            <a:r>
              <a:rPr lang="en-US" altLang="en-US" b="1">
                <a:latin typeface="Sans-serif"/>
              </a:rPr>
              <a:t>Skin Thickness:</a:t>
            </a:r>
            <a:r>
              <a:rPr lang="en-US" altLang="en-US">
                <a:latin typeface="Sans-serif"/>
              </a:rPr>
              <a:t> Độ dày da ở nhóm bệnh lớn hơn, tương quan chặt chẽ với tình trạng tích tụ mỡ thừa.</a:t>
            </a:r>
          </a:p>
          <a:p>
            <a:pPr lvl="0" eaLnBrk="0" fontAlgn="base" hangingPunct="0">
              <a:spcBef>
                <a:spcPct val="0"/>
              </a:spcBef>
              <a:spcAft>
                <a:spcPct val="0"/>
              </a:spcAft>
              <a:buFontTx/>
              <a:buChar char="•"/>
            </a:pPr>
            <a:r>
              <a:rPr lang="en-US" altLang="en-US" b="1">
                <a:latin typeface="Sans-serif"/>
              </a:rPr>
              <a:t>Diabetes Pedigree:</a:t>
            </a:r>
            <a:r>
              <a:rPr lang="en-US" altLang="en-US">
                <a:latin typeface="Sans-serif"/>
              </a:rPr>
              <a:t> Điểm số phả hệ ở nhóm bệnh có mật độ cao và phân tán rộng, xác nhận tầm quan trọng của yếu tố di truyền.</a:t>
            </a:r>
          </a:p>
        </p:txBody>
      </p:sp>
    </p:spTree>
    <p:extLst>
      <p:ext uri="{BB962C8B-B14F-4D97-AF65-F5344CB8AC3E}">
        <p14:creationId xmlns:p14="http://schemas.microsoft.com/office/powerpoint/2010/main" val="2803359539"/>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2E134B-F701-79BD-ACF0-C27A4F4CD604}"/>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38683C4-BA2B-4D3E-AEB9-45525FDA5F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6A9354B-3F83-2FF3-4CDB-DA0C4AA98466}"/>
              </a:ext>
            </a:extLst>
          </p:cNvPr>
          <p:cNvSpPr txBox="1"/>
          <p:nvPr/>
        </p:nvSpPr>
        <p:spPr>
          <a:xfrm>
            <a:off x="0" y="0"/>
            <a:ext cx="12192000" cy="461665"/>
          </a:xfrm>
          <a:prstGeom prst="rect">
            <a:avLst/>
          </a:prstGeom>
          <a:solidFill>
            <a:srgbClr val="FFFF00"/>
          </a:solidFill>
        </p:spPr>
        <p:txBody>
          <a:bodyPr wrap="square" rtlCol="0">
            <a:spAutoFit/>
          </a:bodyPr>
          <a:lstStyle/>
          <a:p>
            <a:r>
              <a:rPr lang="vi-VN" sz="2400">
                <a:solidFill>
                  <a:schemeClr val="bg1"/>
                </a:solidFill>
                <a:latin typeface="Sans-serif"/>
              </a:rPr>
              <a:t>BIỂU DIỄN DỮ LIỆU</a:t>
            </a:r>
            <a:endParaRPr lang="en-US" sz="2400">
              <a:solidFill>
                <a:schemeClr val="bg1"/>
              </a:solidFill>
              <a:latin typeface="Sans-serif"/>
            </a:endParaRPr>
          </a:p>
        </p:txBody>
      </p:sp>
      <p:pic>
        <p:nvPicPr>
          <p:cNvPr id="4" name="Picture 3">
            <a:extLst>
              <a:ext uri="{FF2B5EF4-FFF2-40B4-BE49-F238E27FC236}">
                <a16:creationId xmlns:a16="http://schemas.microsoft.com/office/drawing/2014/main" id="{5B555A3D-F23D-0F80-8A64-708DDF428D42}"/>
              </a:ext>
            </a:extLst>
          </p:cNvPr>
          <p:cNvPicPr>
            <a:picLocks noChangeAspect="1"/>
          </p:cNvPicPr>
          <p:nvPr/>
        </p:nvPicPr>
        <p:blipFill>
          <a:blip r:embed="rId2"/>
          <a:stretch>
            <a:fillRect/>
          </a:stretch>
        </p:blipFill>
        <p:spPr>
          <a:xfrm>
            <a:off x="0" y="719172"/>
            <a:ext cx="12192000" cy="4663056"/>
          </a:xfrm>
          <a:prstGeom prst="rect">
            <a:avLst/>
          </a:prstGeom>
        </p:spPr>
      </p:pic>
      <p:sp>
        <p:nvSpPr>
          <p:cNvPr id="8" name="TextBox 7">
            <a:extLst>
              <a:ext uri="{FF2B5EF4-FFF2-40B4-BE49-F238E27FC236}">
                <a16:creationId xmlns:a16="http://schemas.microsoft.com/office/drawing/2014/main" id="{1F877805-75D5-06FC-8A2C-C7C957F458CC}"/>
              </a:ext>
            </a:extLst>
          </p:cNvPr>
          <p:cNvSpPr txBox="1"/>
          <p:nvPr/>
        </p:nvSpPr>
        <p:spPr>
          <a:xfrm>
            <a:off x="536294" y="5540204"/>
            <a:ext cx="11655706" cy="1200329"/>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sz="2400" b="1">
                <a:latin typeface="Sans-serif"/>
              </a:rPr>
              <a:t>Age:</a:t>
            </a:r>
            <a:r>
              <a:rPr lang="en-US" altLang="en-US" sz="2400">
                <a:latin typeface="Sans-serif"/>
              </a:rPr>
              <a:t> Nguy cơ tăng mạnh sau tuổi 30; nhóm trẻ đa số khỏe mạnh.</a:t>
            </a:r>
          </a:p>
          <a:p>
            <a:pPr lvl="0" eaLnBrk="0" fontAlgn="base" hangingPunct="0">
              <a:spcBef>
                <a:spcPct val="0"/>
              </a:spcBef>
              <a:spcAft>
                <a:spcPct val="0"/>
              </a:spcAft>
              <a:buFontTx/>
              <a:buChar char="•"/>
            </a:pPr>
            <a:r>
              <a:rPr lang="en-US" altLang="en-US" sz="2400" b="1">
                <a:latin typeface="Sans-serif"/>
              </a:rPr>
              <a:t>Pregnancies:</a:t>
            </a:r>
            <a:r>
              <a:rPr lang="en-US" altLang="en-US" sz="2400">
                <a:latin typeface="Sans-serif"/>
              </a:rPr>
              <a:t> Tỷ lệ bệnh tăng dần theo số lần mang thai.</a:t>
            </a:r>
          </a:p>
          <a:p>
            <a:pPr lvl="0" eaLnBrk="0" fontAlgn="base" hangingPunct="0">
              <a:spcBef>
                <a:spcPct val="0"/>
              </a:spcBef>
              <a:spcAft>
                <a:spcPct val="0"/>
              </a:spcAft>
              <a:buFontTx/>
              <a:buChar char="•"/>
            </a:pPr>
            <a:r>
              <a:rPr lang="en-US" altLang="en-US" sz="2400" b="1">
                <a:latin typeface="Sans-serif"/>
              </a:rPr>
              <a:t>Outcome:</a:t>
            </a:r>
            <a:r>
              <a:rPr lang="en-US" altLang="en-US" sz="2400">
                <a:latin typeface="Sans-serif"/>
              </a:rPr>
              <a:t> Cấu trúc dữ liệu: 65.1% Khỏe mạnh - 34.9% Bệnh lý.</a:t>
            </a:r>
          </a:p>
        </p:txBody>
      </p:sp>
    </p:spTree>
    <p:extLst>
      <p:ext uri="{BB962C8B-B14F-4D97-AF65-F5344CB8AC3E}">
        <p14:creationId xmlns:p14="http://schemas.microsoft.com/office/powerpoint/2010/main" val="3273374883"/>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F07E79-8157-C2FA-561C-EE0028D42D54}"/>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3DBB7A0-86E6-3DBD-8D38-44BB8646E3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FB0C6BE-10D5-A302-2353-186BBCFAEC2F}"/>
              </a:ext>
            </a:extLst>
          </p:cNvPr>
          <p:cNvSpPr txBox="1"/>
          <p:nvPr/>
        </p:nvSpPr>
        <p:spPr>
          <a:xfrm>
            <a:off x="0" y="0"/>
            <a:ext cx="12192000" cy="461665"/>
          </a:xfrm>
          <a:prstGeom prst="rect">
            <a:avLst/>
          </a:prstGeom>
          <a:solidFill>
            <a:srgbClr val="FFFF00"/>
          </a:solidFill>
        </p:spPr>
        <p:txBody>
          <a:bodyPr wrap="square" rtlCol="0">
            <a:spAutoFit/>
          </a:bodyPr>
          <a:lstStyle/>
          <a:p>
            <a:r>
              <a:rPr lang="vi-VN" sz="2400">
                <a:solidFill>
                  <a:schemeClr val="bg1"/>
                </a:solidFill>
                <a:latin typeface="Sans-serif"/>
              </a:rPr>
              <a:t>BIỂU DIỄN DỮ LIỆU</a:t>
            </a:r>
            <a:endParaRPr lang="en-US" sz="2400">
              <a:solidFill>
                <a:schemeClr val="bg1"/>
              </a:solidFill>
              <a:latin typeface="Sans-serif"/>
            </a:endParaRPr>
          </a:p>
        </p:txBody>
      </p:sp>
      <p:pic>
        <p:nvPicPr>
          <p:cNvPr id="3" name="Picture 2">
            <a:extLst>
              <a:ext uri="{FF2B5EF4-FFF2-40B4-BE49-F238E27FC236}">
                <a16:creationId xmlns:a16="http://schemas.microsoft.com/office/drawing/2014/main" id="{4DD3582E-2C1B-7C1D-B9B7-90BC644199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16" y="653516"/>
            <a:ext cx="6451913" cy="6012633"/>
          </a:xfrm>
          <a:prstGeom prst="rect">
            <a:avLst/>
          </a:prstGeom>
        </p:spPr>
      </p:pic>
      <p:sp>
        <p:nvSpPr>
          <p:cNvPr id="9" name="TextBox 8">
            <a:extLst>
              <a:ext uri="{FF2B5EF4-FFF2-40B4-BE49-F238E27FC236}">
                <a16:creationId xmlns:a16="http://schemas.microsoft.com/office/drawing/2014/main" id="{9A8A1F41-5E7C-C245-564C-AA1F00255371}"/>
              </a:ext>
            </a:extLst>
          </p:cNvPr>
          <p:cNvSpPr txBox="1"/>
          <p:nvPr/>
        </p:nvSpPr>
        <p:spPr>
          <a:xfrm>
            <a:off x="6930873" y="2326512"/>
            <a:ext cx="5016111" cy="2431435"/>
          </a:xfrm>
          <a:prstGeom prst="rect">
            <a:avLst/>
          </a:prstGeom>
          <a:noFill/>
        </p:spPr>
        <p:txBody>
          <a:bodyPr wrap="square" rtlCol="0">
            <a:spAutoFit/>
          </a:bodyPr>
          <a:lstStyle/>
          <a:p>
            <a:pPr lvl="0" algn="ctr" eaLnBrk="0" fontAlgn="base" hangingPunct="0">
              <a:spcBef>
                <a:spcPct val="0"/>
              </a:spcBef>
              <a:spcAft>
                <a:spcPct val="0"/>
              </a:spcAft>
            </a:pPr>
            <a:r>
              <a:rPr lang="vi-VN" altLang="en-US" sz="2800" b="1">
                <a:latin typeface="Sans-serif"/>
              </a:rPr>
              <a:t>Ma trận tương quan (Heatmap)</a:t>
            </a:r>
          </a:p>
          <a:p>
            <a:pPr lvl="0" eaLnBrk="0" fontAlgn="base" hangingPunct="0">
              <a:spcBef>
                <a:spcPct val="0"/>
              </a:spcBef>
              <a:spcAft>
                <a:spcPct val="0"/>
              </a:spcAft>
              <a:buFontTx/>
              <a:buChar char="•"/>
            </a:pPr>
            <a:r>
              <a:rPr lang="en-US" altLang="en-US" sz="2400" b="1">
                <a:latin typeface="Sans-serif"/>
              </a:rPr>
              <a:t>Glucose</a:t>
            </a:r>
            <a:r>
              <a:rPr lang="en-US" altLang="en-US" sz="2400">
                <a:latin typeface="Sans-serif"/>
              </a:rPr>
              <a:t> có tương quan thuận mạnh nhất với kết quả bệnh (0.47).</a:t>
            </a:r>
          </a:p>
          <a:p>
            <a:pPr lvl="0" eaLnBrk="0" fontAlgn="base" hangingPunct="0">
              <a:spcBef>
                <a:spcPct val="0"/>
              </a:spcBef>
              <a:spcAft>
                <a:spcPct val="0"/>
              </a:spcAft>
              <a:buFontTx/>
              <a:buChar char="•"/>
            </a:pPr>
            <a:r>
              <a:rPr lang="en-US" altLang="en-US" sz="2400" b="1">
                <a:latin typeface="Sans-serif"/>
              </a:rPr>
              <a:t>Age</a:t>
            </a:r>
            <a:r>
              <a:rPr lang="en-US" altLang="en-US" sz="2400">
                <a:latin typeface="Sans-serif"/>
              </a:rPr>
              <a:t> tương quan với </a:t>
            </a:r>
            <a:r>
              <a:rPr lang="en-US" altLang="en-US" sz="2400" b="1">
                <a:latin typeface="Sans-serif"/>
              </a:rPr>
              <a:t>Pregnancies</a:t>
            </a:r>
            <a:r>
              <a:rPr lang="en-US" altLang="en-US" sz="2400">
                <a:latin typeface="Sans-serif"/>
              </a:rPr>
              <a:t>, ảnh hưởng trực tiếp đến kết quả dự đoán.</a:t>
            </a:r>
          </a:p>
          <a:p>
            <a:endParaRPr lang="en-US" sz="2800">
              <a:latin typeface="Sans-serif"/>
            </a:endParaRPr>
          </a:p>
        </p:txBody>
      </p:sp>
    </p:spTree>
    <p:extLst>
      <p:ext uri="{BB962C8B-B14F-4D97-AF65-F5344CB8AC3E}">
        <p14:creationId xmlns:p14="http://schemas.microsoft.com/office/powerpoint/2010/main" val="3256785327"/>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56CC72-B87B-7EEB-318F-67A315769C60}"/>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6E201EE-2A40-6533-03B6-7F26BD1F4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0E735847-4F91-B8BE-46C7-AF861599979C}"/>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0" i="0" u="none" strike="noStrike" kern="1200" cap="none" spc="0" normalizeH="0" baseline="0" noProof="0" dirty="0">
                <a:ln>
                  <a:noFill/>
                </a:ln>
                <a:solidFill>
                  <a:prstClr val="black"/>
                </a:solidFill>
                <a:effectLst/>
                <a:highlight>
                  <a:srgbClr val="FFFF00"/>
                </a:highlight>
                <a:uLnTx/>
                <a:uFillTx/>
                <a:latin typeface="Sans-serif"/>
                <a:ea typeface="+mn-ea"/>
                <a:cs typeface="+mn-cs"/>
              </a:rPr>
              <a:t>Phân tích yếu tố di truyền</a:t>
            </a:r>
            <a:endParaRPr kumimoji="0" lang="en-US" sz="3200" b="0" i="0" u="none" strike="noStrike" kern="1200" cap="none" spc="0" normalizeH="0" baseline="0" noProof="0" dirty="0">
              <a:ln>
                <a:noFill/>
              </a:ln>
              <a:solidFill>
                <a:prstClr val="black"/>
              </a:solidFill>
              <a:effectLst/>
              <a:highlight>
                <a:srgbClr val="FFFF00"/>
              </a:highlight>
              <a:uLnTx/>
              <a:uFillTx/>
              <a:latin typeface="Sans-serif"/>
              <a:ea typeface="+mn-ea"/>
              <a:cs typeface="+mn-cs"/>
            </a:endParaRPr>
          </a:p>
        </p:txBody>
      </p:sp>
      <p:sp>
        <p:nvSpPr>
          <p:cNvPr id="8" name="Rectangle 1">
            <a:extLst>
              <a:ext uri="{FF2B5EF4-FFF2-40B4-BE49-F238E27FC236}">
                <a16:creationId xmlns:a16="http://schemas.microsoft.com/office/drawing/2014/main" id="{4B7412F3-99EB-4E18-C24C-5BFEC0050347}"/>
              </a:ext>
            </a:extLst>
          </p:cNvPr>
          <p:cNvSpPr>
            <a:spLocks noGrp="1" noChangeArrowheads="1"/>
          </p:cNvSpPr>
          <p:nvPr>
            <p:ph type="ctrTitle"/>
          </p:nvPr>
        </p:nvSpPr>
        <p:spPr bwMode="auto">
          <a:xfrm>
            <a:off x="94291" y="774291"/>
            <a:ext cx="120034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buFontTx/>
              <a:buChar char="•"/>
            </a:pPr>
            <a:r>
              <a:rPr lang="vi-VN" sz="3200" dirty="0">
                <a:latin typeface="Sans-serif"/>
              </a:rPr>
              <a:t>Kết hợp yếu tố di truyền với </a:t>
            </a:r>
            <a:r>
              <a:rPr lang="vi-VN" sz="3200" dirty="0" err="1">
                <a:latin typeface="Sans-serif"/>
              </a:rPr>
              <a:t>Glucose</a:t>
            </a:r>
            <a:r>
              <a:rPr lang="vi-VN" sz="3200" dirty="0">
                <a:latin typeface="Sans-serif"/>
              </a:rPr>
              <a:t> </a:t>
            </a:r>
            <a:endParaRPr kumimoji="0" lang="en-US" altLang="en-US" sz="3200" b="0" i="0" u="none" strike="noStrike" cap="none" normalizeH="0" baseline="0" dirty="0">
              <a:ln>
                <a:noFill/>
              </a:ln>
              <a:solidFill>
                <a:schemeClr val="tx1"/>
              </a:solidFill>
              <a:effectLst/>
              <a:latin typeface="Sans-serif"/>
            </a:endParaRPr>
          </a:p>
        </p:txBody>
      </p:sp>
      <p:pic>
        <p:nvPicPr>
          <p:cNvPr id="4" name="Picture 3">
            <a:extLst>
              <a:ext uri="{FF2B5EF4-FFF2-40B4-BE49-F238E27FC236}">
                <a16:creationId xmlns:a16="http://schemas.microsoft.com/office/drawing/2014/main" id="{2B950587-956F-409D-BF47-D8DA3E24E794}"/>
              </a:ext>
            </a:extLst>
          </p:cNvPr>
          <p:cNvPicPr>
            <a:picLocks noChangeAspect="1"/>
          </p:cNvPicPr>
          <p:nvPr/>
        </p:nvPicPr>
        <p:blipFill>
          <a:blip r:embed="rId2"/>
          <a:stretch>
            <a:fillRect/>
          </a:stretch>
        </p:blipFill>
        <p:spPr>
          <a:xfrm>
            <a:off x="2867596" y="1548582"/>
            <a:ext cx="6187914" cy="4908404"/>
          </a:xfrm>
          <a:prstGeom prst="rect">
            <a:avLst/>
          </a:prstGeom>
        </p:spPr>
      </p:pic>
    </p:spTree>
    <p:extLst>
      <p:ext uri="{BB962C8B-B14F-4D97-AF65-F5344CB8AC3E}">
        <p14:creationId xmlns:p14="http://schemas.microsoft.com/office/powerpoint/2010/main" val="3513623326"/>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E60000-DCD7-0EDF-7D1C-E967646CCDF0}"/>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5B82686-5795-B7DD-58F8-3DE285E662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DE84E3C2-BD66-490B-BECF-129F6BB78D88}"/>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highlight>
                  <a:srgbClr val="FFFF00"/>
                </a:highlight>
                <a:uLnTx/>
                <a:uFillTx/>
                <a:latin typeface="Sans-serif"/>
                <a:ea typeface="+mn-ea"/>
                <a:cs typeface="+mn-cs"/>
              </a:rPr>
              <a:t>Phân tích yếu tố di truyền</a:t>
            </a:r>
            <a:endParaRPr kumimoji="0" lang="en-US" sz="3200" b="1" i="0" u="none" strike="noStrike" kern="1200" cap="none" spc="0" normalizeH="0" baseline="0" noProof="0" dirty="0">
              <a:ln>
                <a:noFill/>
              </a:ln>
              <a:solidFill>
                <a:prstClr val="black"/>
              </a:solidFill>
              <a:effectLst/>
              <a:highlight>
                <a:srgbClr val="FFFF00"/>
              </a:highlight>
              <a:uLnTx/>
              <a:uFillTx/>
              <a:latin typeface="Sans-serif"/>
              <a:ea typeface="+mn-ea"/>
              <a:cs typeface="+mn-cs"/>
            </a:endParaRPr>
          </a:p>
        </p:txBody>
      </p:sp>
      <p:sp>
        <p:nvSpPr>
          <p:cNvPr id="8" name="Rectangle 1">
            <a:extLst>
              <a:ext uri="{FF2B5EF4-FFF2-40B4-BE49-F238E27FC236}">
                <a16:creationId xmlns:a16="http://schemas.microsoft.com/office/drawing/2014/main" id="{2325FD33-4723-30C8-E68D-C6307FD284BD}"/>
              </a:ext>
            </a:extLst>
          </p:cNvPr>
          <p:cNvSpPr>
            <a:spLocks noGrp="1" noChangeArrowheads="1"/>
          </p:cNvSpPr>
          <p:nvPr>
            <p:ph type="ctrTitle"/>
          </p:nvPr>
        </p:nvSpPr>
        <p:spPr bwMode="auto">
          <a:xfrm>
            <a:off x="126811" y="778968"/>
            <a:ext cx="11938378"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buFontTx/>
              <a:buChar char="•"/>
            </a:pPr>
            <a:r>
              <a:rPr lang="vi-VN" sz="3200" dirty="0">
                <a:latin typeface="Sans-serif"/>
              </a:rPr>
              <a:t>Kết hợp yếu tố di truyền với </a:t>
            </a:r>
            <a:r>
              <a:rPr lang="vi-VN" sz="3200" dirty="0" err="1">
                <a:latin typeface="Sans-serif"/>
              </a:rPr>
              <a:t>Glucose</a:t>
            </a:r>
            <a:br>
              <a:rPr lang="vi-VN" sz="3200" dirty="0">
                <a:latin typeface="Sans-serif"/>
              </a:rPr>
            </a:br>
            <a:br>
              <a:rPr lang="vi-VN" sz="3200" dirty="0">
                <a:latin typeface="Sans-serif"/>
              </a:rPr>
            </a:br>
            <a:r>
              <a:rPr lang="vi-VN" sz="3200" dirty="0">
                <a:latin typeface="Sans-serif"/>
              </a:rPr>
              <a:t>Bốn vùng nguy cơ (DPF – </a:t>
            </a:r>
            <a:r>
              <a:rPr lang="vi-VN" sz="3200" dirty="0" err="1">
                <a:latin typeface="Sans-serif"/>
              </a:rPr>
              <a:t>Glucose</a:t>
            </a:r>
            <a:r>
              <a:rPr lang="vi-VN" sz="3200" dirty="0">
                <a:latin typeface="Sans-serif"/>
              </a:rPr>
              <a:t>):</a:t>
            </a:r>
            <a:br>
              <a:rPr lang="vi-VN" sz="3200" dirty="0">
                <a:latin typeface="Sans-serif"/>
              </a:rPr>
            </a:br>
            <a:r>
              <a:rPr lang="vi-VN" sz="3200" dirty="0">
                <a:latin typeface="Sans-serif"/>
              </a:rPr>
              <a:t>Nguy cơ thấp: </a:t>
            </a:r>
            <a:r>
              <a:rPr lang="vi-VN" sz="3200" b="0" dirty="0">
                <a:latin typeface="Sans-serif"/>
              </a:rPr>
              <a:t>DPF &lt; 0.6 &amp; </a:t>
            </a:r>
            <a:r>
              <a:rPr lang="vi-VN" sz="3200" b="0" dirty="0" err="1">
                <a:latin typeface="Sans-serif"/>
              </a:rPr>
              <a:t>Glucose</a:t>
            </a:r>
            <a:r>
              <a:rPr lang="vi-VN" sz="3200" b="0" dirty="0">
                <a:latin typeface="Sans-serif"/>
              </a:rPr>
              <a:t> &lt; 110 → đa số không mắc.                 </a:t>
            </a:r>
            <a:r>
              <a:rPr lang="vi-VN" sz="3200" dirty="0">
                <a:latin typeface="Sans-serif"/>
              </a:rPr>
              <a:t>Nguy cơ trung bình: </a:t>
            </a:r>
            <a:r>
              <a:rPr lang="vi-VN" sz="3200" b="0" dirty="0">
                <a:latin typeface="Sans-serif"/>
              </a:rPr>
              <a:t>Chỉ 1 yếu tố bất thường (DPF cao hoặc </a:t>
            </a:r>
            <a:r>
              <a:rPr lang="vi-VN" sz="3200" b="0" dirty="0" err="1">
                <a:latin typeface="Sans-serif"/>
              </a:rPr>
              <a:t>Glucose</a:t>
            </a:r>
            <a:r>
              <a:rPr lang="vi-VN" sz="3200" b="0" dirty="0">
                <a:latin typeface="Sans-serif"/>
              </a:rPr>
              <a:t>   	cao) → cần theo dõi.</a:t>
            </a:r>
            <a:br>
              <a:rPr lang="vi-VN" sz="3200" b="0" dirty="0">
                <a:latin typeface="Sans-serif"/>
              </a:rPr>
            </a:br>
            <a:r>
              <a:rPr lang="vi-VN" sz="3200" dirty="0">
                <a:latin typeface="Sans-serif"/>
              </a:rPr>
              <a:t>Nguy cơ cao</a:t>
            </a:r>
            <a:r>
              <a:rPr lang="vi-VN" sz="3200" b="0" dirty="0">
                <a:latin typeface="Sans-serif"/>
              </a:rPr>
              <a:t>: DPF &gt; 1.0 &amp; </a:t>
            </a:r>
            <a:r>
              <a:rPr lang="vi-VN" sz="3200" b="0" dirty="0" err="1">
                <a:latin typeface="Sans-serif"/>
              </a:rPr>
              <a:t>Glucose</a:t>
            </a:r>
            <a:r>
              <a:rPr lang="vi-VN" sz="3200" b="0" dirty="0">
                <a:latin typeface="Sans-serif"/>
              </a:rPr>
              <a:t> &gt; 140 → tập trung ca mắc bệnh. </a:t>
            </a:r>
            <a:br>
              <a:rPr lang="vi-VN" sz="3200" b="0" dirty="0">
                <a:latin typeface="Sans-serif"/>
              </a:rPr>
            </a:br>
            <a:r>
              <a:rPr lang="vi-VN" sz="3200" dirty="0">
                <a:latin typeface="Sans-serif"/>
              </a:rPr>
              <a:t>Đặc biệt: </a:t>
            </a:r>
            <a:r>
              <a:rPr lang="vi-VN" sz="3200" b="0" dirty="0">
                <a:latin typeface="Sans-serif"/>
              </a:rPr>
              <a:t>DPF thấp nhưng </a:t>
            </a:r>
            <a:r>
              <a:rPr lang="vi-VN" sz="3200" b="0" dirty="0" err="1">
                <a:latin typeface="Sans-serif"/>
              </a:rPr>
              <a:t>Glucose</a:t>
            </a:r>
            <a:r>
              <a:rPr lang="vi-VN" sz="3200" b="0" dirty="0">
                <a:latin typeface="Sans-serif"/>
              </a:rPr>
              <a:t> &gt; 180 → có thể </a:t>
            </a:r>
            <a:r>
              <a:rPr lang="vi-VN" sz="3200" b="0" dirty="0" err="1">
                <a:latin typeface="Sans-serif"/>
              </a:rPr>
              <a:t>type</a:t>
            </a:r>
            <a:r>
              <a:rPr lang="vi-VN" sz="3200" b="0" dirty="0">
                <a:latin typeface="Sans-serif"/>
              </a:rPr>
              <a:t> 1. </a:t>
            </a:r>
            <a:br>
              <a:rPr lang="vi-VN" sz="3200" dirty="0">
                <a:latin typeface="Sans-serif"/>
              </a:rPr>
            </a:br>
            <a:r>
              <a:rPr lang="vi-VN" sz="3200" dirty="0">
                <a:latin typeface="Sans-serif"/>
              </a:rPr>
              <a:t>Ý nghĩa </a:t>
            </a:r>
            <a:br>
              <a:rPr lang="vi-VN" sz="3200" dirty="0">
                <a:latin typeface="Sans-serif"/>
              </a:rPr>
            </a:br>
            <a:r>
              <a:rPr lang="vi-VN" sz="3200" dirty="0">
                <a:latin typeface="Sans-serif"/>
              </a:rPr>
              <a:t>         </a:t>
            </a:r>
            <a:r>
              <a:rPr lang="vi-VN" sz="3200" b="0" dirty="0">
                <a:latin typeface="Sans-serif"/>
              </a:rPr>
              <a:t>Sự kết hợp DPF + </a:t>
            </a:r>
            <a:r>
              <a:rPr lang="vi-VN" sz="3200" b="0" dirty="0" err="1">
                <a:latin typeface="Sans-serif"/>
              </a:rPr>
              <a:t>Glucose</a:t>
            </a:r>
            <a:r>
              <a:rPr lang="vi-VN" sz="3200" b="0" dirty="0">
                <a:latin typeface="Sans-serif"/>
              </a:rPr>
              <a:t> cải thiện phân loại nguy cơ rõ rệt so với dùng từng chỉ số đơn lẻ.   </a:t>
            </a:r>
            <a:endParaRPr kumimoji="0" lang="en-US" altLang="en-US" sz="3200" b="0" i="0" u="none" strike="noStrike" cap="none" normalizeH="0" baseline="0" dirty="0">
              <a:ln>
                <a:noFill/>
              </a:ln>
              <a:solidFill>
                <a:schemeClr val="tx1"/>
              </a:solidFill>
              <a:effectLst/>
              <a:latin typeface="Sans-serif"/>
            </a:endParaRPr>
          </a:p>
        </p:txBody>
      </p:sp>
    </p:spTree>
    <p:extLst>
      <p:ext uri="{BB962C8B-B14F-4D97-AF65-F5344CB8AC3E}">
        <p14:creationId xmlns:p14="http://schemas.microsoft.com/office/powerpoint/2010/main" val="3614392715"/>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64CECC-9D85-8907-7747-4667EDAA289B}"/>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D88E64D-5A71-3F7B-DBFB-4064F332E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E1873DEA-5E13-2AFA-5A62-593C198C5DAE}"/>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Phân tích theo số lần có thai</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2" name="Title 1">
            <a:extLst>
              <a:ext uri="{FF2B5EF4-FFF2-40B4-BE49-F238E27FC236}">
                <a16:creationId xmlns:a16="http://schemas.microsoft.com/office/drawing/2014/main" id="{CB4D2D22-ACF9-0F77-4CAD-BA72EEF5CA32}"/>
              </a:ext>
            </a:extLst>
          </p:cNvPr>
          <p:cNvSpPr>
            <a:spLocks noGrp="1" noChangeArrowheads="1"/>
          </p:cNvSpPr>
          <p:nvPr>
            <p:ph type="ctrTitle"/>
          </p:nvPr>
        </p:nvSpPr>
        <p:spPr bwMode="auto">
          <a:xfrm>
            <a:off x="5810864" y="966500"/>
            <a:ext cx="6287473"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3200" b="1" i="0" u="none" strike="noStrike" cap="none" normalizeH="0" baseline="0" dirty="0">
                <a:ln>
                  <a:noFill/>
                </a:ln>
                <a:solidFill>
                  <a:schemeClr val="tx1"/>
                </a:solidFill>
                <a:effectLst/>
                <a:latin typeface="Sans-serif"/>
              </a:rPr>
              <a:t>Nhóm có bệnh (</a:t>
            </a:r>
            <a:r>
              <a:rPr kumimoji="0" lang="vi-VN" altLang="vi-VN" sz="3200" b="1" i="0" u="none" strike="noStrike" cap="none" normalizeH="0" baseline="0" dirty="0" err="1">
                <a:ln>
                  <a:noFill/>
                </a:ln>
                <a:solidFill>
                  <a:schemeClr val="tx1"/>
                </a:solidFill>
                <a:effectLst/>
                <a:latin typeface="Sans-serif"/>
              </a:rPr>
              <a:t>Outcome</a:t>
            </a:r>
            <a:r>
              <a:rPr kumimoji="0" lang="vi-VN" altLang="vi-VN" sz="3200" b="1" i="0" u="none" strike="noStrike" cap="none" normalizeH="0" baseline="0" dirty="0">
                <a:ln>
                  <a:noFill/>
                </a:ln>
                <a:solidFill>
                  <a:schemeClr val="tx1"/>
                </a:solidFill>
                <a:effectLst/>
                <a:latin typeface="Sans-serif"/>
              </a:rPr>
              <a:t>=1):</a:t>
            </a:r>
            <a:r>
              <a:rPr kumimoji="0" lang="vi-VN" altLang="vi-VN" sz="3200" b="0" i="0" u="none" strike="noStrike" cap="none" normalizeH="0" baseline="0" dirty="0">
                <a:ln>
                  <a:noFill/>
                </a:ln>
                <a:solidFill>
                  <a:schemeClr val="tx1"/>
                </a:solidFill>
                <a:effectLst/>
                <a:latin typeface="Sans-serif"/>
              </a:rPr>
              <a:t> Giá trị trung vị cao hơn hẳn (đạt mức 4-5 lần). Nhóm này xuất hiện nhiều điểm dữ liệu ngoại lai (</a:t>
            </a:r>
            <a:r>
              <a:rPr kumimoji="0" lang="vi-VN" altLang="vi-VN" sz="3200" b="0" i="0" u="none" strike="noStrike" cap="none" normalizeH="0" baseline="0" dirty="0" err="1">
                <a:ln>
                  <a:noFill/>
                </a:ln>
                <a:solidFill>
                  <a:schemeClr val="tx1"/>
                </a:solidFill>
                <a:effectLst/>
                <a:latin typeface="Sans-serif"/>
              </a:rPr>
              <a:t>outliers</a:t>
            </a:r>
            <a:r>
              <a:rPr kumimoji="0" lang="vi-VN" altLang="vi-VN" sz="3200" b="0" i="0" u="none" strike="noStrike" cap="none" normalizeH="0" baseline="0" dirty="0">
                <a:ln>
                  <a:noFill/>
                </a:ln>
                <a:solidFill>
                  <a:schemeClr val="tx1"/>
                </a:solidFill>
                <a:effectLst/>
                <a:latin typeface="Sans-serif"/>
              </a:rPr>
              <a:t>) thể hiện số lần mang thai rất lớn (từ 10 đến 17 lần).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3200" b="1" i="0" u="none" strike="noStrike" cap="none" normalizeH="0" baseline="0" dirty="0">
                <a:ln>
                  <a:noFill/>
                </a:ln>
                <a:solidFill>
                  <a:schemeClr val="tx1"/>
                </a:solidFill>
                <a:effectLst/>
                <a:latin typeface="Sans-serif"/>
              </a:rPr>
              <a:t>Nhóm không bệnh (</a:t>
            </a:r>
            <a:r>
              <a:rPr kumimoji="0" lang="vi-VN" altLang="vi-VN" sz="3200" b="1" i="0" u="none" strike="noStrike" cap="none" normalizeH="0" baseline="0" dirty="0" err="1">
                <a:ln>
                  <a:noFill/>
                </a:ln>
                <a:solidFill>
                  <a:schemeClr val="tx1"/>
                </a:solidFill>
                <a:effectLst/>
                <a:latin typeface="Sans-serif"/>
              </a:rPr>
              <a:t>Outcome</a:t>
            </a:r>
            <a:r>
              <a:rPr kumimoji="0" lang="vi-VN" altLang="vi-VN" sz="3200" b="1" i="0" u="none" strike="noStrike" cap="none" normalizeH="0" baseline="0" dirty="0">
                <a:ln>
                  <a:noFill/>
                </a:ln>
                <a:solidFill>
                  <a:schemeClr val="tx1"/>
                </a:solidFill>
                <a:effectLst/>
                <a:latin typeface="Sans-serif"/>
              </a:rPr>
              <a:t>=0):</a:t>
            </a:r>
            <a:r>
              <a:rPr kumimoji="0" lang="vi-VN" altLang="vi-VN" sz="3200" b="0" i="0" u="none" strike="noStrike" cap="none" normalizeH="0" baseline="0" dirty="0">
                <a:ln>
                  <a:noFill/>
                </a:ln>
                <a:solidFill>
                  <a:schemeClr val="tx1"/>
                </a:solidFill>
                <a:effectLst/>
                <a:latin typeface="Sans-serif"/>
              </a:rPr>
              <a:t> Mức trung vị thấp hơn (chỉ khoảng 2-3 lần). Dữ liệu chủ yếu quần tụ ở các giá trị nhỏ và rất hiếm khi ghi nhận các </a:t>
            </a:r>
            <a:r>
              <a:rPr kumimoji="0" lang="vi-VN" altLang="vi-VN" sz="3200" b="0" i="0" u="none" strike="noStrike" cap="none" normalizeH="0" baseline="0" dirty="0" err="1">
                <a:ln>
                  <a:noFill/>
                </a:ln>
                <a:solidFill>
                  <a:schemeClr val="tx1"/>
                </a:solidFill>
                <a:effectLst/>
                <a:latin typeface="Sans-serif"/>
              </a:rPr>
              <a:t>outliers</a:t>
            </a:r>
            <a:r>
              <a:rPr kumimoji="0" lang="vi-VN" altLang="vi-VN" sz="3200" b="0" i="0" u="none" strike="noStrike" cap="none" normalizeH="0" baseline="0" dirty="0">
                <a:ln>
                  <a:noFill/>
                </a:ln>
                <a:solidFill>
                  <a:schemeClr val="tx1"/>
                </a:solidFill>
                <a:effectLst/>
                <a:latin typeface="Sans-serif"/>
              </a:rPr>
              <a:t> ở mức cao.</a:t>
            </a:r>
          </a:p>
        </p:txBody>
      </p:sp>
      <p:pic>
        <p:nvPicPr>
          <p:cNvPr id="4" name="Picture 3">
            <a:extLst>
              <a:ext uri="{FF2B5EF4-FFF2-40B4-BE49-F238E27FC236}">
                <a16:creationId xmlns:a16="http://schemas.microsoft.com/office/drawing/2014/main" id="{50CD4AC2-155A-35E8-C13D-5A7CCD4FB499}"/>
              </a:ext>
            </a:extLst>
          </p:cNvPr>
          <p:cNvPicPr>
            <a:picLocks noChangeAspect="1"/>
          </p:cNvPicPr>
          <p:nvPr/>
        </p:nvPicPr>
        <p:blipFill>
          <a:blip r:embed="rId2"/>
          <a:stretch>
            <a:fillRect/>
          </a:stretch>
        </p:blipFill>
        <p:spPr>
          <a:xfrm>
            <a:off x="380470" y="1430643"/>
            <a:ext cx="5336731" cy="4580913"/>
          </a:xfrm>
          <a:prstGeom prst="rect">
            <a:avLst/>
          </a:prstGeom>
        </p:spPr>
      </p:pic>
    </p:spTree>
    <p:extLst>
      <p:ext uri="{BB962C8B-B14F-4D97-AF65-F5344CB8AC3E}">
        <p14:creationId xmlns:p14="http://schemas.microsoft.com/office/powerpoint/2010/main" val="187462185"/>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0D32E5-CCA1-7B73-A64A-B6636DD466C6}"/>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2190CA6-D2E6-F21E-4D03-E61391040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06512F22-1306-E667-B841-7EBD3276DBAF}"/>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Phân tích theo số lần có thai</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pic>
        <p:nvPicPr>
          <p:cNvPr id="3" name="Picture 2">
            <a:extLst>
              <a:ext uri="{FF2B5EF4-FFF2-40B4-BE49-F238E27FC236}">
                <a16:creationId xmlns:a16="http://schemas.microsoft.com/office/drawing/2014/main" id="{39A4D45A-6925-125F-E65E-68ABE4FF1416}"/>
              </a:ext>
            </a:extLst>
          </p:cNvPr>
          <p:cNvPicPr>
            <a:picLocks noChangeAspect="1"/>
          </p:cNvPicPr>
          <p:nvPr/>
        </p:nvPicPr>
        <p:blipFill>
          <a:blip r:embed="rId2"/>
          <a:stretch>
            <a:fillRect/>
          </a:stretch>
        </p:blipFill>
        <p:spPr>
          <a:xfrm>
            <a:off x="1992069" y="775407"/>
            <a:ext cx="6983766" cy="5844632"/>
          </a:xfrm>
          <a:prstGeom prst="rect">
            <a:avLst/>
          </a:prstGeom>
        </p:spPr>
      </p:pic>
    </p:spTree>
    <p:extLst>
      <p:ext uri="{BB962C8B-B14F-4D97-AF65-F5344CB8AC3E}">
        <p14:creationId xmlns:p14="http://schemas.microsoft.com/office/powerpoint/2010/main" val="1835607000"/>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7DCF0C-8092-EBE7-7FA8-25BFF58DE696}"/>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2D2294E-995B-B6EA-0B84-8D49F90C6A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3FE940B0-0933-88F9-312F-487E5519DB37}"/>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Phân tích theo số lần có thai </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8" name="Rectangle 1">
            <a:extLst>
              <a:ext uri="{FF2B5EF4-FFF2-40B4-BE49-F238E27FC236}">
                <a16:creationId xmlns:a16="http://schemas.microsoft.com/office/drawing/2014/main" id="{6B4FB2D2-5013-B1BA-6583-C0EA3FD2CC4C}"/>
              </a:ext>
            </a:extLst>
          </p:cNvPr>
          <p:cNvSpPr>
            <a:spLocks noGrp="1" noChangeArrowheads="1"/>
          </p:cNvSpPr>
          <p:nvPr>
            <p:ph type="ctrTitle"/>
          </p:nvPr>
        </p:nvSpPr>
        <p:spPr bwMode="auto">
          <a:xfrm>
            <a:off x="94291" y="945243"/>
            <a:ext cx="12003417" cy="4967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r>
              <a:rPr lang="vi-VN" sz="3200" dirty="0">
                <a:latin typeface="Sans-serif"/>
              </a:rPr>
              <a:t>Cơ chế bệnh sinh:</a:t>
            </a:r>
            <a:br>
              <a:rPr lang="vi-VN" sz="3200" b="0" dirty="0">
                <a:latin typeface="Sans-serif"/>
              </a:rPr>
            </a:br>
            <a:r>
              <a:rPr lang="vi-VN" sz="3200" b="0" dirty="0">
                <a:latin typeface="Sans-serif"/>
              </a:rPr>
              <a:t> 	Đái tháo đường thai kỳ: Mỗi lần mang thai là một lần nguy cơ 	Thay đổi nội tiết tố: Ảnh hưởng lâu dài đến chuyển hóa </a:t>
            </a:r>
            <a:r>
              <a:rPr lang="vi-VN" sz="3200" b="0" dirty="0" err="1">
                <a:latin typeface="Sans-serif"/>
              </a:rPr>
              <a:t>glucose</a:t>
            </a:r>
            <a:r>
              <a:rPr lang="vi-VN" sz="3200" b="0" dirty="0">
                <a:latin typeface="Sans-serif"/>
              </a:rPr>
              <a:t> 	Tích lũy nguy cơ: Tác động cộng dồn qua các lần mang thai </a:t>
            </a:r>
            <a:r>
              <a:rPr lang="vi-VN" sz="3200" dirty="0">
                <a:latin typeface="Sans-serif"/>
              </a:rPr>
              <a:t>Ngưỡng quan trọng:</a:t>
            </a:r>
            <a:br>
              <a:rPr lang="vi-VN" sz="3200" b="0" dirty="0">
                <a:latin typeface="Sans-serif"/>
              </a:rPr>
            </a:br>
            <a:r>
              <a:rPr lang="vi-VN" sz="3200" b="0" dirty="0">
                <a:latin typeface="Sans-serif"/>
              </a:rPr>
              <a:t>	 ≥4 lần mang thai: Cần tầm soát đái tháo đường tích cực </a:t>
            </a:r>
            <a:br>
              <a:rPr lang="vi-VN" sz="3200" b="0" dirty="0">
                <a:latin typeface="Sans-serif"/>
              </a:rPr>
            </a:br>
            <a:r>
              <a:rPr lang="vi-VN" sz="3200" b="0" dirty="0">
                <a:latin typeface="Sans-serif"/>
              </a:rPr>
              <a:t>	 ≥7 lần mang thai: Nguy cơ rất cao, cần can thiệp sớm </a:t>
            </a:r>
            <a:br>
              <a:rPr lang="vi-VN" sz="3200" b="0" dirty="0">
                <a:latin typeface="Sans-serif"/>
              </a:rPr>
            </a:br>
            <a:r>
              <a:rPr lang="vi-VN" sz="3200" b="0" dirty="0">
                <a:latin typeface="Sans-serif"/>
              </a:rPr>
              <a:t>Số lần mang thai có mối quan hệ rõ rệt với nguy cơ đái tháo đường. Nhóm mắc bệnh có số lần mang thai trung bình cao hơn đáng kể so với nhóm khỏe mạnh. Tỷ lệ mắc bệnh tăng dần theo số lần mang thai, đặc biệt sau 4 lần. </a:t>
            </a:r>
            <a:endParaRPr kumimoji="0" lang="en-US" altLang="en-US" sz="3200" b="0" i="0" u="none" strike="noStrike" cap="none" normalizeH="0" baseline="0" dirty="0">
              <a:ln>
                <a:noFill/>
              </a:ln>
              <a:solidFill>
                <a:schemeClr val="tx1"/>
              </a:solidFill>
              <a:effectLst/>
              <a:latin typeface="Sans-serif"/>
            </a:endParaRPr>
          </a:p>
        </p:txBody>
      </p:sp>
    </p:spTree>
    <p:extLst>
      <p:ext uri="{BB962C8B-B14F-4D97-AF65-F5344CB8AC3E}">
        <p14:creationId xmlns:p14="http://schemas.microsoft.com/office/powerpoint/2010/main" val="4133905863"/>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D69BE0-950D-D902-D4FA-0E61C2AB5B54}"/>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47D4FA8-0172-E3EC-FAEC-04E213C1E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45EB3855-A180-66F1-9CCA-CB26AF967824}"/>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PHÂN TÍCH TƯƠNG QUAN VÀ MỐI QUAN HỆ </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8" name="Rectangle 1">
            <a:extLst>
              <a:ext uri="{FF2B5EF4-FFF2-40B4-BE49-F238E27FC236}">
                <a16:creationId xmlns:a16="http://schemas.microsoft.com/office/drawing/2014/main" id="{65630123-B54D-3DC0-2017-70E2EB6A2B96}"/>
              </a:ext>
            </a:extLst>
          </p:cNvPr>
          <p:cNvSpPr>
            <a:spLocks noGrp="1" noChangeArrowheads="1"/>
          </p:cNvSpPr>
          <p:nvPr>
            <p:ph type="ctrTitle"/>
          </p:nvPr>
        </p:nvSpPr>
        <p:spPr bwMode="auto">
          <a:xfrm>
            <a:off x="0" y="759373"/>
            <a:ext cx="120034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pPr>
            <a:r>
              <a:rPr lang="vi-VN" sz="3200" dirty="0">
                <a:latin typeface="Sans-serif"/>
              </a:rPr>
              <a:t>Phân tích cặp biến quan trọng</a:t>
            </a:r>
            <a:endParaRPr kumimoji="0" lang="en-US" altLang="en-US" sz="3200" b="0" i="0" u="none" strike="noStrike" cap="none" normalizeH="0" baseline="0" dirty="0">
              <a:ln>
                <a:noFill/>
              </a:ln>
              <a:solidFill>
                <a:schemeClr val="tx1"/>
              </a:solidFill>
              <a:effectLst/>
              <a:latin typeface="Sans-serif"/>
            </a:endParaRPr>
          </a:p>
        </p:txBody>
      </p:sp>
      <p:pic>
        <p:nvPicPr>
          <p:cNvPr id="3" name="Picture 2">
            <a:extLst>
              <a:ext uri="{FF2B5EF4-FFF2-40B4-BE49-F238E27FC236}">
                <a16:creationId xmlns:a16="http://schemas.microsoft.com/office/drawing/2014/main" id="{148FFF7A-B973-4032-5EAD-075488747EB7}"/>
              </a:ext>
            </a:extLst>
          </p:cNvPr>
          <p:cNvPicPr>
            <a:picLocks noChangeAspect="1"/>
          </p:cNvPicPr>
          <p:nvPr/>
        </p:nvPicPr>
        <p:blipFill>
          <a:blip r:embed="rId2"/>
          <a:stretch>
            <a:fillRect/>
          </a:stretch>
        </p:blipFill>
        <p:spPr>
          <a:xfrm>
            <a:off x="2512645" y="1344148"/>
            <a:ext cx="6158389" cy="5247944"/>
          </a:xfrm>
          <a:prstGeom prst="rect">
            <a:avLst/>
          </a:prstGeom>
        </p:spPr>
      </p:pic>
    </p:spTree>
    <p:extLst>
      <p:ext uri="{BB962C8B-B14F-4D97-AF65-F5344CB8AC3E}">
        <p14:creationId xmlns:p14="http://schemas.microsoft.com/office/powerpoint/2010/main" val="1127077646"/>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E16C39-EF3B-FE2F-B892-031AB487A683}"/>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4E825B5-EAA8-5616-AC42-98188629BD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18E72590-72E0-E578-8C0E-62B6D87E5D6D}"/>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PHÂN TÍCH TƯƠNG QUAN VÀ MỐI QUAN HỆ </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8" name="Rectangle 1">
            <a:extLst>
              <a:ext uri="{FF2B5EF4-FFF2-40B4-BE49-F238E27FC236}">
                <a16:creationId xmlns:a16="http://schemas.microsoft.com/office/drawing/2014/main" id="{661881F0-D18B-342B-2D5E-25D26DC80E90}"/>
              </a:ext>
            </a:extLst>
          </p:cNvPr>
          <p:cNvSpPr>
            <a:spLocks noGrp="1" noChangeArrowheads="1"/>
          </p:cNvSpPr>
          <p:nvPr>
            <p:ph type="ctrTitle"/>
          </p:nvPr>
        </p:nvSpPr>
        <p:spPr bwMode="auto">
          <a:xfrm>
            <a:off x="0" y="722604"/>
            <a:ext cx="1200341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pPr>
            <a:r>
              <a:rPr lang="vi-VN" sz="3200" dirty="0">
                <a:latin typeface="Sans-serif"/>
              </a:rPr>
              <a:t>Phân tích tầm quan trọng của đặc trưng</a:t>
            </a:r>
            <a:br>
              <a:rPr lang="vi-VN" sz="3200" dirty="0">
                <a:latin typeface="Sans-serif"/>
              </a:rPr>
            </a:br>
            <a:r>
              <a:rPr lang="vi-VN" sz="2800" dirty="0">
                <a:latin typeface="Sans-serif"/>
              </a:rPr>
              <a:t> Tầm quan trọng đơn biến </a:t>
            </a:r>
            <a:endParaRPr kumimoji="0" lang="en-US" altLang="en-US" sz="3200" b="0" i="0" u="none" strike="noStrike" cap="none" normalizeH="0" baseline="0" dirty="0">
              <a:ln>
                <a:noFill/>
              </a:ln>
              <a:solidFill>
                <a:schemeClr val="tx1"/>
              </a:solidFill>
              <a:effectLst/>
              <a:latin typeface="Sans-serif"/>
            </a:endParaRPr>
          </a:p>
        </p:txBody>
      </p:sp>
      <p:pic>
        <p:nvPicPr>
          <p:cNvPr id="3" name="Picture 2">
            <a:extLst>
              <a:ext uri="{FF2B5EF4-FFF2-40B4-BE49-F238E27FC236}">
                <a16:creationId xmlns:a16="http://schemas.microsoft.com/office/drawing/2014/main" id="{E504F7A9-1E1E-D99E-23CA-ACB15CADC1E5}"/>
              </a:ext>
            </a:extLst>
          </p:cNvPr>
          <p:cNvPicPr>
            <a:picLocks noChangeAspect="1"/>
          </p:cNvPicPr>
          <p:nvPr/>
        </p:nvPicPr>
        <p:blipFill>
          <a:blip r:embed="rId2"/>
          <a:stretch>
            <a:fillRect/>
          </a:stretch>
        </p:blipFill>
        <p:spPr>
          <a:xfrm>
            <a:off x="145692" y="1957182"/>
            <a:ext cx="5235605" cy="2304561"/>
          </a:xfrm>
          <a:prstGeom prst="rect">
            <a:avLst/>
          </a:prstGeom>
        </p:spPr>
      </p:pic>
      <p:pic>
        <p:nvPicPr>
          <p:cNvPr id="5" name="Picture 4">
            <a:extLst>
              <a:ext uri="{FF2B5EF4-FFF2-40B4-BE49-F238E27FC236}">
                <a16:creationId xmlns:a16="http://schemas.microsoft.com/office/drawing/2014/main" id="{D695B782-5FC0-102E-38C6-936B73F39DE6}"/>
              </a:ext>
            </a:extLst>
          </p:cNvPr>
          <p:cNvPicPr>
            <a:picLocks noChangeAspect="1"/>
          </p:cNvPicPr>
          <p:nvPr/>
        </p:nvPicPr>
        <p:blipFill>
          <a:blip r:embed="rId3"/>
          <a:stretch>
            <a:fillRect/>
          </a:stretch>
        </p:blipFill>
        <p:spPr>
          <a:xfrm>
            <a:off x="5425755" y="1738267"/>
            <a:ext cx="6577662" cy="3609143"/>
          </a:xfrm>
          <a:prstGeom prst="rect">
            <a:avLst/>
          </a:prstGeom>
        </p:spPr>
      </p:pic>
    </p:spTree>
    <p:extLst>
      <p:ext uri="{BB962C8B-B14F-4D97-AF65-F5344CB8AC3E}">
        <p14:creationId xmlns:p14="http://schemas.microsoft.com/office/powerpoint/2010/main" val="278407680"/>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DE2A46-7623-9D2B-28AA-0A71507288D0}"/>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E29EAEC6-7EEA-67C2-E3FA-D50C39C00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C5993B41-8EBE-8162-5A20-1810CC8E44E3}"/>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a:ln>
                  <a:noFill/>
                </a:ln>
                <a:solidFill>
                  <a:prstClr val="black"/>
                </a:solidFill>
                <a:effectLst/>
                <a:uLnTx/>
                <a:uFillTx/>
                <a:latin typeface="Sans-serif"/>
                <a:ea typeface="+mn-ea"/>
                <a:cs typeface="+mn-cs"/>
              </a:rPr>
              <a:t>PHÂN TÍCH TƯƠNG QUAN VÀ MỐI QUAN HỆ </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8" name="Rectangle 1">
            <a:extLst>
              <a:ext uri="{FF2B5EF4-FFF2-40B4-BE49-F238E27FC236}">
                <a16:creationId xmlns:a16="http://schemas.microsoft.com/office/drawing/2014/main" id="{5EC59DE9-267B-FCAA-9438-69EE1129B665}"/>
              </a:ext>
            </a:extLst>
          </p:cNvPr>
          <p:cNvSpPr>
            <a:spLocks noGrp="1" noChangeArrowheads="1"/>
          </p:cNvSpPr>
          <p:nvPr>
            <p:ph type="ctrTitle"/>
          </p:nvPr>
        </p:nvSpPr>
        <p:spPr bwMode="auto">
          <a:xfrm>
            <a:off x="94291" y="754753"/>
            <a:ext cx="12003417"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pPr>
            <a:r>
              <a:rPr lang="vi-VN" sz="3200" dirty="0">
                <a:latin typeface="Sans-serif"/>
              </a:rPr>
              <a:t>	</a:t>
            </a:r>
            <a:r>
              <a:rPr lang="vi-VN" sz="3600" dirty="0">
                <a:latin typeface="Sans-serif"/>
              </a:rPr>
              <a:t>Phát hiện đa cộng tuyến</a:t>
            </a:r>
            <a:br>
              <a:rPr lang="vi-VN" sz="3300" dirty="0">
                <a:latin typeface="Sans-serif"/>
              </a:rPr>
            </a:br>
            <a:br>
              <a:rPr lang="vi-VN" sz="3200" dirty="0">
                <a:latin typeface="Sans-serif"/>
              </a:rPr>
            </a:br>
            <a:r>
              <a:rPr lang="vi-VN" sz="3200" dirty="0">
                <a:latin typeface="Sans-serif"/>
              </a:rPr>
              <a:t>	Phân tích chỉ số điều kiện</a:t>
            </a:r>
            <a:br>
              <a:rPr lang="vi-VN" sz="3200" dirty="0">
                <a:latin typeface="Sans-serif"/>
              </a:rPr>
            </a:br>
            <a:br>
              <a:rPr lang="vi-VN" sz="3200" dirty="0">
                <a:latin typeface="Sans-serif"/>
              </a:rPr>
            </a:br>
            <a:r>
              <a:rPr lang="vi-VN" sz="3200" dirty="0">
                <a:latin typeface="Sans-serif"/>
              </a:rPr>
              <a:t> 	Tất cả các biến đều có VIF &lt; 2, nghĩa là không có hiện tượng đa cộng tuyến nghiêm trọng.</a:t>
            </a:r>
            <a:br>
              <a:rPr lang="vi-VN" sz="3200" dirty="0">
                <a:latin typeface="Sans-serif"/>
              </a:rPr>
            </a:br>
            <a:r>
              <a:rPr lang="vi-VN" sz="3200" dirty="0">
                <a:latin typeface="Sans-serif"/>
              </a:rPr>
              <a:t>          Nhìn chung, dữ liệu ở mức ổn định để sử dụng trong mô hình hồi quy / phân loại. </a:t>
            </a:r>
            <a:endParaRPr kumimoji="0" lang="en-US" altLang="en-US" sz="3200" b="0" i="0" u="none" strike="noStrike" cap="none" normalizeH="0" baseline="0" dirty="0">
              <a:ln>
                <a:noFill/>
              </a:ln>
              <a:solidFill>
                <a:schemeClr val="tx1"/>
              </a:solidFill>
              <a:effectLst/>
              <a:latin typeface="Sans-serif"/>
            </a:endParaRPr>
          </a:p>
        </p:txBody>
      </p:sp>
    </p:spTree>
    <p:extLst>
      <p:ext uri="{BB962C8B-B14F-4D97-AF65-F5344CB8AC3E}">
        <p14:creationId xmlns:p14="http://schemas.microsoft.com/office/powerpoint/2010/main" val="873793493"/>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0CC702-CA91-1242-6ED7-019792B2B3CC}"/>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78D73C0-2B13-B5FF-C226-F28F04DAB0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207DF2AA-A4E2-DE38-44C2-3070C2F0ABCD}"/>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PHÂN TÍCH NÂNG CAO </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8" name="Rectangle 1">
            <a:extLst>
              <a:ext uri="{FF2B5EF4-FFF2-40B4-BE49-F238E27FC236}">
                <a16:creationId xmlns:a16="http://schemas.microsoft.com/office/drawing/2014/main" id="{452CF0F6-E942-1089-7CAC-57D4F3A6EA42}"/>
              </a:ext>
            </a:extLst>
          </p:cNvPr>
          <p:cNvSpPr>
            <a:spLocks noGrp="1" noChangeArrowheads="1"/>
          </p:cNvSpPr>
          <p:nvPr>
            <p:ph type="ctrTitle"/>
          </p:nvPr>
        </p:nvSpPr>
        <p:spPr bwMode="auto">
          <a:xfrm>
            <a:off x="0" y="702338"/>
            <a:ext cx="1200341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buFontTx/>
              <a:buChar char="•"/>
            </a:pPr>
            <a:r>
              <a:rPr lang="vi-VN" sz="3200" dirty="0">
                <a:latin typeface="Sans-serif"/>
              </a:rPr>
              <a:t>Phân tích phân nhóm (Phân cụm)</a:t>
            </a:r>
            <a:br>
              <a:rPr lang="vi-VN" sz="3200" dirty="0">
                <a:latin typeface="Sans-serif"/>
              </a:rPr>
            </a:br>
            <a:r>
              <a:rPr lang="vi-VN" sz="3200" dirty="0">
                <a:latin typeface="Sans-serif"/>
              </a:rPr>
              <a:t>Xác định các nhóm bệnh nhân tiềm ẩn </a:t>
            </a:r>
            <a:endParaRPr kumimoji="0" lang="en-US" altLang="en-US" sz="3200" b="0" i="0" u="none" strike="noStrike" cap="none" normalizeH="0" baseline="0" dirty="0">
              <a:ln>
                <a:noFill/>
              </a:ln>
              <a:solidFill>
                <a:schemeClr val="tx1"/>
              </a:solidFill>
              <a:effectLst/>
              <a:latin typeface="Sans-serif"/>
            </a:endParaRPr>
          </a:p>
        </p:txBody>
      </p:sp>
      <p:pic>
        <p:nvPicPr>
          <p:cNvPr id="3" name="Picture 2">
            <a:extLst>
              <a:ext uri="{FF2B5EF4-FFF2-40B4-BE49-F238E27FC236}">
                <a16:creationId xmlns:a16="http://schemas.microsoft.com/office/drawing/2014/main" id="{E70F9184-14F7-9B1D-E309-B959BC8AB605}"/>
              </a:ext>
            </a:extLst>
          </p:cNvPr>
          <p:cNvPicPr>
            <a:picLocks noChangeAspect="1"/>
          </p:cNvPicPr>
          <p:nvPr/>
        </p:nvPicPr>
        <p:blipFill>
          <a:blip r:embed="rId2"/>
          <a:stretch>
            <a:fillRect/>
          </a:stretch>
        </p:blipFill>
        <p:spPr>
          <a:xfrm>
            <a:off x="138405" y="1897119"/>
            <a:ext cx="6458933" cy="4482207"/>
          </a:xfrm>
          <a:prstGeom prst="rect">
            <a:avLst/>
          </a:prstGeom>
        </p:spPr>
      </p:pic>
      <p:pic>
        <p:nvPicPr>
          <p:cNvPr id="5" name="Picture 4">
            <a:extLst>
              <a:ext uri="{FF2B5EF4-FFF2-40B4-BE49-F238E27FC236}">
                <a16:creationId xmlns:a16="http://schemas.microsoft.com/office/drawing/2014/main" id="{EDFECA83-A479-E935-8275-191657D0A456}"/>
              </a:ext>
            </a:extLst>
          </p:cNvPr>
          <p:cNvPicPr>
            <a:picLocks noChangeAspect="1"/>
          </p:cNvPicPr>
          <p:nvPr/>
        </p:nvPicPr>
        <p:blipFill>
          <a:blip r:embed="rId3"/>
          <a:stretch>
            <a:fillRect/>
          </a:stretch>
        </p:blipFill>
        <p:spPr>
          <a:xfrm>
            <a:off x="7089108" y="768318"/>
            <a:ext cx="4067743" cy="5611008"/>
          </a:xfrm>
          <a:prstGeom prst="rect">
            <a:avLst/>
          </a:prstGeom>
        </p:spPr>
      </p:pic>
    </p:spTree>
    <p:extLst>
      <p:ext uri="{BB962C8B-B14F-4D97-AF65-F5344CB8AC3E}">
        <p14:creationId xmlns:p14="http://schemas.microsoft.com/office/powerpoint/2010/main" val="4004440024"/>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8FF8BC-7586-58D2-6760-AD3EB4A6A6D0}"/>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E0A4CB6-0775-3FAC-72C5-C7AEF6C69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34DA29EB-E53A-1F2C-6DDE-F6EE65DEB2A5}"/>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PHÂN TÍCH NÂNG CAO </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8" name="Rectangle 1">
            <a:extLst>
              <a:ext uri="{FF2B5EF4-FFF2-40B4-BE49-F238E27FC236}">
                <a16:creationId xmlns:a16="http://schemas.microsoft.com/office/drawing/2014/main" id="{B786DC97-9E52-2760-0F96-3ABBEC400391}"/>
              </a:ext>
            </a:extLst>
          </p:cNvPr>
          <p:cNvSpPr>
            <a:spLocks noGrp="1" noChangeArrowheads="1"/>
          </p:cNvSpPr>
          <p:nvPr>
            <p:ph type="ctrTitle"/>
          </p:nvPr>
        </p:nvSpPr>
        <p:spPr bwMode="auto">
          <a:xfrm>
            <a:off x="94291" y="639275"/>
            <a:ext cx="1200341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pPr>
            <a:r>
              <a:rPr lang="vi-VN" sz="3200" dirty="0"/>
              <a:t>    Phân tích các yếu tố nguy cơ </a:t>
            </a:r>
            <a:br>
              <a:rPr lang="vi-VN" sz="3200" dirty="0"/>
            </a:br>
            <a:r>
              <a:rPr lang="vi-VN" sz="3200" dirty="0"/>
              <a:t>    </a:t>
            </a:r>
            <a:r>
              <a:rPr lang="vi-VN" sz="2800" dirty="0"/>
              <a:t>Xếp hạng các yếu tố nguy cơ</a:t>
            </a:r>
            <a:endParaRPr kumimoji="0" lang="en-US" altLang="en-US" sz="3200" b="0" i="0" u="none" strike="noStrike" cap="none" normalizeH="0" baseline="0" dirty="0">
              <a:ln>
                <a:noFill/>
              </a:ln>
              <a:solidFill>
                <a:schemeClr val="tx1"/>
              </a:solidFill>
              <a:effectLst/>
              <a:latin typeface="Sans-serif"/>
            </a:endParaRPr>
          </a:p>
        </p:txBody>
      </p:sp>
      <p:pic>
        <p:nvPicPr>
          <p:cNvPr id="3" name="Picture 2">
            <a:extLst>
              <a:ext uri="{FF2B5EF4-FFF2-40B4-BE49-F238E27FC236}">
                <a16:creationId xmlns:a16="http://schemas.microsoft.com/office/drawing/2014/main" id="{0900BCC1-AE7E-7A71-3728-96FE8605A9B9}"/>
              </a:ext>
            </a:extLst>
          </p:cNvPr>
          <p:cNvPicPr>
            <a:picLocks noChangeAspect="1"/>
          </p:cNvPicPr>
          <p:nvPr/>
        </p:nvPicPr>
        <p:blipFill>
          <a:blip r:embed="rId2"/>
          <a:stretch>
            <a:fillRect/>
          </a:stretch>
        </p:blipFill>
        <p:spPr>
          <a:xfrm>
            <a:off x="1151834" y="1685715"/>
            <a:ext cx="9888330" cy="4944165"/>
          </a:xfrm>
          <a:prstGeom prst="rect">
            <a:avLst/>
          </a:prstGeom>
        </p:spPr>
      </p:pic>
    </p:spTree>
    <p:extLst>
      <p:ext uri="{BB962C8B-B14F-4D97-AF65-F5344CB8AC3E}">
        <p14:creationId xmlns:p14="http://schemas.microsoft.com/office/powerpoint/2010/main" val="3793406571"/>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6EEB77-C381-DF5A-18A5-FC2CB39F2E48}"/>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2558997-D6DE-9748-4632-670F6CFE2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77476F9A-9556-7070-2740-AE62D76D2B0F}"/>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a:ln>
                  <a:noFill/>
                </a:ln>
                <a:solidFill>
                  <a:prstClr val="black"/>
                </a:solidFill>
                <a:effectLst/>
                <a:uLnTx/>
                <a:uFillTx/>
                <a:latin typeface="Sans-serif"/>
                <a:ea typeface="+mn-ea"/>
                <a:cs typeface="+mn-cs"/>
              </a:rPr>
              <a:t>PHÂN TÍCH NÂNG CAO </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8" name="Rectangle 1">
            <a:extLst>
              <a:ext uri="{FF2B5EF4-FFF2-40B4-BE49-F238E27FC236}">
                <a16:creationId xmlns:a16="http://schemas.microsoft.com/office/drawing/2014/main" id="{15C10150-D00C-CBD5-79D1-35AA46EF5958}"/>
              </a:ext>
            </a:extLst>
          </p:cNvPr>
          <p:cNvSpPr>
            <a:spLocks noGrp="1" noChangeArrowheads="1"/>
          </p:cNvSpPr>
          <p:nvPr>
            <p:ph type="ctrTitle"/>
          </p:nvPr>
        </p:nvSpPr>
        <p:spPr bwMode="auto">
          <a:xfrm>
            <a:off x="94291" y="670805"/>
            <a:ext cx="1200341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pPr>
            <a:r>
              <a:rPr lang="vi-VN" sz="3200" dirty="0"/>
              <a:t>    Phân tích các yếu tố nguy cơ </a:t>
            </a:r>
            <a:br>
              <a:rPr lang="vi-VN" sz="3200" dirty="0"/>
            </a:br>
            <a:r>
              <a:rPr lang="vi-VN" sz="3200" dirty="0"/>
              <a:t>    </a:t>
            </a:r>
            <a:r>
              <a:rPr lang="vi-VN" sz="2800" dirty="0"/>
              <a:t>Tạo hệ thống chấm điểm nguy cơ</a:t>
            </a:r>
            <a:endParaRPr kumimoji="0" lang="en-US" altLang="en-US" sz="3200" b="0" i="0" u="none" strike="noStrike" cap="none" normalizeH="0" baseline="0" dirty="0">
              <a:ln>
                <a:noFill/>
              </a:ln>
              <a:solidFill>
                <a:schemeClr val="tx1"/>
              </a:solidFill>
              <a:effectLst/>
              <a:latin typeface="Sans-serif"/>
            </a:endParaRPr>
          </a:p>
        </p:txBody>
      </p:sp>
      <p:pic>
        <p:nvPicPr>
          <p:cNvPr id="3" name="Picture 2">
            <a:extLst>
              <a:ext uri="{FF2B5EF4-FFF2-40B4-BE49-F238E27FC236}">
                <a16:creationId xmlns:a16="http://schemas.microsoft.com/office/drawing/2014/main" id="{39132844-E7EC-9510-0B3D-D3C24E896157}"/>
              </a:ext>
            </a:extLst>
          </p:cNvPr>
          <p:cNvPicPr>
            <a:picLocks noChangeAspect="1"/>
          </p:cNvPicPr>
          <p:nvPr/>
        </p:nvPicPr>
        <p:blipFill>
          <a:blip r:embed="rId2"/>
          <a:stretch>
            <a:fillRect/>
          </a:stretch>
        </p:blipFill>
        <p:spPr>
          <a:xfrm>
            <a:off x="1595221" y="1834052"/>
            <a:ext cx="9001555" cy="4670853"/>
          </a:xfrm>
          <a:prstGeom prst="rect">
            <a:avLst/>
          </a:prstGeom>
        </p:spPr>
      </p:pic>
    </p:spTree>
    <p:extLst>
      <p:ext uri="{BB962C8B-B14F-4D97-AF65-F5344CB8AC3E}">
        <p14:creationId xmlns:p14="http://schemas.microsoft.com/office/powerpoint/2010/main" val="956754558"/>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B4AE4B-5F61-3B60-AFF5-765ADF11FCA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A34FFA5-14CD-B9CB-D9A3-290C8F98A0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B66E1DE6-3D3F-A116-C85A-FFADF52E318F}"/>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MÔ HÌNH DỰ ĐOÁN SƠ BỘ</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pic>
        <p:nvPicPr>
          <p:cNvPr id="3" name="Picture 2">
            <a:extLst>
              <a:ext uri="{FF2B5EF4-FFF2-40B4-BE49-F238E27FC236}">
                <a16:creationId xmlns:a16="http://schemas.microsoft.com/office/drawing/2014/main" id="{57CDD2DD-4D45-B845-3B3C-F12B9E9CE991}"/>
              </a:ext>
            </a:extLst>
          </p:cNvPr>
          <p:cNvPicPr>
            <a:picLocks noChangeAspect="1"/>
          </p:cNvPicPr>
          <p:nvPr/>
        </p:nvPicPr>
        <p:blipFill>
          <a:blip r:embed="rId2"/>
          <a:stretch>
            <a:fillRect/>
          </a:stretch>
        </p:blipFill>
        <p:spPr>
          <a:xfrm>
            <a:off x="265485" y="1559946"/>
            <a:ext cx="5649113" cy="4467849"/>
          </a:xfrm>
          <a:prstGeom prst="rect">
            <a:avLst/>
          </a:prstGeom>
        </p:spPr>
      </p:pic>
      <p:pic>
        <p:nvPicPr>
          <p:cNvPr id="5" name="Picture 4">
            <a:extLst>
              <a:ext uri="{FF2B5EF4-FFF2-40B4-BE49-F238E27FC236}">
                <a16:creationId xmlns:a16="http://schemas.microsoft.com/office/drawing/2014/main" id="{D6B7771F-7D59-1F0F-C64A-BCCA28BA447A}"/>
              </a:ext>
            </a:extLst>
          </p:cNvPr>
          <p:cNvPicPr>
            <a:picLocks noChangeAspect="1"/>
          </p:cNvPicPr>
          <p:nvPr/>
        </p:nvPicPr>
        <p:blipFill>
          <a:blip r:embed="rId3"/>
          <a:stretch>
            <a:fillRect/>
          </a:stretch>
        </p:blipFill>
        <p:spPr>
          <a:xfrm>
            <a:off x="6180083" y="1559946"/>
            <a:ext cx="5487166" cy="4429743"/>
          </a:xfrm>
          <a:prstGeom prst="rect">
            <a:avLst/>
          </a:prstGeom>
        </p:spPr>
      </p:pic>
    </p:spTree>
    <p:extLst>
      <p:ext uri="{BB962C8B-B14F-4D97-AF65-F5344CB8AC3E}">
        <p14:creationId xmlns:p14="http://schemas.microsoft.com/office/powerpoint/2010/main" val="141223403"/>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7062AC-C03C-2B0A-8F0C-6523BE404A22}"/>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E70348E6-C445-8DA7-D362-2C218263AC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60565DBD-F421-59E9-478A-23EA983A453B}"/>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MÔ HÌNH DỰ ĐOÁN SƠ BỘ</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pic>
        <p:nvPicPr>
          <p:cNvPr id="3" name="Picture 2">
            <a:extLst>
              <a:ext uri="{FF2B5EF4-FFF2-40B4-BE49-F238E27FC236}">
                <a16:creationId xmlns:a16="http://schemas.microsoft.com/office/drawing/2014/main" id="{E3ECC44F-9BDD-DC83-99B7-F2C6E29D21BA}"/>
              </a:ext>
            </a:extLst>
          </p:cNvPr>
          <p:cNvPicPr>
            <a:picLocks noChangeAspect="1"/>
          </p:cNvPicPr>
          <p:nvPr/>
        </p:nvPicPr>
        <p:blipFill>
          <a:blip r:embed="rId2"/>
          <a:stretch>
            <a:fillRect/>
          </a:stretch>
        </p:blipFill>
        <p:spPr>
          <a:xfrm>
            <a:off x="2628416" y="956404"/>
            <a:ext cx="6935168" cy="5239481"/>
          </a:xfrm>
          <a:prstGeom prst="rect">
            <a:avLst/>
          </a:prstGeom>
        </p:spPr>
      </p:pic>
    </p:spTree>
    <p:extLst>
      <p:ext uri="{BB962C8B-B14F-4D97-AF65-F5344CB8AC3E}">
        <p14:creationId xmlns:p14="http://schemas.microsoft.com/office/powerpoint/2010/main" val="2958558511"/>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4771FD-0737-BB34-6F5F-A22C086A3334}"/>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1C846A9-9B26-8182-73A8-1A80F9363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4F81C253-DC14-63B9-07C8-99C37D757B40}"/>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MÔ HÌNH DỰ ĐOÁN SƠ BỘ</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pic>
        <p:nvPicPr>
          <p:cNvPr id="3" name="Picture 2">
            <a:extLst>
              <a:ext uri="{FF2B5EF4-FFF2-40B4-BE49-F238E27FC236}">
                <a16:creationId xmlns:a16="http://schemas.microsoft.com/office/drawing/2014/main" id="{BE25B6BB-F077-5911-7554-856ED516FBCE}"/>
              </a:ext>
            </a:extLst>
          </p:cNvPr>
          <p:cNvPicPr>
            <a:picLocks noChangeAspect="1"/>
          </p:cNvPicPr>
          <p:nvPr/>
        </p:nvPicPr>
        <p:blipFill>
          <a:blip r:embed="rId2"/>
          <a:stretch>
            <a:fillRect/>
          </a:stretch>
        </p:blipFill>
        <p:spPr>
          <a:xfrm>
            <a:off x="361150" y="1195075"/>
            <a:ext cx="5734850" cy="4467849"/>
          </a:xfrm>
          <a:prstGeom prst="rect">
            <a:avLst/>
          </a:prstGeom>
        </p:spPr>
      </p:pic>
      <p:pic>
        <p:nvPicPr>
          <p:cNvPr id="5" name="Picture 4">
            <a:extLst>
              <a:ext uri="{FF2B5EF4-FFF2-40B4-BE49-F238E27FC236}">
                <a16:creationId xmlns:a16="http://schemas.microsoft.com/office/drawing/2014/main" id="{28529AED-1A73-26F3-C583-87C333C5581C}"/>
              </a:ext>
            </a:extLst>
          </p:cNvPr>
          <p:cNvPicPr>
            <a:picLocks noChangeAspect="1"/>
          </p:cNvPicPr>
          <p:nvPr/>
        </p:nvPicPr>
        <p:blipFill>
          <a:blip r:embed="rId3"/>
          <a:stretch>
            <a:fillRect/>
          </a:stretch>
        </p:blipFill>
        <p:spPr>
          <a:xfrm>
            <a:off x="6231907" y="1195075"/>
            <a:ext cx="5824186" cy="4498810"/>
          </a:xfrm>
          <a:prstGeom prst="rect">
            <a:avLst/>
          </a:prstGeom>
        </p:spPr>
      </p:pic>
    </p:spTree>
    <p:extLst>
      <p:ext uri="{BB962C8B-B14F-4D97-AF65-F5344CB8AC3E}">
        <p14:creationId xmlns:p14="http://schemas.microsoft.com/office/powerpoint/2010/main" val="1000719349"/>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AF3630-738E-684A-AA2E-5697E403CB2B}"/>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7CE5101-7B8A-38A4-0918-C39B0D313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D9A949F2-073F-D25E-1C2F-387A7D9CC212}"/>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MÔ HÌNH DỰ ĐOÁN SƠ BỘ</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8" name="Rectangle 1">
            <a:extLst>
              <a:ext uri="{FF2B5EF4-FFF2-40B4-BE49-F238E27FC236}">
                <a16:creationId xmlns:a16="http://schemas.microsoft.com/office/drawing/2014/main" id="{632EADBB-BF8C-7F35-3ADE-29E89666FD37}"/>
              </a:ext>
            </a:extLst>
          </p:cNvPr>
          <p:cNvSpPr>
            <a:spLocks noGrp="1" noChangeArrowheads="1"/>
          </p:cNvSpPr>
          <p:nvPr>
            <p:ph type="ctrTitle"/>
          </p:nvPr>
        </p:nvSpPr>
        <p:spPr bwMode="auto">
          <a:xfrm>
            <a:off x="393987" y="1200954"/>
            <a:ext cx="11404025"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pPr>
            <a:r>
              <a:rPr lang="vi-VN" sz="3200" dirty="0">
                <a:latin typeface="Sans-serif"/>
              </a:rPr>
              <a:t>Kết luận </a:t>
            </a:r>
            <a:br>
              <a:rPr lang="vi-VN" sz="3200" dirty="0">
                <a:latin typeface="Sans-serif"/>
              </a:rPr>
            </a:br>
            <a:r>
              <a:rPr lang="vi-VN" sz="3200" b="0" dirty="0">
                <a:latin typeface="Sans-serif"/>
              </a:rPr>
              <a:t>Dựa trên biểu đồ từ dữ liệu CSV, các biến </a:t>
            </a:r>
            <a:r>
              <a:rPr lang="vi-VN" sz="3200" b="0" dirty="0" err="1">
                <a:latin typeface="Sans-serif"/>
              </a:rPr>
              <a:t>Glucose</a:t>
            </a:r>
            <a:r>
              <a:rPr lang="vi-VN" sz="3200" b="0" dirty="0">
                <a:latin typeface="Sans-serif"/>
              </a:rPr>
              <a:t>, BMI,         </a:t>
            </a:r>
            <a:r>
              <a:rPr lang="vi-VN" sz="3200" b="0" dirty="0" err="1">
                <a:latin typeface="Sans-serif"/>
              </a:rPr>
              <a:t>BloodPressure</a:t>
            </a:r>
            <a:r>
              <a:rPr lang="vi-VN" sz="3200" b="0" dirty="0">
                <a:latin typeface="Sans-serif"/>
              </a:rPr>
              <a:t>, </a:t>
            </a:r>
            <a:r>
              <a:rPr lang="vi-VN" sz="3200" b="0" dirty="0" err="1">
                <a:latin typeface="Sans-serif"/>
              </a:rPr>
              <a:t>Age</a:t>
            </a:r>
            <a:r>
              <a:rPr lang="vi-VN" sz="3200" b="0" dirty="0">
                <a:latin typeface="Sans-serif"/>
              </a:rPr>
              <a:t>, </a:t>
            </a:r>
            <a:r>
              <a:rPr lang="vi-VN" sz="3200" b="0" dirty="0" err="1">
                <a:latin typeface="Sans-serif"/>
              </a:rPr>
              <a:t>Insulin</a:t>
            </a:r>
            <a:r>
              <a:rPr lang="vi-VN" sz="3200" b="0" dirty="0">
                <a:latin typeface="Sans-serif"/>
              </a:rPr>
              <a:t>, </a:t>
            </a:r>
            <a:r>
              <a:rPr lang="vi-VN" sz="3200" b="0" dirty="0" err="1">
                <a:latin typeface="Sans-serif"/>
              </a:rPr>
              <a:t>Pregnancies</a:t>
            </a:r>
            <a:r>
              <a:rPr lang="vi-VN" sz="3200" b="0" dirty="0">
                <a:latin typeface="Sans-serif"/>
              </a:rPr>
              <a:t> và DPF được chọn làm đầu vào cho mô hình dự đoán. Những biến ít đóng góp hoặc có tương quan cao sẽ được loại bỏ hoặc kết hợp để giảm đa cộng tuyến và nâng cao hiệu suất. Việc trực quan hóa dữ liệu giúp giải thích lựa chọn đặc trưng rõ ràng, làm nền tảng cho bước xây dựng mô hình tiếp theo. </a:t>
            </a:r>
            <a:endParaRPr kumimoji="0" lang="en-US" altLang="en-US" sz="3200" b="0" i="0" u="none" strike="noStrike" cap="none" normalizeH="0" baseline="0" dirty="0">
              <a:ln>
                <a:noFill/>
              </a:ln>
              <a:solidFill>
                <a:schemeClr val="tx1"/>
              </a:solidFill>
              <a:effectLst/>
              <a:latin typeface="Sans-serif"/>
            </a:endParaRPr>
          </a:p>
        </p:txBody>
      </p:sp>
    </p:spTree>
    <p:extLst>
      <p:ext uri="{BB962C8B-B14F-4D97-AF65-F5344CB8AC3E}">
        <p14:creationId xmlns:p14="http://schemas.microsoft.com/office/powerpoint/2010/main" val="3429154678"/>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2EE41C-9868-A1E6-9819-41B548BCC42A}"/>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C242C43-BD4C-610E-CFA7-8F90D1792C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4EFF259B-0CFF-ACD4-6CA6-103B86010267}"/>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MÔ HÌNH DỰ ĐOÁN SƠ BỘ</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8" name="Rectangle 1">
            <a:extLst>
              <a:ext uri="{FF2B5EF4-FFF2-40B4-BE49-F238E27FC236}">
                <a16:creationId xmlns:a16="http://schemas.microsoft.com/office/drawing/2014/main" id="{14F94483-65F5-CD69-3861-A4D48F638573}"/>
              </a:ext>
            </a:extLst>
          </p:cNvPr>
          <p:cNvSpPr>
            <a:spLocks noGrp="1" noChangeArrowheads="1"/>
          </p:cNvSpPr>
          <p:nvPr>
            <p:ph type="ctrTitle"/>
          </p:nvPr>
        </p:nvSpPr>
        <p:spPr bwMode="auto">
          <a:xfrm>
            <a:off x="94291" y="748862"/>
            <a:ext cx="120034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buFontTx/>
              <a:buChar char="•"/>
            </a:pPr>
            <a:r>
              <a:rPr lang="vi-VN" sz="3200" dirty="0">
                <a:latin typeface="Sans-serif"/>
              </a:rPr>
              <a:t>Đánh giá hiệu suất mô hình:</a:t>
            </a:r>
            <a:endParaRPr kumimoji="0" lang="en-US" altLang="en-US" sz="3200" b="0" i="0" u="none" strike="noStrike" cap="none" normalizeH="0" baseline="0" dirty="0">
              <a:ln>
                <a:noFill/>
              </a:ln>
              <a:solidFill>
                <a:schemeClr val="tx1"/>
              </a:solidFill>
              <a:effectLst/>
              <a:latin typeface="Sans-serif"/>
            </a:endParaRPr>
          </a:p>
        </p:txBody>
      </p:sp>
      <p:pic>
        <p:nvPicPr>
          <p:cNvPr id="3" name="Picture 2">
            <a:extLst>
              <a:ext uri="{FF2B5EF4-FFF2-40B4-BE49-F238E27FC236}">
                <a16:creationId xmlns:a16="http://schemas.microsoft.com/office/drawing/2014/main" id="{CC531345-8BE8-4C79-C1DD-FBDDD19ACD40}"/>
              </a:ext>
            </a:extLst>
          </p:cNvPr>
          <p:cNvPicPr>
            <a:picLocks noChangeAspect="1"/>
          </p:cNvPicPr>
          <p:nvPr/>
        </p:nvPicPr>
        <p:blipFill>
          <a:blip r:embed="rId2"/>
          <a:srcRect l="153" r="-153" b="597"/>
          <a:stretch>
            <a:fillRect/>
          </a:stretch>
        </p:blipFill>
        <p:spPr>
          <a:xfrm>
            <a:off x="94291" y="1286764"/>
            <a:ext cx="5834593" cy="4822374"/>
          </a:xfrm>
          <a:prstGeom prst="rect">
            <a:avLst/>
          </a:prstGeom>
        </p:spPr>
      </p:pic>
      <p:sp>
        <p:nvSpPr>
          <p:cNvPr id="4" name="TextBox 3">
            <a:extLst>
              <a:ext uri="{FF2B5EF4-FFF2-40B4-BE49-F238E27FC236}">
                <a16:creationId xmlns:a16="http://schemas.microsoft.com/office/drawing/2014/main" id="{B4854BD2-407B-B135-E050-D5221592E357}"/>
              </a:ext>
            </a:extLst>
          </p:cNvPr>
          <p:cNvSpPr txBox="1"/>
          <p:nvPr/>
        </p:nvSpPr>
        <p:spPr>
          <a:xfrm>
            <a:off x="6169572" y="1164134"/>
            <a:ext cx="5255173" cy="44012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2800" b="1" i="0" u="none" strike="noStrike" kern="1200" cap="none" spc="0" normalizeH="0" baseline="0" noProof="0" dirty="0">
                <a:ln>
                  <a:noFill/>
                </a:ln>
                <a:solidFill>
                  <a:prstClr val="white"/>
                </a:solidFill>
                <a:effectLst/>
                <a:uLnTx/>
                <a:uFillTx/>
                <a:latin typeface="Sans-serif"/>
                <a:ea typeface="+mn-ea"/>
                <a:cs typeface="+mn-cs"/>
              </a:rPr>
              <a:t>Nhận xét ROC </a:t>
            </a:r>
            <a:r>
              <a:rPr kumimoji="0" lang="vi-VN" sz="2800" b="1" i="0" u="none" strike="noStrike" kern="1200" cap="none" spc="0" normalizeH="0" baseline="0" noProof="0" dirty="0" err="1">
                <a:ln>
                  <a:noFill/>
                </a:ln>
                <a:solidFill>
                  <a:prstClr val="white"/>
                </a:solidFill>
                <a:effectLst/>
                <a:uLnTx/>
                <a:uFillTx/>
                <a:latin typeface="Sans-serif"/>
                <a:ea typeface="+mn-ea"/>
                <a:cs typeface="+mn-cs"/>
              </a:rPr>
              <a:t>Curve</a:t>
            </a:r>
            <a:r>
              <a:rPr kumimoji="0" lang="vi-VN" sz="2800" b="1" i="0" u="none" strike="noStrike" kern="1200" cap="none" spc="0" normalizeH="0" baseline="0" noProof="0" dirty="0">
                <a:ln>
                  <a:noFill/>
                </a:ln>
                <a:solidFill>
                  <a:prstClr val="white"/>
                </a:solidFill>
                <a:effectLst/>
                <a:uLnTx/>
                <a:uFillTx/>
                <a:latin typeface="Sans-serif"/>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2800" b="0" i="0" u="none" strike="noStrike" kern="1200" cap="none" spc="0" normalizeH="0" baseline="0" noProof="0" dirty="0">
                <a:ln>
                  <a:noFill/>
                </a:ln>
                <a:solidFill>
                  <a:prstClr val="white"/>
                </a:solidFill>
                <a:effectLst/>
                <a:uLnTx/>
                <a:uFillTx/>
                <a:latin typeface="Sans-serif"/>
                <a:ea typeface="+mn-ea"/>
                <a:cs typeface="+mn-cs"/>
              </a:rPr>
              <a:t> </a:t>
            </a:r>
            <a:r>
              <a:rPr kumimoji="0" lang="vi-VN" sz="2800" b="0" i="0" u="none" strike="noStrike" kern="1200" cap="none" spc="0" normalizeH="0" baseline="0" noProof="0" dirty="0" err="1">
                <a:ln>
                  <a:noFill/>
                </a:ln>
                <a:solidFill>
                  <a:prstClr val="white"/>
                </a:solidFill>
                <a:effectLst/>
                <a:uLnTx/>
                <a:uFillTx/>
                <a:latin typeface="Sans-serif"/>
                <a:ea typeface="+mn-ea"/>
                <a:cs typeface="+mn-cs"/>
              </a:rPr>
              <a:t>Logistic</a:t>
            </a:r>
            <a:r>
              <a:rPr kumimoji="0" lang="vi-VN" sz="2800" b="0" i="0" u="none" strike="noStrike" kern="1200" cap="none" spc="0" normalizeH="0" baseline="0" noProof="0" dirty="0">
                <a:ln>
                  <a:noFill/>
                </a:ln>
                <a:solidFill>
                  <a:prstClr val="white"/>
                </a:solidFill>
                <a:effectLst/>
                <a:uLnTx/>
                <a:uFillTx/>
                <a:latin typeface="Sans-serif"/>
                <a:ea typeface="+mn-ea"/>
                <a:cs typeface="+mn-cs"/>
              </a:rPr>
              <a:t> </a:t>
            </a:r>
            <a:r>
              <a:rPr kumimoji="0" lang="vi-VN" sz="2800" b="0" i="0" u="none" strike="noStrike" kern="1200" cap="none" spc="0" normalizeH="0" baseline="0" noProof="0" dirty="0" err="1">
                <a:ln>
                  <a:noFill/>
                </a:ln>
                <a:solidFill>
                  <a:prstClr val="white"/>
                </a:solidFill>
                <a:effectLst/>
                <a:uLnTx/>
                <a:uFillTx/>
                <a:latin typeface="Sans-serif"/>
                <a:ea typeface="+mn-ea"/>
                <a:cs typeface="+mn-cs"/>
              </a:rPr>
              <a:t>Regression</a:t>
            </a:r>
            <a:r>
              <a:rPr kumimoji="0" lang="vi-VN" sz="2800" b="0" i="0" u="none" strike="noStrike" kern="1200" cap="none" spc="0" normalizeH="0" baseline="0" noProof="0" dirty="0">
                <a:ln>
                  <a:noFill/>
                </a:ln>
                <a:solidFill>
                  <a:prstClr val="white"/>
                </a:solidFill>
                <a:effectLst/>
                <a:uLnTx/>
                <a:uFillTx/>
                <a:latin typeface="Sans-serif"/>
                <a:ea typeface="+mn-ea"/>
                <a:cs typeface="+mn-cs"/>
              </a:rPr>
              <a:t>: ROC cao hơn → phân loại tốt &amp; cân bằng giữa hiệu suất và khả năng giải thích. </a:t>
            </a:r>
            <a:r>
              <a:rPr kumimoji="0" lang="vi-VN" sz="2800" b="0" i="0" u="none" strike="noStrike" kern="1200" cap="none" spc="0" normalizeH="0" baseline="0" noProof="0" dirty="0" err="1">
                <a:ln>
                  <a:noFill/>
                </a:ln>
                <a:solidFill>
                  <a:prstClr val="white"/>
                </a:solidFill>
                <a:effectLst/>
                <a:uLnTx/>
                <a:uFillTx/>
                <a:latin typeface="Sans-serif"/>
                <a:ea typeface="+mn-ea"/>
                <a:cs typeface="+mn-cs"/>
              </a:rPr>
              <a:t>Decision</a:t>
            </a:r>
            <a:r>
              <a:rPr kumimoji="0" lang="vi-VN" sz="2800" b="0" i="0" u="none" strike="noStrike" kern="1200" cap="none" spc="0" normalizeH="0" baseline="0" noProof="0" dirty="0">
                <a:ln>
                  <a:noFill/>
                </a:ln>
                <a:solidFill>
                  <a:prstClr val="white"/>
                </a:solidFill>
                <a:effectLst/>
                <a:uLnTx/>
                <a:uFillTx/>
                <a:latin typeface="Sans-serif"/>
                <a:ea typeface="+mn-ea"/>
                <a:cs typeface="+mn-cs"/>
              </a:rPr>
              <a:t> </a:t>
            </a:r>
            <a:r>
              <a:rPr kumimoji="0" lang="vi-VN" sz="2800" b="0" i="0" u="none" strike="noStrike" kern="1200" cap="none" spc="0" normalizeH="0" baseline="0" noProof="0" dirty="0" err="1">
                <a:ln>
                  <a:noFill/>
                </a:ln>
                <a:solidFill>
                  <a:prstClr val="white"/>
                </a:solidFill>
                <a:effectLst/>
                <a:uLnTx/>
                <a:uFillTx/>
                <a:latin typeface="Sans-serif"/>
                <a:ea typeface="+mn-ea"/>
                <a:cs typeface="+mn-cs"/>
              </a:rPr>
              <a:t>Tree</a:t>
            </a:r>
            <a:r>
              <a:rPr kumimoji="0" lang="vi-VN" sz="2800" b="0" i="0" u="none" strike="noStrike" kern="1200" cap="none" spc="0" normalizeH="0" baseline="0" noProof="0" dirty="0">
                <a:ln>
                  <a:noFill/>
                </a:ln>
                <a:solidFill>
                  <a:prstClr val="white"/>
                </a:solidFill>
                <a:effectLst/>
                <a:uLnTx/>
                <a:uFillTx/>
                <a:latin typeface="Sans-serif"/>
                <a:ea typeface="+mn-ea"/>
                <a:cs typeface="+mn-cs"/>
              </a:rPr>
              <a:t>, KNN: AUC thấp hơn → khả năng phân biệt kém hơn. Tiềm năng cải thiện: có thể nâng hiệu suất bằng </a:t>
            </a:r>
            <a:r>
              <a:rPr kumimoji="0" lang="vi-VN" sz="2800" b="0" i="0" u="none" strike="noStrike" kern="1200" cap="none" spc="0" normalizeH="0" baseline="0" noProof="0" dirty="0" err="1">
                <a:ln>
                  <a:noFill/>
                </a:ln>
                <a:solidFill>
                  <a:prstClr val="white"/>
                </a:solidFill>
                <a:effectLst/>
                <a:uLnTx/>
                <a:uFillTx/>
                <a:latin typeface="Sans-serif"/>
                <a:ea typeface="+mn-ea"/>
                <a:cs typeface="+mn-cs"/>
              </a:rPr>
              <a:t>feature</a:t>
            </a:r>
            <a:r>
              <a:rPr kumimoji="0" lang="vi-VN" sz="2800" b="0" i="0" u="none" strike="noStrike" kern="1200" cap="none" spc="0" normalizeH="0" baseline="0" noProof="0" dirty="0">
                <a:ln>
                  <a:noFill/>
                </a:ln>
                <a:solidFill>
                  <a:prstClr val="white"/>
                </a:solidFill>
                <a:effectLst/>
                <a:uLnTx/>
                <a:uFillTx/>
                <a:latin typeface="Sans-serif"/>
                <a:ea typeface="+mn-ea"/>
                <a:cs typeface="+mn-cs"/>
              </a:rPr>
              <a:t> </a:t>
            </a:r>
            <a:r>
              <a:rPr kumimoji="0" lang="vi-VN" sz="2800" b="0" i="0" u="none" strike="noStrike" kern="1200" cap="none" spc="0" normalizeH="0" baseline="0" noProof="0" dirty="0" err="1">
                <a:ln>
                  <a:noFill/>
                </a:ln>
                <a:solidFill>
                  <a:prstClr val="white"/>
                </a:solidFill>
                <a:effectLst/>
                <a:uLnTx/>
                <a:uFillTx/>
                <a:latin typeface="Sans-serif"/>
                <a:ea typeface="+mn-ea"/>
                <a:cs typeface="+mn-cs"/>
              </a:rPr>
              <a:t>engineering</a:t>
            </a:r>
            <a:r>
              <a:rPr kumimoji="0" lang="vi-VN" sz="2800" b="0" i="0" u="none" strike="noStrike" kern="1200" cap="none" spc="0" normalizeH="0" baseline="0" noProof="0" dirty="0">
                <a:ln>
                  <a:noFill/>
                </a:ln>
                <a:solidFill>
                  <a:prstClr val="white"/>
                </a:solidFill>
                <a:effectLst/>
                <a:uLnTx/>
                <a:uFillTx/>
                <a:latin typeface="Sans-serif"/>
                <a:ea typeface="+mn-ea"/>
                <a:cs typeface="+mn-cs"/>
              </a:rPr>
              <a:t> hoặc </a:t>
            </a:r>
            <a:r>
              <a:rPr kumimoji="0" lang="vi-VN" sz="2800" b="0" i="0" u="none" strike="noStrike" kern="1200" cap="none" spc="0" normalizeH="0" baseline="0" noProof="0" dirty="0" err="1">
                <a:ln>
                  <a:noFill/>
                </a:ln>
                <a:solidFill>
                  <a:prstClr val="white"/>
                </a:solidFill>
                <a:effectLst/>
                <a:uLnTx/>
                <a:uFillTx/>
                <a:latin typeface="Sans-serif"/>
                <a:ea typeface="+mn-ea"/>
                <a:cs typeface="+mn-cs"/>
              </a:rPr>
              <a:t>ensemble</a:t>
            </a:r>
            <a:r>
              <a:rPr kumimoji="0" lang="vi-VN" sz="2800" b="0" i="0" u="none" strike="noStrike" kern="1200" cap="none" spc="0" normalizeH="0" baseline="0" noProof="0" dirty="0">
                <a:ln>
                  <a:noFill/>
                </a:ln>
                <a:solidFill>
                  <a:prstClr val="white"/>
                </a:solidFill>
                <a:effectLst/>
                <a:uLnTx/>
                <a:uFillTx/>
                <a:latin typeface="Sans-serif"/>
                <a:ea typeface="+mn-ea"/>
                <a:cs typeface="+mn-cs"/>
              </a:rPr>
              <a:t> mà vẫn giữ tính giải thích</a:t>
            </a:r>
          </a:p>
        </p:txBody>
      </p:sp>
    </p:spTree>
    <p:extLst>
      <p:ext uri="{BB962C8B-B14F-4D97-AF65-F5344CB8AC3E}">
        <p14:creationId xmlns:p14="http://schemas.microsoft.com/office/powerpoint/2010/main" val="2122875786"/>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354452-13ED-C095-FF53-723BDB1EF1FA}"/>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DBE5269-B4E0-55CD-7691-AECDAD65A6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2F98EC96-9858-2971-5370-6E6D59EFB747}"/>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MÔ HÌNH DỰ ĐOÁN SƠ BỘ</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8" name="Rectangle 1">
            <a:extLst>
              <a:ext uri="{FF2B5EF4-FFF2-40B4-BE49-F238E27FC236}">
                <a16:creationId xmlns:a16="http://schemas.microsoft.com/office/drawing/2014/main" id="{D70662A1-E966-E4A4-BEA1-F9ED30B812E4}"/>
              </a:ext>
            </a:extLst>
          </p:cNvPr>
          <p:cNvSpPr>
            <a:spLocks noGrp="1" noChangeArrowheads="1"/>
          </p:cNvSpPr>
          <p:nvPr>
            <p:ph type="ctrTitle"/>
          </p:nvPr>
        </p:nvSpPr>
        <p:spPr bwMode="auto">
          <a:xfrm>
            <a:off x="94291" y="822435"/>
            <a:ext cx="120034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buFontTx/>
              <a:buChar char="•"/>
            </a:pPr>
            <a:r>
              <a:rPr lang="vi-VN" sz="3200" dirty="0"/>
              <a:t>So sánh với thuật toán ADAP</a:t>
            </a:r>
            <a:endParaRPr kumimoji="0" lang="en-US" altLang="en-US" sz="3200" b="0" i="0" u="none" strike="noStrike" cap="none" normalizeH="0" baseline="0" dirty="0">
              <a:ln>
                <a:noFill/>
              </a:ln>
              <a:solidFill>
                <a:schemeClr val="tx1"/>
              </a:solidFill>
              <a:effectLst/>
              <a:latin typeface="Sans-serif"/>
            </a:endParaRPr>
          </a:p>
        </p:txBody>
      </p:sp>
      <p:pic>
        <p:nvPicPr>
          <p:cNvPr id="3" name="Picture 2">
            <a:extLst>
              <a:ext uri="{FF2B5EF4-FFF2-40B4-BE49-F238E27FC236}">
                <a16:creationId xmlns:a16="http://schemas.microsoft.com/office/drawing/2014/main" id="{484A2A01-2E0C-298F-6B2E-E5937D5D2A36}"/>
              </a:ext>
            </a:extLst>
          </p:cNvPr>
          <p:cNvPicPr>
            <a:picLocks noChangeAspect="1"/>
          </p:cNvPicPr>
          <p:nvPr/>
        </p:nvPicPr>
        <p:blipFill>
          <a:blip r:embed="rId2"/>
          <a:stretch>
            <a:fillRect/>
          </a:stretch>
        </p:blipFill>
        <p:spPr>
          <a:xfrm>
            <a:off x="254729" y="1850666"/>
            <a:ext cx="11682540" cy="3573279"/>
          </a:xfrm>
          <a:prstGeom prst="rect">
            <a:avLst/>
          </a:prstGeom>
        </p:spPr>
      </p:pic>
    </p:spTree>
    <p:extLst>
      <p:ext uri="{BB962C8B-B14F-4D97-AF65-F5344CB8AC3E}">
        <p14:creationId xmlns:p14="http://schemas.microsoft.com/office/powerpoint/2010/main" val="2685310716"/>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ECF2F9-3414-C5EF-4083-16A2759546C2}"/>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5C28F14-5C02-6C86-22DE-513A550DC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A55A95B6-D8A0-8647-82E4-8D262766900A}"/>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a:ln>
                  <a:noFill/>
                </a:ln>
                <a:solidFill>
                  <a:prstClr val="black"/>
                </a:solidFill>
                <a:effectLst/>
                <a:uLnTx/>
                <a:uFillTx/>
                <a:latin typeface="Sans-serif"/>
                <a:ea typeface="+mn-ea"/>
                <a:cs typeface="+mn-cs"/>
              </a:rPr>
              <a:t>MÔ HÌNH DỰ ĐOÁN SƠ BỘ</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pic>
        <p:nvPicPr>
          <p:cNvPr id="3" name="Picture 2">
            <a:extLst>
              <a:ext uri="{FF2B5EF4-FFF2-40B4-BE49-F238E27FC236}">
                <a16:creationId xmlns:a16="http://schemas.microsoft.com/office/drawing/2014/main" id="{5F1B01A2-C7FC-72AD-D8B7-D129FE96FB81}"/>
              </a:ext>
            </a:extLst>
          </p:cNvPr>
          <p:cNvPicPr>
            <a:picLocks noChangeAspect="1"/>
          </p:cNvPicPr>
          <p:nvPr/>
        </p:nvPicPr>
        <p:blipFill>
          <a:blip r:embed="rId2"/>
          <a:stretch>
            <a:fillRect/>
          </a:stretch>
        </p:blipFill>
        <p:spPr>
          <a:xfrm>
            <a:off x="947019" y="1015910"/>
            <a:ext cx="10297962" cy="5410955"/>
          </a:xfrm>
          <a:prstGeom prst="rect">
            <a:avLst/>
          </a:prstGeom>
        </p:spPr>
      </p:pic>
    </p:spTree>
    <p:extLst>
      <p:ext uri="{BB962C8B-B14F-4D97-AF65-F5344CB8AC3E}">
        <p14:creationId xmlns:p14="http://schemas.microsoft.com/office/powerpoint/2010/main" val="151887911"/>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BB1C11-7FF3-E5B5-60AC-208F493173D0}"/>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DAB9A0A-9F74-AE99-75B8-439ED74EE1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EEE15F3A-2B2C-BDE3-F010-35DB23E0AFD1}"/>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THẢO LUẬN VÀ HIỂU BIẾT SÂU SẮC</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8" name="Rectangle 1">
            <a:extLst>
              <a:ext uri="{FF2B5EF4-FFF2-40B4-BE49-F238E27FC236}">
                <a16:creationId xmlns:a16="http://schemas.microsoft.com/office/drawing/2014/main" id="{246B4210-54E1-F061-CFE5-1387FEB3F703}"/>
              </a:ext>
            </a:extLst>
          </p:cNvPr>
          <p:cNvSpPr>
            <a:spLocks noGrp="1" noChangeArrowheads="1"/>
          </p:cNvSpPr>
          <p:nvPr>
            <p:ph type="ctrTitle"/>
          </p:nvPr>
        </p:nvSpPr>
        <p:spPr bwMode="auto">
          <a:xfrm>
            <a:off x="94291" y="727841"/>
            <a:ext cx="120034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pPr>
            <a:r>
              <a:rPr lang="vi-VN" sz="3200" dirty="0">
                <a:latin typeface="Sans-serif"/>
              </a:rPr>
              <a:t>Các phát hiện chính </a:t>
            </a:r>
            <a:endParaRPr kumimoji="0" lang="en-US" altLang="en-US" sz="3200" b="0" i="0" u="none" strike="noStrike" cap="none" normalizeH="0" baseline="0" dirty="0">
              <a:ln>
                <a:noFill/>
              </a:ln>
              <a:solidFill>
                <a:schemeClr val="tx1"/>
              </a:solidFill>
              <a:effectLst/>
              <a:latin typeface="Sans-serif"/>
            </a:endParaRPr>
          </a:p>
        </p:txBody>
      </p:sp>
      <p:pic>
        <p:nvPicPr>
          <p:cNvPr id="3" name="Picture 2">
            <a:extLst>
              <a:ext uri="{FF2B5EF4-FFF2-40B4-BE49-F238E27FC236}">
                <a16:creationId xmlns:a16="http://schemas.microsoft.com/office/drawing/2014/main" id="{ACDF3D00-206D-0696-62FA-EEAACEDC64EE}"/>
              </a:ext>
            </a:extLst>
          </p:cNvPr>
          <p:cNvPicPr>
            <a:picLocks noChangeAspect="1"/>
          </p:cNvPicPr>
          <p:nvPr/>
        </p:nvPicPr>
        <p:blipFill>
          <a:blip r:embed="rId2"/>
          <a:stretch>
            <a:fillRect/>
          </a:stretch>
        </p:blipFill>
        <p:spPr>
          <a:xfrm>
            <a:off x="-1" y="1630530"/>
            <a:ext cx="5844054" cy="3596940"/>
          </a:xfrm>
          <a:prstGeom prst="rect">
            <a:avLst/>
          </a:prstGeom>
        </p:spPr>
      </p:pic>
      <p:sp>
        <p:nvSpPr>
          <p:cNvPr id="4" name="TextBox 3">
            <a:extLst>
              <a:ext uri="{FF2B5EF4-FFF2-40B4-BE49-F238E27FC236}">
                <a16:creationId xmlns:a16="http://schemas.microsoft.com/office/drawing/2014/main" id="{AB50FC42-8E00-CE2B-5DE9-B0506DA76EB0}"/>
              </a:ext>
            </a:extLst>
          </p:cNvPr>
          <p:cNvSpPr txBox="1"/>
          <p:nvPr/>
        </p:nvSpPr>
        <p:spPr>
          <a:xfrm>
            <a:off x="5938345" y="792118"/>
            <a:ext cx="6159363" cy="50167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white"/>
                </a:solidFill>
                <a:effectLst/>
                <a:uLnTx/>
                <a:uFillTx/>
                <a:latin typeface="Sans-serif"/>
                <a:ea typeface="+mn-ea"/>
                <a:cs typeface="+mn-cs"/>
              </a:rPr>
              <a:t>Phân tích </a:t>
            </a:r>
            <a:r>
              <a:rPr kumimoji="0" lang="vi-VN" sz="3200" b="1" i="0" u="none" strike="noStrike" kern="1200" cap="none" spc="0" normalizeH="0" baseline="0" noProof="0" dirty="0" err="1">
                <a:ln>
                  <a:noFill/>
                </a:ln>
                <a:solidFill>
                  <a:prstClr val="white"/>
                </a:solidFill>
                <a:effectLst/>
                <a:uLnTx/>
                <a:uFillTx/>
                <a:latin typeface="Sans-serif"/>
                <a:ea typeface="+mn-ea"/>
                <a:cs typeface="+mn-cs"/>
              </a:rPr>
              <a:t>Logistic</a:t>
            </a:r>
            <a:r>
              <a:rPr kumimoji="0" lang="vi-VN" sz="3200" b="1" i="0" u="none" strike="noStrike" kern="1200" cap="none" spc="0" normalizeH="0" baseline="0" noProof="0" dirty="0">
                <a:ln>
                  <a:noFill/>
                </a:ln>
                <a:solidFill>
                  <a:prstClr val="white"/>
                </a:solidFill>
                <a:effectLst/>
                <a:uLnTx/>
                <a:uFillTx/>
                <a:latin typeface="Sans-serif"/>
                <a:ea typeface="+mn-ea"/>
                <a:cs typeface="+mn-cs"/>
              </a:rPr>
              <a:t> </a:t>
            </a:r>
            <a:r>
              <a:rPr kumimoji="0" lang="vi-VN" sz="3200" b="1" i="0" u="none" strike="noStrike" kern="1200" cap="none" spc="0" normalizeH="0" baseline="0" noProof="0" dirty="0" err="1">
                <a:ln>
                  <a:noFill/>
                </a:ln>
                <a:solidFill>
                  <a:prstClr val="white"/>
                </a:solidFill>
                <a:effectLst/>
                <a:uLnTx/>
                <a:uFillTx/>
                <a:latin typeface="Sans-serif"/>
                <a:ea typeface="+mn-ea"/>
                <a:cs typeface="+mn-cs"/>
              </a:rPr>
              <a:t>Regression</a:t>
            </a:r>
            <a:r>
              <a:rPr kumimoji="0" lang="vi-VN" sz="3200" b="1" i="0" u="none" strike="noStrike" kern="1200" cap="none" spc="0" normalizeH="0" baseline="0" noProof="0" dirty="0">
                <a:ln>
                  <a:noFill/>
                </a:ln>
                <a:solidFill>
                  <a:prstClr val="white"/>
                </a:solidFill>
                <a:effectLst/>
                <a:uLnTx/>
                <a:uFillTx/>
                <a:latin typeface="Sans-serif"/>
                <a:ea typeface="+mn-ea"/>
                <a:cs typeface="+mn-cs"/>
              </a:rPr>
              <a:t> trên </a:t>
            </a:r>
            <a:r>
              <a:rPr kumimoji="0" lang="vi-VN" sz="3200" b="1" i="0" u="none" strike="noStrike" kern="1200" cap="none" spc="0" normalizeH="0" baseline="0" noProof="0" dirty="0" err="1">
                <a:ln>
                  <a:noFill/>
                </a:ln>
                <a:solidFill>
                  <a:prstClr val="white"/>
                </a:solidFill>
                <a:effectLst/>
                <a:uLnTx/>
                <a:uFillTx/>
                <a:latin typeface="Sans-serif"/>
                <a:ea typeface="+mn-ea"/>
                <a:cs typeface="+mn-cs"/>
              </a:rPr>
              <a:t>Pima</a:t>
            </a:r>
            <a:r>
              <a:rPr kumimoji="0" lang="vi-VN" sz="3200" b="1" i="0" u="none" strike="noStrike" kern="1200" cap="none" spc="0" normalizeH="0" baseline="0" noProof="0" dirty="0">
                <a:ln>
                  <a:noFill/>
                </a:ln>
                <a:solidFill>
                  <a:prstClr val="white"/>
                </a:solidFill>
                <a:effectLst/>
                <a:uLnTx/>
                <a:uFillTx/>
                <a:latin typeface="Sans-serif"/>
                <a:ea typeface="+mn-ea"/>
                <a:cs typeface="+mn-cs"/>
              </a:rPr>
              <a:t> </a:t>
            </a:r>
            <a:r>
              <a:rPr kumimoji="0" lang="vi-VN" sz="3200" b="1" i="0" u="none" strike="noStrike" kern="1200" cap="none" spc="0" normalizeH="0" baseline="0" noProof="0" dirty="0" err="1">
                <a:ln>
                  <a:noFill/>
                </a:ln>
                <a:solidFill>
                  <a:prstClr val="white"/>
                </a:solidFill>
                <a:effectLst/>
                <a:uLnTx/>
                <a:uFillTx/>
                <a:latin typeface="Sans-serif"/>
                <a:ea typeface="+mn-ea"/>
                <a:cs typeface="+mn-cs"/>
              </a:rPr>
              <a:t>Diabetes</a:t>
            </a:r>
            <a:r>
              <a:rPr kumimoji="0" lang="vi-VN" sz="3200" b="1" i="0" u="none" strike="noStrike" kern="1200" cap="none" spc="0" normalizeH="0" baseline="0" noProof="0" dirty="0">
                <a:ln>
                  <a:noFill/>
                </a:ln>
                <a:solidFill>
                  <a:prstClr val="white"/>
                </a:solidFill>
                <a:effectLst/>
                <a:uLnTx/>
                <a:uFillTx/>
                <a:latin typeface="Sans-serif"/>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0" i="0" u="none" strike="noStrike" kern="1200" cap="none" spc="0" normalizeH="0" baseline="0" noProof="0" dirty="0">
                <a:ln>
                  <a:noFill/>
                </a:ln>
                <a:solidFill>
                  <a:prstClr val="white"/>
                </a:solidFill>
                <a:effectLst/>
                <a:uLnTx/>
                <a:uFillTx/>
                <a:latin typeface="Sans-serif"/>
                <a:ea typeface="+mn-ea"/>
                <a:cs typeface="+mn-cs"/>
              </a:rPr>
              <a:t>DPF có hệ số cao nhất, tác động mạnh nhất trong mẫu. </a:t>
            </a:r>
            <a:r>
              <a:rPr kumimoji="0" lang="vi-VN" sz="3200" b="0" i="0" u="none" strike="noStrike" kern="1200" cap="none" spc="0" normalizeH="0" baseline="0" noProof="0" dirty="0" err="1">
                <a:ln>
                  <a:noFill/>
                </a:ln>
                <a:solidFill>
                  <a:prstClr val="white"/>
                </a:solidFill>
                <a:effectLst/>
                <a:uLnTx/>
                <a:uFillTx/>
                <a:latin typeface="Sans-serif"/>
                <a:ea typeface="+mn-ea"/>
                <a:cs typeface="+mn-cs"/>
              </a:rPr>
              <a:t>Pregnancies</a:t>
            </a:r>
            <a:r>
              <a:rPr kumimoji="0" lang="vi-VN" sz="3200" b="0" i="0" u="none" strike="noStrike" kern="1200" cap="none" spc="0" normalizeH="0" baseline="0" noProof="0" dirty="0">
                <a:ln>
                  <a:noFill/>
                </a:ln>
                <a:solidFill>
                  <a:prstClr val="white"/>
                </a:solidFill>
                <a:effectLst/>
                <a:uLnTx/>
                <a:uFillTx/>
                <a:latin typeface="Sans-serif"/>
                <a:ea typeface="+mn-ea"/>
                <a:cs typeface="+mn-cs"/>
              </a:rPr>
              <a:t>, BMI có ảnh hưởng vừa phải.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0" i="0" u="none" strike="noStrike" kern="1200" cap="none" spc="0" normalizeH="0" baseline="0" noProof="0" dirty="0" err="1">
                <a:ln>
                  <a:noFill/>
                </a:ln>
                <a:solidFill>
                  <a:prstClr val="white"/>
                </a:solidFill>
                <a:effectLst/>
                <a:uLnTx/>
                <a:uFillTx/>
                <a:latin typeface="Sans-serif"/>
                <a:ea typeface="+mn-ea"/>
                <a:cs typeface="+mn-cs"/>
              </a:rPr>
              <a:t>Glucose</a:t>
            </a:r>
            <a:r>
              <a:rPr kumimoji="0" lang="vi-VN" sz="3200" b="0" i="0" u="none" strike="noStrike" kern="1200" cap="none" spc="0" normalizeH="0" baseline="0" noProof="0" dirty="0">
                <a:ln>
                  <a:noFill/>
                </a:ln>
                <a:solidFill>
                  <a:prstClr val="white"/>
                </a:solidFill>
                <a:effectLst/>
                <a:uLnTx/>
                <a:uFillTx/>
                <a:latin typeface="Sans-serif"/>
                <a:ea typeface="+mn-ea"/>
                <a:cs typeface="+mn-cs"/>
              </a:rPr>
              <a:t>, </a:t>
            </a:r>
            <a:r>
              <a:rPr kumimoji="0" lang="vi-VN" sz="3200" b="0" i="0" u="none" strike="noStrike" kern="1200" cap="none" spc="0" normalizeH="0" baseline="0" noProof="0" dirty="0" err="1">
                <a:ln>
                  <a:noFill/>
                </a:ln>
                <a:solidFill>
                  <a:prstClr val="white"/>
                </a:solidFill>
                <a:effectLst/>
                <a:uLnTx/>
                <a:uFillTx/>
                <a:latin typeface="Sans-serif"/>
                <a:ea typeface="+mn-ea"/>
                <a:cs typeface="+mn-cs"/>
              </a:rPr>
              <a:t>Age</a:t>
            </a:r>
            <a:r>
              <a:rPr kumimoji="0" lang="vi-VN" sz="3200" b="0" i="0" u="none" strike="noStrike" kern="1200" cap="none" spc="0" normalizeH="0" baseline="0" noProof="0" dirty="0">
                <a:ln>
                  <a:noFill/>
                </a:ln>
                <a:solidFill>
                  <a:prstClr val="white"/>
                </a:solidFill>
                <a:effectLst/>
                <a:uLnTx/>
                <a:uFillTx/>
                <a:latin typeface="Sans-serif"/>
                <a:ea typeface="+mn-ea"/>
                <a:cs typeface="+mn-cs"/>
              </a:rPr>
              <a:t> hệ số thấp hơn nhưng về y sinh học, </a:t>
            </a:r>
            <a:r>
              <a:rPr kumimoji="0" lang="vi-VN" sz="3200" b="0" i="0" u="none" strike="noStrike" kern="1200" cap="none" spc="0" normalizeH="0" baseline="0" noProof="0" dirty="0" err="1">
                <a:ln>
                  <a:noFill/>
                </a:ln>
                <a:solidFill>
                  <a:prstClr val="white"/>
                </a:solidFill>
                <a:effectLst/>
                <a:uLnTx/>
                <a:uFillTx/>
                <a:latin typeface="Sans-serif"/>
                <a:ea typeface="+mn-ea"/>
                <a:cs typeface="+mn-cs"/>
              </a:rPr>
              <a:t>Glucose</a:t>
            </a:r>
            <a:r>
              <a:rPr kumimoji="0" lang="vi-VN" sz="3200" b="0" i="0" u="none" strike="noStrike" kern="1200" cap="none" spc="0" normalizeH="0" baseline="0" noProof="0" dirty="0">
                <a:ln>
                  <a:noFill/>
                </a:ln>
                <a:solidFill>
                  <a:prstClr val="white"/>
                </a:solidFill>
                <a:effectLst/>
                <a:uLnTx/>
                <a:uFillTx/>
                <a:latin typeface="Sans-serif"/>
                <a:ea typeface="+mn-ea"/>
                <a:cs typeface="+mn-cs"/>
              </a:rPr>
              <a:t> vẫn quan trọng nhất, tiếp theo là BMI và </a:t>
            </a:r>
            <a:r>
              <a:rPr kumimoji="0" lang="vi-VN" sz="3200" b="0" i="0" u="none" strike="noStrike" kern="1200" cap="none" spc="0" normalizeH="0" baseline="0" noProof="0" dirty="0" err="1">
                <a:ln>
                  <a:noFill/>
                </a:ln>
                <a:solidFill>
                  <a:prstClr val="white"/>
                </a:solidFill>
                <a:effectLst/>
                <a:uLnTx/>
                <a:uFillTx/>
                <a:latin typeface="Sans-serif"/>
                <a:ea typeface="+mn-ea"/>
                <a:cs typeface="+mn-cs"/>
              </a:rPr>
              <a:t>Age</a:t>
            </a:r>
            <a:r>
              <a:rPr kumimoji="0" lang="vi-VN" sz="3200" b="0" i="0" u="none" strike="noStrike" kern="1200" cap="none" spc="0" normalizeH="0" baseline="0" noProof="0" dirty="0">
                <a:ln>
                  <a:noFill/>
                </a:ln>
                <a:solidFill>
                  <a:prstClr val="white"/>
                </a:solidFill>
                <a:effectLst/>
                <a:uLnTx/>
                <a:uFillTx/>
                <a:latin typeface="Sans-serif"/>
                <a:ea typeface="+mn-ea"/>
                <a:cs typeface="+mn-cs"/>
              </a:rPr>
              <a:t>. </a:t>
            </a:r>
            <a:r>
              <a:rPr kumimoji="0" lang="vi-VN" sz="3200" b="0" i="0" u="none" strike="noStrike" kern="1200" cap="none" spc="0" normalizeH="0" baseline="0" noProof="0" dirty="0" err="1">
                <a:ln>
                  <a:noFill/>
                </a:ln>
                <a:solidFill>
                  <a:prstClr val="white"/>
                </a:solidFill>
                <a:effectLst/>
                <a:uLnTx/>
                <a:uFillTx/>
                <a:latin typeface="Sans-serif"/>
                <a:ea typeface="+mn-ea"/>
                <a:cs typeface="+mn-cs"/>
              </a:rPr>
              <a:t>BloodPressure</a:t>
            </a:r>
            <a:r>
              <a:rPr kumimoji="0" lang="vi-VN" sz="3200" b="0" i="0" u="none" strike="noStrike" kern="1200" cap="none" spc="0" normalizeH="0" baseline="0" noProof="0" dirty="0">
                <a:ln>
                  <a:noFill/>
                </a:ln>
                <a:solidFill>
                  <a:prstClr val="white"/>
                </a:solidFill>
                <a:effectLst/>
                <a:uLnTx/>
                <a:uFillTx/>
                <a:latin typeface="Sans-serif"/>
                <a:ea typeface="+mn-ea"/>
                <a:cs typeface="+mn-cs"/>
              </a:rPr>
              <a:t>, </a:t>
            </a:r>
            <a:r>
              <a:rPr kumimoji="0" lang="vi-VN" sz="3200" b="0" i="0" u="none" strike="noStrike" kern="1200" cap="none" spc="0" normalizeH="0" baseline="0" noProof="0" dirty="0" err="1">
                <a:ln>
                  <a:noFill/>
                </a:ln>
                <a:solidFill>
                  <a:prstClr val="white"/>
                </a:solidFill>
                <a:effectLst/>
                <a:uLnTx/>
                <a:uFillTx/>
                <a:latin typeface="Sans-serif"/>
                <a:ea typeface="+mn-ea"/>
                <a:cs typeface="+mn-cs"/>
              </a:rPr>
              <a:t>SkinThickness</a:t>
            </a:r>
            <a:r>
              <a:rPr kumimoji="0" lang="vi-VN" sz="3200" b="0" i="0" u="none" strike="noStrike" kern="1200" cap="none" spc="0" normalizeH="0" baseline="0" noProof="0" dirty="0">
                <a:ln>
                  <a:noFill/>
                </a:ln>
                <a:solidFill>
                  <a:prstClr val="white"/>
                </a:solidFill>
                <a:effectLst/>
                <a:uLnTx/>
                <a:uFillTx/>
                <a:latin typeface="Sans-serif"/>
                <a:ea typeface="+mn-ea"/>
                <a:cs typeface="+mn-cs"/>
              </a:rPr>
              <a:t>, </a:t>
            </a:r>
            <a:r>
              <a:rPr kumimoji="0" lang="vi-VN" sz="3200" b="0" i="0" u="none" strike="noStrike" kern="1200" cap="none" spc="0" normalizeH="0" baseline="0" noProof="0" dirty="0" err="1">
                <a:ln>
                  <a:noFill/>
                </a:ln>
                <a:solidFill>
                  <a:prstClr val="white"/>
                </a:solidFill>
                <a:effectLst/>
                <a:uLnTx/>
                <a:uFillTx/>
                <a:latin typeface="Sans-serif"/>
                <a:ea typeface="+mn-ea"/>
                <a:cs typeface="+mn-cs"/>
              </a:rPr>
              <a:t>Insulin</a:t>
            </a:r>
            <a:r>
              <a:rPr kumimoji="0" lang="vi-VN" sz="3200" b="0" i="0" u="none" strike="noStrike" kern="1200" cap="none" spc="0" normalizeH="0" baseline="0" noProof="0" dirty="0">
                <a:ln>
                  <a:noFill/>
                </a:ln>
                <a:solidFill>
                  <a:prstClr val="white"/>
                </a:solidFill>
                <a:effectLst/>
                <a:uLnTx/>
                <a:uFillTx/>
                <a:latin typeface="Sans-serif"/>
                <a:ea typeface="+mn-ea"/>
                <a:cs typeface="+mn-cs"/>
              </a:rPr>
              <a:t> ảnh hưởng rất thấp. </a:t>
            </a:r>
          </a:p>
        </p:txBody>
      </p:sp>
    </p:spTree>
    <p:extLst>
      <p:ext uri="{BB962C8B-B14F-4D97-AF65-F5344CB8AC3E}">
        <p14:creationId xmlns:p14="http://schemas.microsoft.com/office/powerpoint/2010/main" val="3712451644"/>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36CF6D-7495-DCDF-BC23-84918F0E3F0D}"/>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47105C4-7CB7-DF08-E0CA-6CCB2212F1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4BC322FC-B94D-04A5-CBC7-97C431D260CF}"/>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THẢO LUẬN VÀ HIỂU BIẾT SÂU SẮC</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8" name="Rectangle 1">
            <a:extLst>
              <a:ext uri="{FF2B5EF4-FFF2-40B4-BE49-F238E27FC236}">
                <a16:creationId xmlns:a16="http://schemas.microsoft.com/office/drawing/2014/main" id="{01D67796-BB36-5177-7DED-4909336F177B}"/>
              </a:ext>
            </a:extLst>
          </p:cNvPr>
          <p:cNvSpPr>
            <a:spLocks noGrp="1" noChangeArrowheads="1"/>
          </p:cNvSpPr>
          <p:nvPr>
            <p:ph type="ctrTitle"/>
          </p:nvPr>
        </p:nvSpPr>
        <p:spPr bwMode="auto">
          <a:xfrm>
            <a:off x="188583" y="790904"/>
            <a:ext cx="120034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pPr>
            <a:r>
              <a:rPr lang="vi-VN" sz="3200" dirty="0">
                <a:latin typeface="Sans-serif"/>
              </a:rPr>
              <a:t>Các phát hiện chính</a:t>
            </a:r>
            <a:endParaRPr kumimoji="0" lang="en-US" altLang="en-US" sz="3200" b="0" i="0" u="none" strike="noStrike" cap="none" normalizeH="0" baseline="0" dirty="0">
              <a:ln>
                <a:noFill/>
              </a:ln>
              <a:solidFill>
                <a:schemeClr val="tx1"/>
              </a:solidFill>
              <a:effectLst/>
              <a:latin typeface="Sans-serif"/>
            </a:endParaRPr>
          </a:p>
        </p:txBody>
      </p:sp>
      <p:pic>
        <p:nvPicPr>
          <p:cNvPr id="3" name="Picture 2">
            <a:extLst>
              <a:ext uri="{FF2B5EF4-FFF2-40B4-BE49-F238E27FC236}">
                <a16:creationId xmlns:a16="http://schemas.microsoft.com/office/drawing/2014/main" id="{712B0321-8BD4-BA07-63FE-58751DC6D3F2}"/>
              </a:ext>
            </a:extLst>
          </p:cNvPr>
          <p:cNvPicPr>
            <a:picLocks noChangeAspect="1"/>
          </p:cNvPicPr>
          <p:nvPr/>
        </p:nvPicPr>
        <p:blipFill>
          <a:blip r:embed="rId2"/>
          <a:stretch>
            <a:fillRect/>
          </a:stretch>
        </p:blipFill>
        <p:spPr>
          <a:xfrm>
            <a:off x="188583" y="1660213"/>
            <a:ext cx="5000934" cy="3537574"/>
          </a:xfrm>
          <a:prstGeom prst="rect">
            <a:avLst/>
          </a:prstGeom>
        </p:spPr>
      </p:pic>
      <p:sp>
        <p:nvSpPr>
          <p:cNvPr id="4" name="TextBox 3">
            <a:extLst>
              <a:ext uri="{FF2B5EF4-FFF2-40B4-BE49-F238E27FC236}">
                <a16:creationId xmlns:a16="http://schemas.microsoft.com/office/drawing/2014/main" id="{E535F79B-68A3-D4CA-15F0-59876108A662}"/>
              </a:ext>
            </a:extLst>
          </p:cNvPr>
          <p:cNvSpPr txBox="1"/>
          <p:nvPr/>
        </p:nvSpPr>
        <p:spPr>
          <a:xfrm>
            <a:off x="5294018" y="920621"/>
            <a:ext cx="6897981" cy="50167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white"/>
                </a:solidFill>
                <a:effectLst/>
                <a:uLnTx/>
                <a:uFillTx/>
                <a:latin typeface="Sans-serif"/>
                <a:ea typeface="+mn-ea"/>
                <a:cs typeface="+mn-cs"/>
              </a:rPr>
              <a:t>Biểu đồ BMI–</a:t>
            </a:r>
            <a:r>
              <a:rPr kumimoji="0" lang="vi-VN" sz="3200" b="1" i="0" u="none" strike="noStrike" kern="1200" cap="none" spc="0" normalizeH="0" baseline="0" noProof="0" dirty="0" err="1">
                <a:ln>
                  <a:noFill/>
                </a:ln>
                <a:solidFill>
                  <a:prstClr val="white"/>
                </a:solidFill>
                <a:effectLst/>
                <a:uLnTx/>
                <a:uFillTx/>
                <a:latin typeface="Sans-serif"/>
                <a:ea typeface="+mn-ea"/>
                <a:cs typeface="+mn-cs"/>
              </a:rPr>
              <a:t>Age</a:t>
            </a:r>
            <a:r>
              <a:rPr kumimoji="0" lang="vi-VN" sz="3200" b="1" i="0" u="none" strike="noStrike" kern="1200" cap="none" spc="0" normalizeH="0" baseline="0" noProof="0" dirty="0">
                <a:ln>
                  <a:noFill/>
                </a:ln>
                <a:solidFill>
                  <a:prstClr val="white"/>
                </a:solidFill>
                <a:effectLst/>
                <a:uLnTx/>
                <a:uFillTx/>
                <a:latin typeface="Sans-serif"/>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0" i="0" u="none" strike="noStrike" kern="1200" cap="none" spc="0" normalizeH="0" baseline="0" noProof="0" dirty="0">
                <a:ln>
                  <a:noFill/>
                </a:ln>
                <a:solidFill>
                  <a:prstClr val="white"/>
                </a:solidFill>
                <a:effectLst/>
                <a:uLnTx/>
                <a:uFillTx/>
                <a:latin typeface="Sans-serif"/>
                <a:ea typeface="+mn-ea"/>
                <a:cs typeface="+mn-cs"/>
              </a:rPr>
              <a:t>Nhóm mắc bệnh tập trung ở BMI cao và tuổi lớn, còn nhóm không mắc trải dài ở mức thấp hơn.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0" i="0" u="none" strike="noStrike" kern="1200" cap="none" spc="0" normalizeH="0" baseline="0" noProof="0" dirty="0">
                <a:ln>
                  <a:noFill/>
                </a:ln>
                <a:solidFill>
                  <a:prstClr val="white"/>
                </a:solidFill>
                <a:effectLst/>
                <a:uLnTx/>
                <a:uFillTx/>
                <a:latin typeface="Sans-serif"/>
                <a:ea typeface="+mn-ea"/>
                <a:cs typeface="+mn-cs"/>
              </a:rPr>
              <a:t>BMI và </a:t>
            </a:r>
            <a:r>
              <a:rPr kumimoji="0" lang="vi-VN" sz="3200" b="0" i="0" u="none" strike="noStrike" kern="1200" cap="none" spc="0" normalizeH="0" baseline="0" noProof="0" dirty="0" err="1">
                <a:ln>
                  <a:noFill/>
                </a:ln>
                <a:solidFill>
                  <a:prstClr val="white"/>
                </a:solidFill>
                <a:effectLst/>
                <a:uLnTx/>
                <a:uFillTx/>
                <a:latin typeface="Sans-serif"/>
                <a:ea typeface="+mn-ea"/>
                <a:cs typeface="+mn-cs"/>
              </a:rPr>
              <a:t>Age</a:t>
            </a:r>
            <a:r>
              <a:rPr kumimoji="0" lang="vi-VN" sz="3200" b="0" i="0" u="none" strike="noStrike" kern="1200" cap="none" spc="0" normalizeH="0" baseline="0" noProof="0" dirty="0">
                <a:ln>
                  <a:noFill/>
                </a:ln>
                <a:solidFill>
                  <a:prstClr val="white"/>
                </a:solidFill>
                <a:effectLst/>
                <a:uLnTx/>
                <a:uFillTx/>
                <a:latin typeface="Sans-serif"/>
                <a:ea typeface="+mn-ea"/>
                <a:cs typeface="+mn-cs"/>
              </a:rPr>
              <a:t> cùng tăng → nguy cơ tăng, đường xu hướng nhóm bệnh dốc hơn. Vẫn có ngoại lệ ở BMI vừa/tuổi thấp, cho thấy còn yếu tố khác (</a:t>
            </a:r>
            <a:r>
              <a:rPr kumimoji="0" lang="vi-VN" sz="3200" b="0" i="0" u="none" strike="noStrike" kern="1200" cap="none" spc="0" normalizeH="0" baseline="0" noProof="0" dirty="0" err="1">
                <a:ln>
                  <a:noFill/>
                </a:ln>
                <a:solidFill>
                  <a:prstClr val="white"/>
                </a:solidFill>
                <a:effectLst/>
                <a:uLnTx/>
                <a:uFillTx/>
                <a:latin typeface="Sans-serif"/>
                <a:ea typeface="+mn-ea"/>
                <a:cs typeface="+mn-cs"/>
              </a:rPr>
              <a:t>Glucose</a:t>
            </a:r>
            <a:r>
              <a:rPr kumimoji="0" lang="vi-VN" sz="3200" b="0" i="0" u="none" strike="noStrike" kern="1200" cap="none" spc="0" normalizeH="0" baseline="0" noProof="0" dirty="0">
                <a:ln>
                  <a:noFill/>
                </a:ln>
                <a:solidFill>
                  <a:prstClr val="white"/>
                </a:solidFill>
                <a:effectLst/>
                <a:uLnTx/>
                <a:uFillTx/>
                <a:latin typeface="Sans-serif"/>
                <a:ea typeface="+mn-ea"/>
                <a:cs typeface="+mn-cs"/>
              </a:rPr>
              <a:t>, DPF). Kết quả củng cố </a:t>
            </a:r>
            <a:r>
              <a:rPr kumimoji="0" lang="vi-VN" sz="3200" b="0" i="0" u="none" strike="noStrike" kern="1200" cap="none" spc="0" normalizeH="0" baseline="0" noProof="0" dirty="0" err="1">
                <a:ln>
                  <a:noFill/>
                </a:ln>
                <a:solidFill>
                  <a:prstClr val="white"/>
                </a:solidFill>
                <a:effectLst/>
                <a:uLnTx/>
                <a:uFillTx/>
                <a:latin typeface="Sans-serif"/>
                <a:ea typeface="+mn-ea"/>
                <a:cs typeface="+mn-cs"/>
              </a:rPr>
              <a:t>logistic</a:t>
            </a:r>
            <a:r>
              <a:rPr kumimoji="0" lang="vi-VN" sz="3200" b="0" i="0" u="none" strike="noStrike" kern="1200" cap="none" spc="0" normalizeH="0" baseline="0" noProof="0" dirty="0">
                <a:ln>
                  <a:noFill/>
                </a:ln>
                <a:solidFill>
                  <a:prstClr val="white"/>
                </a:solidFill>
                <a:effectLst/>
                <a:uLnTx/>
                <a:uFillTx/>
                <a:latin typeface="Sans-serif"/>
                <a:ea typeface="+mn-ea"/>
                <a:cs typeface="+mn-cs"/>
              </a:rPr>
              <a:t> </a:t>
            </a:r>
            <a:r>
              <a:rPr kumimoji="0" lang="vi-VN" sz="3200" b="0" i="0" u="none" strike="noStrike" kern="1200" cap="none" spc="0" normalizeH="0" baseline="0" noProof="0" dirty="0" err="1">
                <a:ln>
                  <a:noFill/>
                </a:ln>
                <a:solidFill>
                  <a:prstClr val="white"/>
                </a:solidFill>
                <a:effectLst/>
                <a:uLnTx/>
                <a:uFillTx/>
                <a:latin typeface="Sans-serif"/>
                <a:ea typeface="+mn-ea"/>
                <a:cs typeface="+mn-cs"/>
              </a:rPr>
              <a:t>regression</a:t>
            </a:r>
            <a:r>
              <a:rPr kumimoji="0" lang="vi-VN" sz="3200" b="0" i="0" u="none" strike="noStrike" kern="1200" cap="none" spc="0" normalizeH="0" baseline="0" noProof="0" dirty="0">
                <a:ln>
                  <a:noFill/>
                </a:ln>
                <a:solidFill>
                  <a:prstClr val="white"/>
                </a:solidFill>
                <a:effectLst/>
                <a:uLnTx/>
                <a:uFillTx/>
                <a:latin typeface="Sans-serif"/>
                <a:ea typeface="+mn-ea"/>
                <a:cs typeface="+mn-cs"/>
              </a:rPr>
              <a:t>: BMI và </a:t>
            </a:r>
            <a:r>
              <a:rPr kumimoji="0" lang="vi-VN" sz="3200" b="0" i="0" u="none" strike="noStrike" kern="1200" cap="none" spc="0" normalizeH="0" baseline="0" noProof="0" dirty="0" err="1">
                <a:ln>
                  <a:noFill/>
                </a:ln>
                <a:solidFill>
                  <a:prstClr val="white"/>
                </a:solidFill>
                <a:effectLst/>
                <a:uLnTx/>
                <a:uFillTx/>
                <a:latin typeface="Sans-serif"/>
                <a:ea typeface="+mn-ea"/>
                <a:cs typeface="+mn-cs"/>
              </a:rPr>
              <a:t>Age</a:t>
            </a:r>
            <a:r>
              <a:rPr kumimoji="0" lang="vi-VN" sz="3200" b="0" i="0" u="none" strike="noStrike" kern="1200" cap="none" spc="0" normalizeH="0" baseline="0" noProof="0" dirty="0">
                <a:ln>
                  <a:noFill/>
                </a:ln>
                <a:solidFill>
                  <a:prstClr val="white"/>
                </a:solidFill>
                <a:effectLst/>
                <a:uLnTx/>
                <a:uFillTx/>
                <a:latin typeface="Sans-serif"/>
                <a:ea typeface="+mn-ea"/>
                <a:cs typeface="+mn-cs"/>
              </a:rPr>
              <a:t> là yếu tố nguy cơ quan trọng.</a:t>
            </a:r>
          </a:p>
        </p:txBody>
      </p:sp>
    </p:spTree>
    <p:extLst>
      <p:ext uri="{BB962C8B-B14F-4D97-AF65-F5344CB8AC3E}">
        <p14:creationId xmlns:p14="http://schemas.microsoft.com/office/powerpoint/2010/main" val="2548929467"/>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CDA39A-B3AC-D903-C3CD-40C6D159CD59}"/>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8B70FCE-A44E-5918-2AEE-FB963585A7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31AFC14F-4057-B447-B05B-38BD47EF3D79}"/>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MÔ HÌNH DỰ ĐOÁN SƠ BỘ</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8" name="Rectangle 1">
            <a:extLst>
              <a:ext uri="{FF2B5EF4-FFF2-40B4-BE49-F238E27FC236}">
                <a16:creationId xmlns:a16="http://schemas.microsoft.com/office/drawing/2014/main" id="{AF627D52-0CB8-3DA8-C830-FC7C61FB4910}"/>
              </a:ext>
            </a:extLst>
          </p:cNvPr>
          <p:cNvSpPr>
            <a:spLocks noGrp="1" noChangeArrowheads="1"/>
          </p:cNvSpPr>
          <p:nvPr>
            <p:ph type="ctrTitle"/>
          </p:nvPr>
        </p:nvSpPr>
        <p:spPr bwMode="auto">
          <a:xfrm>
            <a:off x="94291" y="674400"/>
            <a:ext cx="12003417"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buFontTx/>
              <a:buChar char="•"/>
            </a:pPr>
            <a:r>
              <a:rPr lang="vi-VN" sz="3200" dirty="0">
                <a:latin typeface="Sans-serif"/>
              </a:rPr>
              <a:t>So sánh với nghiên cứu trước &amp; phát hiện mới</a:t>
            </a:r>
            <a:br>
              <a:rPr lang="vi-VN" sz="3200" dirty="0">
                <a:latin typeface="Sans-serif"/>
              </a:rPr>
            </a:br>
            <a:br>
              <a:rPr lang="vi-VN" sz="3200" dirty="0">
                <a:latin typeface="Sans-serif"/>
              </a:rPr>
            </a:br>
            <a:r>
              <a:rPr lang="vi-VN" sz="3200" dirty="0">
                <a:latin typeface="Sans-serif"/>
              </a:rPr>
              <a:t>Nhất quán với nghiên cứu trước:</a:t>
            </a:r>
            <a:br>
              <a:rPr lang="vi-VN" sz="3200" dirty="0">
                <a:latin typeface="Sans-serif"/>
              </a:rPr>
            </a:br>
            <a:r>
              <a:rPr lang="vi-VN" sz="3200" dirty="0">
                <a:latin typeface="Sans-serif"/>
              </a:rPr>
              <a:t> </a:t>
            </a:r>
            <a:r>
              <a:rPr lang="vi-VN" sz="3200" b="0" dirty="0" err="1">
                <a:latin typeface="Sans-serif"/>
              </a:rPr>
              <a:t>Glucose</a:t>
            </a:r>
            <a:r>
              <a:rPr lang="vi-VN" sz="3200" b="0" dirty="0">
                <a:latin typeface="Sans-serif"/>
              </a:rPr>
              <a:t> vẫn là biến trung tâm trong chẩn đoán (</a:t>
            </a:r>
            <a:r>
              <a:rPr lang="vi-VN" sz="3200" b="0" dirty="0" err="1">
                <a:latin typeface="Sans-serif"/>
              </a:rPr>
              <a:t>National</a:t>
            </a:r>
            <a:r>
              <a:rPr lang="vi-VN" sz="3200" b="0" dirty="0">
                <a:latin typeface="Sans-serif"/>
              </a:rPr>
              <a:t> </a:t>
            </a:r>
            <a:r>
              <a:rPr lang="vi-VN" sz="3200" b="0" dirty="0" err="1">
                <a:latin typeface="Sans-serif"/>
              </a:rPr>
              <a:t>Diabetes</a:t>
            </a:r>
            <a:r>
              <a:rPr lang="vi-VN" sz="3200" b="0" dirty="0">
                <a:latin typeface="Sans-serif"/>
              </a:rPr>
              <a:t>    </a:t>
            </a:r>
            <a:r>
              <a:rPr lang="vi-VN" sz="3200" b="0" dirty="0" err="1">
                <a:latin typeface="Sans-serif"/>
              </a:rPr>
              <a:t>Data</a:t>
            </a:r>
            <a:r>
              <a:rPr lang="vi-VN" sz="3200" b="0" dirty="0">
                <a:latin typeface="Sans-serif"/>
              </a:rPr>
              <a:t> </a:t>
            </a:r>
            <a:r>
              <a:rPr lang="vi-VN" sz="3200" b="0" dirty="0" err="1">
                <a:latin typeface="Sans-serif"/>
              </a:rPr>
              <a:t>Group</a:t>
            </a:r>
            <a:r>
              <a:rPr lang="vi-VN" sz="3200" b="0" dirty="0">
                <a:latin typeface="Sans-serif"/>
              </a:rPr>
              <a:t>, 1979). BMI, tuổi, yếu tố di truyền (DPF) cũng quan trọng, phù hợp với </a:t>
            </a:r>
            <a:r>
              <a:rPr lang="vi-VN" sz="3200" b="0" dirty="0" err="1">
                <a:latin typeface="Sans-serif"/>
              </a:rPr>
              <a:t>Smith</a:t>
            </a:r>
            <a:r>
              <a:rPr lang="vi-VN" sz="3200" b="0" dirty="0">
                <a:latin typeface="Sans-serif"/>
              </a:rPr>
              <a:t> </a:t>
            </a:r>
            <a:r>
              <a:rPr lang="vi-VN" sz="3200" b="0" dirty="0" err="1">
                <a:latin typeface="Sans-serif"/>
              </a:rPr>
              <a:t>et</a:t>
            </a:r>
            <a:r>
              <a:rPr lang="vi-VN" sz="3200" b="0" dirty="0">
                <a:latin typeface="Sans-serif"/>
              </a:rPr>
              <a:t> </a:t>
            </a:r>
            <a:r>
              <a:rPr lang="vi-VN" sz="3200" b="0" dirty="0" err="1">
                <a:latin typeface="Sans-serif"/>
              </a:rPr>
              <a:t>al</a:t>
            </a:r>
            <a:r>
              <a:rPr lang="vi-VN" sz="3200" b="0" dirty="0">
                <a:latin typeface="Sans-serif"/>
              </a:rPr>
              <a:t>. (1988). </a:t>
            </a:r>
            <a:br>
              <a:rPr lang="vi-VN" sz="3200" dirty="0">
                <a:latin typeface="Sans-serif"/>
              </a:rPr>
            </a:br>
            <a:r>
              <a:rPr lang="vi-VN" sz="3200" dirty="0">
                <a:latin typeface="Sans-serif"/>
              </a:rPr>
              <a:t>Phát hiện mới từ dữ liệu </a:t>
            </a:r>
            <a:r>
              <a:rPr lang="vi-VN" sz="3200" dirty="0" err="1">
                <a:latin typeface="Sans-serif"/>
              </a:rPr>
              <a:t>Pima</a:t>
            </a:r>
            <a:r>
              <a:rPr lang="vi-VN" sz="3200" dirty="0">
                <a:latin typeface="Sans-serif"/>
              </a:rPr>
              <a:t>:</a:t>
            </a:r>
            <a:br>
              <a:rPr lang="vi-VN" sz="3200" dirty="0">
                <a:latin typeface="Sans-serif"/>
              </a:rPr>
            </a:br>
            <a:r>
              <a:rPr lang="vi-VN" sz="3200" dirty="0">
                <a:latin typeface="Sans-serif"/>
              </a:rPr>
              <a:t> </a:t>
            </a:r>
            <a:r>
              <a:rPr lang="vi-VN" sz="3200" b="0" dirty="0">
                <a:latin typeface="Sans-serif"/>
              </a:rPr>
              <a:t>DPF nổi bật hơn </a:t>
            </a:r>
            <a:r>
              <a:rPr lang="vi-VN" sz="3200" b="0" dirty="0" err="1">
                <a:latin typeface="Sans-serif"/>
              </a:rPr>
              <a:t>glucose</a:t>
            </a:r>
            <a:r>
              <a:rPr lang="vi-VN" sz="3200" b="0" dirty="0">
                <a:latin typeface="Sans-serif"/>
              </a:rPr>
              <a:t> → di truyền có thể quyết định trong cộng đồng </a:t>
            </a:r>
            <a:r>
              <a:rPr lang="vi-VN" sz="3200" b="0" dirty="0" err="1">
                <a:latin typeface="Sans-serif"/>
              </a:rPr>
              <a:t>Pima</a:t>
            </a:r>
            <a:r>
              <a:rPr lang="vi-VN" sz="3200" b="0" dirty="0">
                <a:latin typeface="Sans-serif"/>
              </a:rPr>
              <a:t>. Kết hợp đa biến (BMI, </a:t>
            </a:r>
            <a:r>
              <a:rPr lang="vi-VN" sz="3200" b="0" dirty="0" err="1">
                <a:latin typeface="Sans-serif"/>
              </a:rPr>
              <a:t>Age</a:t>
            </a:r>
            <a:r>
              <a:rPr lang="vi-VN" sz="3200" b="0" dirty="0">
                <a:latin typeface="Sans-serif"/>
              </a:rPr>
              <a:t>, DPF, </a:t>
            </a:r>
            <a:r>
              <a:rPr lang="vi-VN" sz="3200" b="0" dirty="0" err="1">
                <a:latin typeface="Sans-serif"/>
              </a:rPr>
              <a:t>Glucose</a:t>
            </a:r>
            <a:r>
              <a:rPr lang="vi-VN" sz="3200" b="0" dirty="0">
                <a:latin typeface="Sans-serif"/>
              </a:rPr>
              <a:t>) nâng cao khả năng dự báo. Xuất hiện ngoại lệ (</a:t>
            </a:r>
            <a:r>
              <a:rPr lang="vi-VN" sz="3200" b="0" dirty="0" err="1">
                <a:latin typeface="Sans-serif"/>
              </a:rPr>
              <a:t>glucose</a:t>
            </a:r>
            <a:r>
              <a:rPr lang="vi-VN" sz="3200" b="0" dirty="0">
                <a:latin typeface="Sans-serif"/>
              </a:rPr>
              <a:t> bình thường nhưng DPF/BMI cao vẫn có nguy cơ).</a:t>
            </a:r>
            <a:endParaRPr kumimoji="0" lang="en-US" altLang="en-US" sz="3200" b="0" i="0" u="none" strike="noStrike" cap="none" normalizeH="0" baseline="0" dirty="0">
              <a:ln>
                <a:noFill/>
              </a:ln>
              <a:solidFill>
                <a:schemeClr val="tx1"/>
              </a:solidFill>
              <a:effectLst/>
              <a:latin typeface="Sans-serif"/>
            </a:endParaRPr>
          </a:p>
        </p:txBody>
      </p:sp>
    </p:spTree>
    <p:extLst>
      <p:ext uri="{BB962C8B-B14F-4D97-AF65-F5344CB8AC3E}">
        <p14:creationId xmlns:p14="http://schemas.microsoft.com/office/powerpoint/2010/main" val="1862067294"/>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DFEDDC-9DBF-1CAE-1B56-A111BD48044D}"/>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51AC184-08C1-2CE5-4FB1-3C7D7B73D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E4D52B4B-6A86-9958-0EF5-15B66BD96D58}"/>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MÔ HÌNH DỰ ĐOÁN SƠ BỘ</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8" name="Rectangle 1">
            <a:extLst>
              <a:ext uri="{FF2B5EF4-FFF2-40B4-BE49-F238E27FC236}">
                <a16:creationId xmlns:a16="http://schemas.microsoft.com/office/drawing/2014/main" id="{50FE4221-D2B8-C095-EB0A-1E006D236E8F}"/>
              </a:ext>
            </a:extLst>
          </p:cNvPr>
          <p:cNvSpPr>
            <a:spLocks noGrp="1" noChangeArrowheads="1"/>
          </p:cNvSpPr>
          <p:nvPr>
            <p:ph type="ctrTitle"/>
          </p:nvPr>
        </p:nvSpPr>
        <p:spPr bwMode="auto">
          <a:xfrm>
            <a:off x="388883" y="1577153"/>
            <a:ext cx="11803117"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pPr>
            <a:r>
              <a:rPr lang="vi-VN" sz="3200" dirty="0">
                <a:latin typeface="Sans-serif"/>
              </a:rPr>
              <a:t>Ý nghĩa lâm sàng</a:t>
            </a:r>
            <a:br>
              <a:rPr lang="vi-VN" sz="3200" dirty="0">
                <a:latin typeface="Sans-serif"/>
              </a:rPr>
            </a:br>
            <a:br>
              <a:rPr lang="vi-VN" sz="3200" dirty="0">
                <a:latin typeface="Sans-serif"/>
              </a:rPr>
            </a:br>
            <a:r>
              <a:rPr lang="vi-VN" sz="3200" dirty="0">
                <a:latin typeface="Sans-serif"/>
              </a:rPr>
              <a:t> </a:t>
            </a:r>
            <a:r>
              <a:rPr lang="vi-VN" sz="3200" b="0" dirty="0">
                <a:latin typeface="Sans-serif"/>
              </a:rPr>
              <a:t>Phát hiện sớm: Nhận diện nguy cơ trước khi </a:t>
            </a:r>
            <a:r>
              <a:rPr lang="vi-VN" sz="3200" b="0" dirty="0" err="1">
                <a:latin typeface="Sans-serif"/>
              </a:rPr>
              <a:t>glucose</a:t>
            </a:r>
            <a:r>
              <a:rPr lang="vi-VN" sz="3200" b="0" dirty="0">
                <a:latin typeface="Sans-serif"/>
              </a:rPr>
              <a:t> vượt ngưỡng chẩn đoán. Cá nhân hóa sàng lọc: Theo dõi dựa trên hồ sơ nguy cơ tổng hợp. Tối ưu hóa nguồn lực: Ưu tiên xét nghiệm/điều trị cho nhóm nguy cơ cao. Hỗ trợ quyết định: Giúp bác sĩ có thêm cơ sở khuyến nghị can thiệp và quản lý bệnh nhân. </a:t>
            </a:r>
            <a:endParaRPr kumimoji="0" lang="en-US" altLang="en-US" sz="3200" b="0" i="0" u="none" strike="noStrike" cap="none" normalizeH="0" baseline="0" dirty="0">
              <a:ln>
                <a:noFill/>
              </a:ln>
              <a:solidFill>
                <a:schemeClr val="tx1"/>
              </a:solidFill>
              <a:effectLst/>
              <a:latin typeface="Sans-serif"/>
            </a:endParaRPr>
          </a:p>
        </p:txBody>
      </p:sp>
    </p:spTree>
    <p:extLst>
      <p:ext uri="{BB962C8B-B14F-4D97-AF65-F5344CB8AC3E}">
        <p14:creationId xmlns:p14="http://schemas.microsoft.com/office/powerpoint/2010/main" val="986159743"/>
      </p:ext>
    </p:extLst>
  </p:cSld>
  <p:clrMapOvr>
    <a:overrideClrMapping bg1="dk1" tx1="lt1" bg2="dk2" tx2="lt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8462F9-4241-B26B-DDD5-09A6919E6CA8}"/>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DCC2472-B57E-B553-3C67-4E8806F4AA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7730EA71-74D3-09E7-D950-42EDBE36B482}"/>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a:ln>
                  <a:noFill/>
                </a:ln>
                <a:solidFill>
                  <a:prstClr val="black"/>
                </a:solidFill>
                <a:effectLst/>
                <a:uLnTx/>
                <a:uFillTx/>
                <a:latin typeface="Sans-serif"/>
                <a:ea typeface="+mn-ea"/>
                <a:cs typeface="+mn-cs"/>
              </a:rPr>
              <a:t>MÔ HÌNH DỰ ĐOÁN SƠ BỘ</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8" name="Rectangle 1">
            <a:extLst>
              <a:ext uri="{FF2B5EF4-FFF2-40B4-BE49-F238E27FC236}">
                <a16:creationId xmlns:a16="http://schemas.microsoft.com/office/drawing/2014/main" id="{75CE64BC-15D7-4129-EADE-ED8E3027EFBA}"/>
              </a:ext>
            </a:extLst>
          </p:cNvPr>
          <p:cNvSpPr>
            <a:spLocks noGrp="1" noChangeArrowheads="1"/>
          </p:cNvSpPr>
          <p:nvPr>
            <p:ph type="ctrTitle"/>
          </p:nvPr>
        </p:nvSpPr>
        <p:spPr bwMode="auto">
          <a:xfrm>
            <a:off x="146842" y="668603"/>
            <a:ext cx="5949158"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buFontTx/>
              <a:buChar char="•"/>
            </a:pPr>
            <a:r>
              <a:rPr lang="vi-VN" sz="3200" dirty="0">
                <a:latin typeface="Sans-serif"/>
              </a:rPr>
              <a:t>Hạn chế </a:t>
            </a:r>
            <a:br>
              <a:rPr lang="vi-VN" sz="3200" dirty="0">
                <a:latin typeface="Sans-serif"/>
              </a:rPr>
            </a:br>
            <a:r>
              <a:rPr lang="vi-VN" sz="3200" b="0" dirty="0">
                <a:latin typeface="Sans-serif"/>
              </a:rPr>
              <a:t>Thiếu nhiều biến lâm sàng quan trọng (HbA1c, </a:t>
            </a:r>
            <a:r>
              <a:rPr lang="vi-VN" sz="3200" b="0" dirty="0" err="1">
                <a:latin typeface="Sans-serif"/>
              </a:rPr>
              <a:t>lipid</a:t>
            </a:r>
            <a:r>
              <a:rPr lang="vi-VN" sz="3200" b="0" dirty="0">
                <a:latin typeface="Sans-serif"/>
              </a:rPr>
              <a:t>, tiền sử gia đình, lối sống).</a:t>
            </a:r>
            <a:br>
              <a:rPr lang="vi-VN" sz="3200" b="0" dirty="0">
                <a:latin typeface="Sans-serif"/>
              </a:rPr>
            </a:br>
            <a:r>
              <a:rPr lang="vi-VN" sz="3200" b="0" dirty="0">
                <a:latin typeface="Sans-serif"/>
              </a:rPr>
              <a:t>Dữ liệu chỉ thu thập từ phụ nữ người </a:t>
            </a:r>
            <a:r>
              <a:rPr lang="vi-VN" sz="3200" b="0" dirty="0" err="1">
                <a:latin typeface="Sans-serif"/>
              </a:rPr>
              <a:t>Pima</a:t>
            </a:r>
            <a:r>
              <a:rPr lang="vi-VN" sz="3200" b="0" dirty="0">
                <a:latin typeface="Sans-serif"/>
              </a:rPr>
              <a:t> → hạn chế tính khái quát hóa. </a:t>
            </a:r>
            <a:br>
              <a:rPr lang="vi-VN" sz="3200" b="0" dirty="0">
                <a:latin typeface="Sans-serif"/>
              </a:rPr>
            </a:br>
            <a:r>
              <a:rPr lang="vi-VN" sz="3200" b="0" dirty="0">
                <a:latin typeface="Sans-serif"/>
              </a:rPr>
              <a:t>Không phản ánh yếu tố bối cảnh (ăn uống, vận động, bệnh kèm).</a:t>
            </a:r>
            <a:br>
              <a:rPr lang="vi-VN" sz="3200" b="0" dirty="0">
                <a:latin typeface="Sans-serif"/>
              </a:rPr>
            </a:br>
            <a:r>
              <a:rPr lang="vi-VN" sz="3200" b="0" dirty="0">
                <a:latin typeface="Sans-serif"/>
              </a:rPr>
              <a:t>Mới dùng </a:t>
            </a:r>
            <a:r>
              <a:rPr lang="vi-VN" sz="3200" b="0" dirty="0" err="1">
                <a:latin typeface="Sans-serif"/>
              </a:rPr>
              <a:t>Logistic</a:t>
            </a:r>
            <a:r>
              <a:rPr lang="vi-VN" sz="3200" b="0" dirty="0">
                <a:latin typeface="Sans-serif"/>
              </a:rPr>
              <a:t> </a:t>
            </a:r>
            <a:r>
              <a:rPr lang="vi-VN" sz="3200" b="0" dirty="0" err="1">
                <a:latin typeface="Sans-serif"/>
              </a:rPr>
              <a:t>Regression</a:t>
            </a:r>
            <a:r>
              <a:rPr lang="vi-VN" sz="3200" b="0" dirty="0">
                <a:latin typeface="Sans-serif"/>
              </a:rPr>
              <a:t>, chưa áp dụng thuật toán ML tiên tiến.</a:t>
            </a:r>
            <a:endParaRPr kumimoji="0" lang="en-US" altLang="en-US" sz="3200" b="0" i="0" u="none" strike="noStrike" cap="none" normalizeH="0" baseline="0" dirty="0">
              <a:ln>
                <a:noFill/>
              </a:ln>
              <a:solidFill>
                <a:schemeClr val="tx1"/>
              </a:solidFill>
              <a:effectLst/>
              <a:latin typeface="Sans-serif"/>
            </a:endParaRPr>
          </a:p>
        </p:txBody>
      </p:sp>
      <p:sp>
        <p:nvSpPr>
          <p:cNvPr id="2" name="TextBox 1">
            <a:extLst>
              <a:ext uri="{FF2B5EF4-FFF2-40B4-BE49-F238E27FC236}">
                <a16:creationId xmlns:a16="http://schemas.microsoft.com/office/drawing/2014/main" id="{8617B0AA-8BC8-F3FB-BDCD-D9AACAB7008B}"/>
              </a:ext>
            </a:extLst>
          </p:cNvPr>
          <p:cNvSpPr txBox="1"/>
          <p:nvPr/>
        </p:nvSpPr>
        <p:spPr>
          <a:xfrm>
            <a:off x="6537434" y="668603"/>
            <a:ext cx="5507724" cy="50167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white"/>
                </a:solidFill>
                <a:effectLst/>
                <a:uLnTx/>
                <a:uFillTx/>
                <a:latin typeface="Sans-serif"/>
                <a:ea typeface="+mn-ea"/>
                <a:cs typeface="+mn-cs"/>
              </a:rPr>
              <a:t>Xu hướng nghiên cứu tiếp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0" i="0" u="none" strike="noStrike" kern="1200" cap="none" spc="0" normalizeH="0" baseline="0" noProof="0" dirty="0">
                <a:ln>
                  <a:noFill/>
                </a:ln>
                <a:solidFill>
                  <a:prstClr val="white"/>
                </a:solidFill>
                <a:effectLst/>
                <a:uLnTx/>
                <a:uFillTx/>
                <a:latin typeface="Sans-serif"/>
                <a:ea typeface="+mn-ea"/>
                <a:cs typeface="+mn-cs"/>
              </a:rPr>
              <a:t> Mở rộng dữ liệu: thêm biến lâm sàng, hành vi, di truyền.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0" i="0" u="none" strike="noStrike" kern="1200" cap="none" spc="0" normalizeH="0" baseline="0" noProof="0" dirty="0">
                <a:ln>
                  <a:noFill/>
                </a:ln>
                <a:solidFill>
                  <a:prstClr val="white"/>
                </a:solidFill>
                <a:effectLst/>
                <a:uLnTx/>
                <a:uFillTx/>
                <a:latin typeface="Sans-serif"/>
                <a:ea typeface="+mn-ea"/>
                <a:cs typeface="+mn-cs"/>
              </a:rPr>
              <a:t>So sánh nhiều mô hình (RF, </a:t>
            </a:r>
            <a:r>
              <a:rPr kumimoji="0" lang="vi-VN" sz="3200" b="0" i="0" u="none" strike="noStrike" kern="1200" cap="none" spc="0" normalizeH="0" baseline="0" noProof="0" dirty="0" err="1">
                <a:ln>
                  <a:noFill/>
                </a:ln>
                <a:solidFill>
                  <a:prstClr val="white"/>
                </a:solidFill>
                <a:effectLst/>
                <a:uLnTx/>
                <a:uFillTx/>
                <a:latin typeface="Sans-serif"/>
                <a:ea typeface="+mn-ea"/>
                <a:cs typeface="+mn-cs"/>
              </a:rPr>
              <a:t>XGBoost</a:t>
            </a:r>
            <a:r>
              <a:rPr kumimoji="0" lang="vi-VN" sz="3200" b="0" i="0" u="none" strike="noStrike" kern="1200" cap="none" spc="0" normalizeH="0" baseline="0" noProof="0" dirty="0">
                <a:ln>
                  <a:noFill/>
                </a:ln>
                <a:solidFill>
                  <a:prstClr val="white"/>
                </a:solidFill>
                <a:effectLst/>
                <a:uLnTx/>
                <a:uFillTx/>
                <a:latin typeface="Sans-serif"/>
                <a:ea typeface="+mn-ea"/>
                <a:cs typeface="+mn-cs"/>
              </a:rPr>
              <a:t>, NN).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0" i="0" u="none" strike="noStrike" kern="1200" cap="none" spc="0" normalizeH="0" baseline="0" noProof="0" dirty="0">
                <a:ln>
                  <a:noFill/>
                </a:ln>
                <a:solidFill>
                  <a:prstClr val="white"/>
                </a:solidFill>
                <a:effectLst/>
                <a:uLnTx/>
                <a:uFillTx/>
                <a:latin typeface="Sans-serif"/>
                <a:ea typeface="+mn-ea"/>
                <a:cs typeface="+mn-cs"/>
              </a:rPr>
              <a:t>Kiểm định trên quần thể đa dạng.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0" i="0" u="none" strike="noStrike" kern="1200" cap="none" spc="0" normalizeH="0" baseline="0" noProof="0" dirty="0">
                <a:ln>
                  <a:noFill/>
                </a:ln>
                <a:solidFill>
                  <a:prstClr val="white"/>
                </a:solidFill>
                <a:effectLst/>
                <a:uLnTx/>
                <a:uFillTx/>
                <a:latin typeface="Sans-serif"/>
                <a:ea typeface="+mn-ea"/>
                <a:cs typeface="+mn-cs"/>
              </a:rPr>
              <a:t>Hướng đến y học chính xác: tích hợp dữ liệu di truyền &amp; </a:t>
            </a:r>
            <a:r>
              <a:rPr kumimoji="0" lang="vi-VN" sz="3200" b="0" i="0" u="none" strike="noStrike" kern="1200" cap="none" spc="0" normalizeH="0" baseline="0" noProof="0" dirty="0" err="1">
                <a:ln>
                  <a:noFill/>
                </a:ln>
                <a:solidFill>
                  <a:prstClr val="white"/>
                </a:solidFill>
                <a:effectLst/>
                <a:uLnTx/>
                <a:uFillTx/>
                <a:latin typeface="Sans-serif"/>
                <a:ea typeface="+mn-ea"/>
                <a:cs typeface="+mn-cs"/>
              </a:rPr>
              <a:t>wearable</a:t>
            </a:r>
            <a:r>
              <a:rPr kumimoji="0" lang="vi-VN" sz="3200" b="0" i="0" u="none" strike="noStrike" kern="1200" cap="none" spc="0" normalizeH="0" baseline="0" noProof="0" dirty="0">
                <a:ln>
                  <a:noFill/>
                </a:ln>
                <a:solidFill>
                  <a:prstClr val="white"/>
                </a:solidFill>
                <a:effectLst/>
                <a:uLnTx/>
                <a:uFillTx/>
                <a:latin typeface="Sans-serif"/>
                <a:ea typeface="+mn-ea"/>
                <a:cs typeface="+mn-cs"/>
              </a:rPr>
              <a:t>. </a:t>
            </a:r>
          </a:p>
        </p:txBody>
      </p:sp>
    </p:spTree>
    <p:extLst>
      <p:ext uri="{BB962C8B-B14F-4D97-AF65-F5344CB8AC3E}">
        <p14:creationId xmlns:p14="http://schemas.microsoft.com/office/powerpoint/2010/main" val="2109929870"/>
      </p:ext>
    </p:extLst>
  </p:cSld>
  <p:clrMapOvr>
    <a:overrideClrMapping bg1="dk1" tx1="lt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48C61E-05B9-B595-4938-C66E92487392}"/>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C574A1A-8D55-237E-6EF7-687FA0A3BA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B848D595-0B13-7962-1518-F095251462B3}"/>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KẾT LUẬN VÀ KHUYẾN NGHỊ</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8" name="Rectangle 1">
            <a:extLst>
              <a:ext uri="{FF2B5EF4-FFF2-40B4-BE49-F238E27FC236}">
                <a16:creationId xmlns:a16="http://schemas.microsoft.com/office/drawing/2014/main" id="{C826148F-2F48-1F3C-2B63-08AE322E53CF}"/>
              </a:ext>
            </a:extLst>
          </p:cNvPr>
          <p:cNvSpPr>
            <a:spLocks noGrp="1" noChangeArrowheads="1"/>
          </p:cNvSpPr>
          <p:nvPr>
            <p:ph type="ctrTitle"/>
          </p:nvPr>
        </p:nvSpPr>
        <p:spPr bwMode="auto">
          <a:xfrm>
            <a:off x="0" y="1032642"/>
            <a:ext cx="120034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pPr>
            <a:r>
              <a:rPr lang="vi-VN" sz="3200" dirty="0">
                <a:latin typeface="Sans-serif"/>
              </a:rPr>
              <a:t>Kết luận &amp; Tóm tắt phát hiện</a:t>
            </a:r>
            <a:endParaRPr kumimoji="0" lang="en-US" altLang="en-US" sz="3200" b="0" i="0" u="none" strike="noStrike" cap="none" normalizeH="0" baseline="0" dirty="0">
              <a:ln>
                <a:noFill/>
              </a:ln>
              <a:solidFill>
                <a:schemeClr val="tx1"/>
              </a:solidFill>
              <a:effectLst/>
              <a:latin typeface="Sans-serif"/>
            </a:endParaRPr>
          </a:p>
        </p:txBody>
      </p:sp>
      <p:pic>
        <p:nvPicPr>
          <p:cNvPr id="3" name="Picture 2">
            <a:extLst>
              <a:ext uri="{FF2B5EF4-FFF2-40B4-BE49-F238E27FC236}">
                <a16:creationId xmlns:a16="http://schemas.microsoft.com/office/drawing/2014/main" id="{A5323851-9AFC-A329-03B7-2A9C4B1EC113}"/>
              </a:ext>
            </a:extLst>
          </p:cNvPr>
          <p:cNvPicPr>
            <a:picLocks noChangeAspect="1"/>
          </p:cNvPicPr>
          <p:nvPr/>
        </p:nvPicPr>
        <p:blipFill>
          <a:blip r:embed="rId2"/>
          <a:stretch>
            <a:fillRect/>
          </a:stretch>
        </p:blipFill>
        <p:spPr>
          <a:xfrm>
            <a:off x="105462" y="1798822"/>
            <a:ext cx="5538593" cy="1856823"/>
          </a:xfrm>
          <a:prstGeom prst="rect">
            <a:avLst/>
          </a:prstGeom>
        </p:spPr>
      </p:pic>
      <p:pic>
        <p:nvPicPr>
          <p:cNvPr id="5" name="Picture 4">
            <a:extLst>
              <a:ext uri="{FF2B5EF4-FFF2-40B4-BE49-F238E27FC236}">
                <a16:creationId xmlns:a16="http://schemas.microsoft.com/office/drawing/2014/main" id="{4FF27F3D-875B-4DFC-9D3D-B8C324468226}"/>
              </a:ext>
            </a:extLst>
          </p:cNvPr>
          <p:cNvPicPr>
            <a:picLocks noChangeAspect="1"/>
          </p:cNvPicPr>
          <p:nvPr/>
        </p:nvPicPr>
        <p:blipFill>
          <a:blip r:embed="rId3"/>
          <a:stretch>
            <a:fillRect/>
          </a:stretch>
        </p:blipFill>
        <p:spPr>
          <a:xfrm>
            <a:off x="6348549" y="1757569"/>
            <a:ext cx="5433547" cy="1898076"/>
          </a:xfrm>
          <a:prstGeom prst="rect">
            <a:avLst/>
          </a:prstGeom>
        </p:spPr>
      </p:pic>
      <p:pic>
        <p:nvPicPr>
          <p:cNvPr id="9" name="Picture 8">
            <a:extLst>
              <a:ext uri="{FF2B5EF4-FFF2-40B4-BE49-F238E27FC236}">
                <a16:creationId xmlns:a16="http://schemas.microsoft.com/office/drawing/2014/main" id="{769FC804-F6CD-354B-5074-41666E663FAE}"/>
              </a:ext>
            </a:extLst>
          </p:cNvPr>
          <p:cNvPicPr>
            <a:picLocks noChangeAspect="1"/>
          </p:cNvPicPr>
          <p:nvPr/>
        </p:nvPicPr>
        <p:blipFill>
          <a:blip r:embed="rId4"/>
          <a:stretch>
            <a:fillRect/>
          </a:stretch>
        </p:blipFill>
        <p:spPr>
          <a:xfrm>
            <a:off x="3164350" y="3926286"/>
            <a:ext cx="5674716" cy="2661072"/>
          </a:xfrm>
          <a:prstGeom prst="rect">
            <a:avLst/>
          </a:prstGeom>
        </p:spPr>
      </p:pic>
    </p:spTree>
    <p:extLst>
      <p:ext uri="{BB962C8B-B14F-4D97-AF65-F5344CB8AC3E}">
        <p14:creationId xmlns:p14="http://schemas.microsoft.com/office/powerpoint/2010/main" val="768053385"/>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97622F-27B1-0A2D-A047-85B61CF387E6}"/>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E61DD4F5-A40F-E802-1715-EF96BF15BD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C888B9CA-D377-3178-E76C-663D72D7D943}"/>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Sans-serif"/>
                <a:ea typeface="+mn-ea"/>
                <a:cs typeface="+mn-cs"/>
              </a:rPr>
              <a:t>KẾT LUẬN VÀ KHUYẾN NGHỊ</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8" name="Rectangle 1">
            <a:extLst>
              <a:ext uri="{FF2B5EF4-FFF2-40B4-BE49-F238E27FC236}">
                <a16:creationId xmlns:a16="http://schemas.microsoft.com/office/drawing/2014/main" id="{31B258A0-EBC3-EBD9-F06D-5ED5ECB68357}"/>
              </a:ext>
            </a:extLst>
          </p:cNvPr>
          <p:cNvSpPr>
            <a:spLocks noGrp="1" noChangeArrowheads="1"/>
          </p:cNvSpPr>
          <p:nvPr>
            <p:ph type="ctrTitle"/>
          </p:nvPr>
        </p:nvSpPr>
        <p:spPr bwMode="auto">
          <a:xfrm>
            <a:off x="94291" y="906518"/>
            <a:ext cx="120034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pPr>
            <a:r>
              <a:rPr lang="vi-VN" sz="3200" dirty="0">
                <a:latin typeface="Sans-serif"/>
              </a:rPr>
              <a:t>Ứng dụng thực tiễn</a:t>
            </a:r>
            <a:endParaRPr kumimoji="0" lang="en-US" altLang="en-US" sz="3200" b="0" i="0" u="none" strike="noStrike" cap="none" normalizeH="0" baseline="0" dirty="0">
              <a:ln>
                <a:noFill/>
              </a:ln>
              <a:solidFill>
                <a:schemeClr val="tx1"/>
              </a:solidFill>
              <a:effectLst/>
              <a:latin typeface="Sans-serif"/>
            </a:endParaRPr>
          </a:p>
        </p:txBody>
      </p:sp>
      <p:pic>
        <p:nvPicPr>
          <p:cNvPr id="3" name="Picture 2">
            <a:extLst>
              <a:ext uri="{FF2B5EF4-FFF2-40B4-BE49-F238E27FC236}">
                <a16:creationId xmlns:a16="http://schemas.microsoft.com/office/drawing/2014/main" id="{27846DF9-0301-D54F-FB87-827A9E8B0869}"/>
              </a:ext>
            </a:extLst>
          </p:cNvPr>
          <p:cNvPicPr>
            <a:picLocks noChangeAspect="1"/>
          </p:cNvPicPr>
          <p:nvPr/>
        </p:nvPicPr>
        <p:blipFill>
          <a:blip r:embed="rId2"/>
          <a:stretch>
            <a:fillRect/>
          </a:stretch>
        </p:blipFill>
        <p:spPr>
          <a:xfrm>
            <a:off x="388883" y="1664198"/>
            <a:ext cx="10851002" cy="4287284"/>
          </a:xfrm>
          <a:prstGeom prst="rect">
            <a:avLst/>
          </a:prstGeom>
        </p:spPr>
      </p:pic>
    </p:spTree>
    <p:extLst>
      <p:ext uri="{BB962C8B-B14F-4D97-AF65-F5344CB8AC3E}">
        <p14:creationId xmlns:p14="http://schemas.microsoft.com/office/powerpoint/2010/main" val="814362374"/>
      </p:ext>
    </p:extLst>
  </p:cSld>
  <p:clrMapOvr>
    <a:overrideClrMapping bg1="dk1" tx1="lt1" bg2="dk2" tx2="lt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E2F4A1-F9C9-163E-D8CE-81E2CFA38893}"/>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55701DA-10EF-DD58-3D7C-9A4D532F4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TextBox 6">
            <a:extLst>
              <a:ext uri="{FF2B5EF4-FFF2-40B4-BE49-F238E27FC236}">
                <a16:creationId xmlns:a16="http://schemas.microsoft.com/office/drawing/2014/main" id="{02895077-A070-2C34-FB06-0C9E100357D9}"/>
              </a:ext>
            </a:extLst>
          </p:cNvPr>
          <p:cNvSpPr txBox="1"/>
          <p:nvPr/>
        </p:nvSpPr>
        <p:spPr>
          <a:xfrm>
            <a:off x="0" y="0"/>
            <a:ext cx="12192000" cy="58477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a:ln>
                  <a:noFill/>
                </a:ln>
                <a:solidFill>
                  <a:prstClr val="black"/>
                </a:solidFill>
                <a:effectLst/>
                <a:uLnTx/>
                <a:uFillTx/>
                <a:latin typeface="Sans-serif"/>
                <a:ea typeface="+mn-ea"/>
                <a:cs typeface="+mn-cs"/>
              </a:rPr>
              <a:t>KẾT LUẬN VÀ KHUYẾN NGHỊ</a:t>
            </a:r>
            <a:endParaRPr kumimoji="0" lang="en-US" sz="3200" b="1" i="0" u="none" strike="noStrike" kern="1200" cap="none" spc="0" normalizeH="0" baseline="0" noProof="0" dirty="0">
              <a:ln>
                <a:noFill/>
              </a:ln>
              <a:solidFill>
                <a:prstClr val="black"/>
              </a:solidFill>
              <a:effectLst/>
              <a:uLnTx/>
              <a:uFillTx/>
              <a:latin typeface="Sans-serif"/>
              <a:ea typeface="+mn-ea"/>
              <a:cs typeface="+mn-cs"/>
            </a:endParaRPr>
          </a:p>
        </p:txBody>
      </p:sp>
      <p:sp>
        <p:nvSpPr>
          <p:cNvPr id="8" name="Rectangle 1">
            <a:extLst>
              <a:ext uri="{FF2B5EF4-FFF2-40B4-BE49-F238E27FC236}">
                <a16:creationId xmlns:a16="http://schemas.microsoft.com/office/drawing/2014/main" id="{239B4BB3-3E37-A0AD-B3A6-1FCF3CA0A60A}"/>
              </a:ext>
            </a:extLst>
          </p:cNvPr>
          <p:cNvSpPr>
            <a:spLocks noGrp="1" noChangeArrowheads="1"/>
          </p:cNvSpPr>
          <p:nvPr>
            <p:ph type="ctrTitle"/>
          </p:nvPr>
        </p:nvSpPr>
        <p:spPr bwMode="auto">
          <a:xfrm>
            <a:off x="0" y="769883"/>
            <a:ext cx="120034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pPr>
            <a:r>
              <a:rPr lang="vi-VN" sz="3200" dirty="0">
                <a:latin typeface="Sans-serif"/>
              </a:rPr>
              <a:t>Hướng nghiên cứu tiếp theo </a:t>
            </a:r>
            <a:endParaRPr kumimoji="0" lang="en-US" altLang="en-US" sz="3200" b="0" i="0" u="none" strike="noStrike" cap="none" normalizeH="0" baseline="0" dirty="0">
              <a:ln>
                <a:noFill/>
              </a:ln>
              <a:solidFill>
                <a:schemeClr val="tx1"/>
              </a:solidFill>
              <a:effectLst/>
              <a:latin typeface="Sans-serif"/>
            </a:endParaRPr>
          </a:p>
        </p:txBody>
      </p:sp>
      <p:pic>
        <p:nvPicPr>
          <p:cNvPr id="3" name="Picture 2">
            <a:extLst>
              <a:ext uri="{FF2B5EF4-FFF2-40B4-BE49-F238E27FC236}">
                <a16:creationId xmlns:a16="http://schemas.microsoft.com/office/drawing/2014/main" id="{3DA036A6-FC24-18E4-5D2D-1054ABB6883B}"/>
              </a:ext>
            </a:extLst>
          </p:cNvPr>
          <p:cNvPicPr>
            <a:picLocks noChangeAspect="1"/>
          </p:cNvPicPr>
          <p:nvPr/>
        </p:nvPicPr>
        <p:blipFill>
          <a:blip r:embed="rId2"/>
          <a:stretch>
            <a:fillRect/>
          </a:stretch>
        </p:blipFill>
        <p:spPr>
          <a:xfrm>
            <a:off x="286776" y="1396747"/>
            <a:ext cx="5930327" cy="2032253"/>
          </a:xfrm>
          <a:prstGeom prst="rect">
            <a:avLst/>
          </a:prstGeom>
        </p:spPr>
      </p:pic>
      <p:pic>
        <p:nvPicPr>
          <p:cNvPr id="5" name="Picture 4">
            <a:extLst>
              <a:ext uri="{FF2B5EF4-FFF2-40B4-BE49-F238E27FC236}">
                <a16:creationId xmlns:a16="http://schemas.microsoft.com/office/drawing/2014/main" id="{B9070559-1228-AEF6-EEC0-D0E2416A0FB2}"/>
              </a:ext>
            </a:extLst>
          </p:cNvPr>
          <p:cNvPicPr>
            <a:picLocks noChangeAspect="1"/>
          </p:cNvPicPr>
          <p:nvPr/>
        </p:nvPicPr>
        <p:blipFill>
          <a:blip r:embed="rId3"/>
          <a:stretch>
            <a:fillRect/>
          </a:stretch>
        </p:blipFill>
        <p:spPr>
          <a:xfrm>
            <a:off x="286777" y="3706223"/>
            <a:ext cx="5949036" cy="2772707"/>
          </a:xfrm>
          <a:prstGeom prst="rect">
            <a:avLst/>
          </a:prstGeom>
        </p:spPr>
      </p:pic>
      <p:pic>
        <p:nvPicPr>
          <p:cNvPr id="9" name="Picture 8">
            <a:extLst>
              <a:ext uri="{FF2B5EF4-FFF2-40B4-BE49-F238E27FC236}">
                <a16:creationId xmlns:a16="http://schemas.microsoft.com/office/drawing/2014/main" id="{9091B768-5770-5033-2907-BD9B87448034}"/>
              </a:ext>
            </a:extLst>
          </p:cNvPr>
          <p:cNvPicPr>
            <a:picLocks noChangeAspect="1"/>
          </p:cNvPicPr>
          <p:nvPr/>
        </p:nvPicPr>
        <p:blipFill>
          <a:blip r:embed="rId4"/>
          <a:stretch>
            <a:fillRect/>
          </a:stretch>
        </p:blipFill>
        <p:spPr>
          <a:xfrm>
            <a:off x="6457381" y="2319869"/>
            <a:ext cx="5447842" cy="2772707"/>
          </a:xfrm>
          <a:prstGeom prst="rect">
            <a:avLst/>
          </a:prstGeom>
        </p:spPr>
      </p:pic>
    </p:spTree>
    <p:extLst>
      <p:ext uri="{BB962C8B-B14F-4D97-AF65-F5344CB8AC3E}">
        <p14:creationId xmlns:p14="http://schemas.microsoft.com/office/powerpoint/2010/main" val="4159660453"/>
      </p:ext>
    </p:extLst>
  </p:cSld>
  <p:clrMapOvr>
    <a:overrideClrMapping bg1="dk1" tx1="lt1" bg2="dk2" tx2="lt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E877C4-C878-D6FE-8A2E-48C8DD09A96C}"/>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373FD77-0860-9D5C-6887-B11B1A532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8" name="Rectangle 1">
            <a:extLst>
              <a:ext uri="{FF2B5EF4-FFF2-40B4-BE49-F238E27FC236}">
                <a16:creationId xmlns:a16="http://schemas.microsoft.com/office/drawing/2014/main" id="{F0C06919-5D85-3DC9-196E-471F46847EF1}"/>
              </a:ext>
            </a:extLst>
          </p:cNvPr>
          <p:cNvSpPr>
            <a:spLocks noGrp="1" noChangeArrowheads="1"/>
          </p:cNvSpPr>
          <p:nvPr>
            <p:ph type="ctrTitle"/>
          </p:nvPr>
        </p:nvSpPr>
        <p:spPr bwMode="auto">
          <a:xfrm>
            <a:off x="94291" y="3429000"/>
            <a:ext cx="120034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Aft>
                <a:spcPct val="0"/>
              </a:spcAft>
              <a:buFontTx/>
              <a:buChar char="•"/>
            </a:pPr>
            <a:endParaRPr kumimoji="0" lang="en-US" altLang="en-US" sz="3200" b="0" i="0" u="none" strike="noStrike" cap="none" normalizeH="0" baseline="0" dirty="0">
              <a:ln>
                <a:noFill/>
              </a:ln>
              <a:solidFill>
                <a:schemeClr val="tx1"/>
              </a:solidFill>
              <a:effectLst/>
              <a:latin typeface="Sans-serif"/>
            </a:endParaRPr>
          </a:p>
        </p:txBody>
      </p:sp>
      <p:pic>
        <p:nvPicPr>
          <p:cNvPr id="3" name="Picture 2">
            <a:extLst>
              <a:ext uri="{FF2B5EF4-FFF2-40B4-BE49-F238E27FC236}">
                <a16:creationId xmlns:a16="http://schemas.microsoft.com/office/drawing/2014/main" id="{57D47C6A-DF2D-5232-EF24-0A62B7F0301A}"/>
              </a:ext>
            </a:extLst>
          </p:cNvPr>
          <p:cNvPicPr>
            <a:picLocks noChangeAspect="1"/>
          </p:cNvPicPr>
          <p:nvPr/>
        </p:nvPicPr>
        <p:blipFill>
          <a:blip r:embed="rId2"/>
          <a:stretch>
            <a:fillRect/>
          </a:stretch>
        </p:blipFill>
        <p:spPr>
          <a:xfrm>
            <a:off x="0" y="-136633"/>
            <a:ext cx="12192001" cy="6994634"/>
          </a:xfrm>
          <a:prstGeom prst="rect">
            <a:avLst/>
          </a:prstGeom>
        </p:spPr>
      </p:pic>
    </p:spTree>
    <p:extLst>
      <p:ext uri="{BB962C8B-B14F-4D97-AF65-F5344CB8AC3E}">
        <p14:creationId xmlns:p14="http://schemas.microsoft.com/office/powerpoint/2010/main" val="426670000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2218</TotalTime>
  <Words>2001</Words>
  <Application>Microsoft Office PowerPoint</Application>
  <PresentationFormat>Widescreen</PresentationFormat>
  <Paragraphs>112</Paragraphs>
  <Slides>35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STZhongsong</vt:lpstr>
      <vt:lpstr>Aptos</vt:lpstr>
      <vt:lpstr>Arial</vt:lpstr>
      <vt:lpstr>Neue Haas Grotesk Text Pro</vt:lpstr>
      <vt:lpstr>Sans-serif</vt:lpstr>
      <vt:lpstr>VanillaVTI</vt:lpstr>
      <vt:lpstr>ỨNG DỤNG MÁY HỌC TRONG BỆNH TIỂU ĐƯỜNG  RÚT TRÍCH VÀ TIỀN XỬ LÝ DỮ LIỆU </vt:lpstr>
      <vt:lpstr>Bối cảnh: Một rối loạn chuyển hóa mãn tính đặc trưng bởi tình trạng tăng glucose máu kéo dài, bắt nguồn từ thiếu insulin hoặc đề kháng insulin ở mô ngoại vi. Dữ liệu thực nghiệm: Sử dụng bộ dữ liệu kinh điển Pima Indians Diabetes gồm các thông tin lâm sàng của phụ  nữ người Mỹ bản địa Pima. Mục tiêu chính: Xác định các yếu tố nguy cơ quan trọng nhất (Glucose, BMI, Tuổi...) thông qua phân tích thống kê. Xây dựng mô hình dự đoán khả năng mắc bệnh để hỗ trợ phát hiện sớm và ngăn ngừa biến chứng. Yêu cầu kỹ thuật: Thực hiện quy trình rút trích và tiền xử lý dữ liệu cho bài toán Phân lớp (Classification)</vt:lpstr>
      <vt:lpstr>PowerPoint Presentation</vt:lpstr>
      <vt:lpstr>Pregnancies: số lần mang thai.</vt:lpstr>
      <vt:lpstr>PowerPoint Presentation</vt:lpstr>
      <vt:lpstr>PowerPoint Presentation</vt:lpstr>
      <vt:lpstr>PowerPoint Presentation</vt:lpstr>
      <vt:lpstr>PowerPoint Presentation</vt:lpstr>
      <vt:lpstr>Kết hợp yếu tố di truyền với Glucose </vt:lpstr>
      <vt:lpstr>Kết hợp yếu tố di truyền với Glucose  Bốn vùng nguy cơ (DPF – Glucose): Nguy cơ thấp: DPF &lt; 0.6 &amp; Glucose &lt; 110 → đa số không mắc.                 Nguy cơ trung bình: Chỉ 1 yếu tố bất thường (DPF cao hoặc Glucose    cao) → cần theo dõi. Nguy cơ cao: DPF &gt; 1.0 &amp; Glucose &gt; 140 → tập trung ca mắc bệnh.  Đặc biệt: DPF thấp nhưng Glucose &gt; 180 → có thể type 1.  Ý nghĩa           Sự kết hợp DPF + Glucose cải thiện phân loại nguy cơ rõ rệt so với dùng từng chỉ số đơn lẻ.   </vt:lpstr>
      <vt:lpstr>Nhóm có bệnh (Outcome=1): Giá trị trung vị cao hơn hẳn (đạt mức 4-5 lần). Nhóm này xuất hiện nhiều điểm dữ liệu ngoại lai (outliers) thể hiện số lần mang thai rất lớn (từ 10 đến 17 lần). Nhóm không bệnh (Outcome=0): Mức trung vị thấp hơn (chỉ khoảng 2-3 lần). Dữ liệu chủ yếu quần tụ ở các giá trị nhỏ và rất hiếm khi ghi nhận các outliers ở mức cao.</vt:lpstr>
      <vt:lpstr>PowerPoint Presentation</vt:lpstr>
      <vt:lpstr>Cơ chế bệnh sinh:   Đái tháo đường thai kỳ: Mỗi lần mang thai là một lần nguy cơ  Thay đổi nội tiết tố: Ảnh hưởng lâu dài đến chuyển hóa glucose  Tích lũy nguy cơ: Tác động cộng dồn qua các lần mang thai Ngưỡng quan trọng:   ≥4 lần mang thai: Cần tầm soát đái tháo đường tích cực    ≥7 lần mang thai: Nguy cơ rất cao, cần can thiệp sớm  Số lần mang thai có mối quan hệ rõ rệt với nguy cơ đái tháo đường. Nhóm mắc bệnh có số lần mang thai trung bình cao hơn đáng kể so với nhóm khỏe mạnh. Tỷ lệ mắc bệnh tăng dần theo số lần mang thai, đặc biệt sau 4 lần. </vt:lpstr>
      <vt:lpstr>Phân tích cặp biến quan trọng</vt:lpstr>
      <vt:lpstr>Phân tích tầm quan trọng của đặc trưng  Tầm quan trọng đơn biến </vt:lpstr>
      <vt:lpstr> Phát hiện đa cộng tuyến   Phân tích chỉ số điều kiện    Tất cả các biến đều có VIF &lt; 2, nghĩa là không có hiện tượng đa cộng tuyến nghiêm trọng.           Nhìn chung, dữ liệu ở mức ổn định để sử dụng trong mô hình hồi quy / phân loại. </vt:lpstr>
      <vt:lpstr>Phân tích phân nhóm (Phân cụm) Xác định các nhóm bệnh nhân tiềm ẩn </vt:lpstr>
      <vt:lpstr>    Phân tích các yếu tố nguy cơ      Xếp hạng các yếu tố nguy cơ</vt:lpstr>
      <vt:lpstr>    Phân tích các yếu tố nguy cơ      Tạo hệ thống chấm điểm nguy cơ</vt:lpstr>
      <vt:lpstr>PowerPoint Presentation</vt:lpstr>
      <vt:lpstr>PowerPoint Presentation</vt:lpstr>
      <vt:lpstr>PowerPoint Presentation</vt:lpstr>
      <vt:lpstr>Kết luận  Dựa trên biểu đồ từ dữ liệu CSV, các biến Glucose, BMI,         BloodPressure, Age, Insulin, Pregnancies và DPF được chọn làm đầu vào cho mô hình dự đoán. Những biến ít đóng góp hoặc có tương quan cao sẽ được loại bỏ hoặc kết hợp để giảm đa cộng tuyến và nâng cao hiệu suất. Việc trực quan hóa dữ liệu giúp giải thích lựa chọn đặc trưng rõ ràng, làm nền tảng cho bước xây dựng mô hình tiếp theo. </vt:lpstr>
      <vt:lpstr>Đánh giá hiệu suất mô hình:</vt:lpstr>
      <vt:lpstr>So sánh với thuật toán ADAP</vt:lpstr>
      <vt:lpstr>PowerPoint Presentation</vt:lpstr>
      <vt:lpstr>Các phát hiện chính </vt:lpstr>
      <vt:lpstr>Các phát hiện chính</vt:lpstr>
      <vt:lpstr>So sánh với nghiên cứu trước &amp; phát hiện mới  Nhất quán với nghiên cứu trước:  Glucose vẫn là biến trung tâm trong chẩn đoán (National Diabetes    Data Group, 1979). BMI, tuổi, yếu tố di truyền (DPF) cũng quan trọng, phù hợp với Smith et al. (1988).  Phát hiện mới từ dữ liệu Pima:  DPF nổi bật hơn glucose → di truyền có thể quyết định trong cộng đồng Pima. Kết hợp đa biến (BMI, Age, DPF, Glucose) nâng cao khả năng dự báo. Xuất hiện ngoại lệ (glucose bình thường nhưng DPF/BMI cao vẫn có nguy cơ).</vt:lpstr>
      <vt:lpstr>Ý nghĩa lâm sàng   Phát hiện sớm: Nhận diện nguy cơ trước khi glucose vượt ngưỡng chẩn đoán. Cá nhân hóa sàng lọc: Theo dõi dựa trên hồ sơ nguy cơ tổng hợp. Tối ưu hóa nguồn lực: Ưu tiên xét nghiệm/điều trị cho nhóm nguy cơ cao. Hỗ trợ quyết định: Giúp bác sĩ có thêm cơ sở khuyến nghị can thiệp và quản lý bệnh nhân. </vt:lpstr>
      <vt:lpstr>Hạn chế  Thiếu nhiều biến lâm sàng quan trọng (HbA1c, lipid, tiền sử gia đình, lối sống). Dữ liệu chỉ thu thập từ phụ nữ người Pima → hạn chế tính khái quát hóa.  Không phản ánh yếu tố bối cảnh (ăn uống, vận động, bệnh kèm). Mới dùng Logistic Regression, chưa áp dụng thuật toán ML tiên tiến.</vt:lpstr>
      <vt:lpstr>Kết luận &amp; Tóm tắt phát hiện</vt:lpstr>
      <vt:lpstr>Ứng dụng thực tiễn</vt:lpstr>
      <vt:lpstr>Hướng nghiên cứu tiếp theo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LONG NGUYEN</dc:creator>
  <cp:lastModifiedBy>LONG NGUYEN</cp:lastModifiedBy>
  <cp:revision>47</cp:revision>
  <dcterms:created xsi:type="dcterms:W3CDTF">2026-02-23T15:28:30Z</dcterms:created>
  <dcterms:modified xsi:type="dcterms:W3CDTF">2026-02-28T03:11:50Z</dcterms:modified>
</cp:coreProperties>
</file>